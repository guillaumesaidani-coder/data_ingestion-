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99855" y="-1463040"/>
            <a:ext cx="4206240" cy="4206240"/>
          </a:xfrm>
          <a:prstGeom prst="ellipse">
            <a:avLst/>
          </a:prstGeom>
          <a:solidFill>
            <a:srgbClr val="143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0A896"/>
                </a:solidFill>
                <a:latin typeface="Calibri"/>
              </a:rPr>
              <a:t>PROJET D'INTELLIGENCE ARTIFICIELLE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Prédire qui va partir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avant qu'il ne soit trop tard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C8D8EC"/>
                </a:solidFill>
                <a:latin typeface="Calibri"/>
              </a:rPr>
              <a:t>Un outil d'intelligence artificielle pour aider une entreprise de logiciels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C8D8EC"/>
                </a:solidFill>
                <a:latin typeface="Calibri"/>
              </a:rPr>
              <a:t>à repérer, comprendre et retenir ses clients avant qu'ils ne s'en aillent.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F5A623"/>
                </a:solidFill>
                <a:latin typeface="Calibri"/>
              </a:rPr>
              <a:t>De la donnée brute au modèle final — la trajectoire, étape par étape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A896"/>
                </a:solidFill>
                <a:latin typeface="Calibri"/>
              </a:rPr>
              <a:t>LE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C2E42"/>
                </a:solidFill>
                <a:latin typeface="Georgia"/>
              </a:rPr>
              <a:t>Une entreprise qui vend un logiciel... par abonnement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3429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429000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880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C2040"/>
                </a:solidFill>
                <a:latin typeface="Georgia"/>
              </a:rPr>
              <a:t>Comme Netflix,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C2040"/>
                </a:solidFill>
                <a:latin typeface="Georgia"/>
              </a:rPr>
              <a:t>mais pour des entreprises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2880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5A6B80"/>
                </a:solidFill>
                <a:latin typeface="Calibri"/>
              </a:rPr>
              <a:t>Le client paie chaque mois pour utiliser le logiciel en ligne — pas besoin de l'installer.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920240"/>
            <a:ext cx="3429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920240"/>
            <a:ext cx="3429000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2880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C2040"/>
                </a:solidFill>
                <a:latin typeface="Georgia"/>
              </a:rPr>
              <a:t>Un revenu récurrent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566160"/>
            <a:ext cx="2880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5A6B80"/>
                </a:solidFill>
                <a:latin typeface="Calibri"/>
              </a:rPr>
              <a:t>Tant que le client reste abonné, l'entreprise touche de l'argent chaque mois.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1920240"/>
            <a:ext cx="3429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920240"/>
            <a:ext cx="3429000" cy="109728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286000"/>
            <a:ext cx="2880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C2040"/>
                </a:solidFill>
                <a:latin typeface="Georgia"/>
              </a:rPr>
              <a:t>Le risque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566160"/>
            <a:ext cx="2880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5A6B80"/>
                </a:solidFill>
                <a:latin typeface="Calibri"/>
              </a:rPr>
              <a:t>À la fin du contrat, le client peut décider de ne pas renouveler — il s'en 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A896"/>
                </a:solidFill>
                <a:latin typeface="Calibri"/>
              </a:rPr>
              <a:t>LE MOT-CLÉ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C2E42"/>
                </a:solidFill>
                <a:latin typeface="Georgia"/>
              </a:rPr>
              <a:t>C'est quoi le « churn »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1C2E42"/>
                </a:solidFill>
                <a:latin typeface="Calibri"/>
              </a:rPr>
              <a:t>C'est exactement comme quand tu résilies ton abonnement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1C2E42"/>
                </a:solidFill>
                <a:latin typeface="Calibri"/>
              </a:rPr>
              <a:t>Spotify ou Netflix : le client arrête de payer.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17520"/>
            <a:ext cx="5303520" cy="2651760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DÉFINITION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churn = 1  →  le client résilie, il part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churn = 0  →  le client renouvelle, il reste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01752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A896"/>
                </a:solidFill>
                <a:latin typeface="Calibri"/>
              </a:rPr>
              <a:t>DANS NOS DONNÉES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52044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1C2E42"/>
                </a:solidFill>
                <a:latin typeface="Calibri"/>
              </a:rPr>
              <a:t>▸  Chaque ligne = un client de l'entreprise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1C2E42"/>
                </a:solidFill>
                <a:latin typeface="Calibri"/>
              </a:rPr>
              <a:t>▸  La colonne « churn » dit ce qui s'est passé : 0 ou 1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1C2E42"/>
                </a:solidFill>
                <a:latin typeface="Calibri"/>
              </a:rPr>
              <a:t>▸  Notre but : deviner cette valeur AVANT qu'elle n'arrive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05A47"/>
                </a:solidFill>
                <a:latin typeface="Calibri"/>
              </a:rPr>
              <a:t>POURQUOI S'EN SOUCIER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C2E42"/>
                </a:solidFill>
                <a:latin typeface="Georgia"/>
              </a:rPr>
              <a:t>Un client qui part, c'est deux pertes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2120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05A47"/>
                </a:solidFill>
                <a:latin typeface="Calibri"/>
              </a:rPr>
              <a:t>PERTE IMMÉDIATE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663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1C2E42"/>
                </a:solidFill>
                <a:latin typeface="Calibri"/>
              </a:rPr>
              <a:t>L'abonnement du mois prochain, qui ne sera jamais payé.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828800"/>
            <a:ext cx="539496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05A47"/>
                </a:solidFill>
                <a:latin typeface="Calibri"/>
              </a:rPr>
              <a:t>PERTE FUTURE — LA « CLV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8463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1C2E42"/>
                </a:solidFill>
                <a:latin typeface="Calibri"/>
              </a:rPr>
              <a:t>La Customer Lifetime Value : tout l'argent que ce client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1C2E42"/>
                </a:solidFill>
                <a:latin typeface="Calibri"/>
              </a:rPr>
              <a:t>aurait rapporté s'il était resté.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14800"/>
            <a:ext cx="10881360" cy="1737360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434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EXEMPLE TOUT SIMPLE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10241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Un client paie 100 € par mois depuis 12 mois → il a déjà rapporté 1 200 €.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S'il part maintenant, l'entreprise perd tout ce qu'il aurait payé les mois suivants.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A896"/>
                </a:solidFill>
                <a:latin typeface="Calibri"/>
              </a:rPr>
              <a:t>L'OBJECTIF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C2E42"/>
                </a:solidFill>
                <a:latin typeface="Georgia"/>
              </a:rPr>
              <a:t>Pas juste deviner — aider à agir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5A6B80"/>
                </a:solidFill>
                <a:latin typeface="Calibri"/>
              </a:rPr>
              <a:t>Le modèle ne décide pas à la place des humains. Il donne aux équipes les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5A6B80"/>
                </a:solidFill>
                <a:latin typeface="Calibri"/>
              </a:rPr>
              <a:t>bonnes informations, au bon moment, pour agir avant qu'il ne soit trop tard.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342900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301752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2880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C2040"/>
                </a:solidFill>
                <a:latin typeface="Georgia"/>
              </a:rPr>
              <a:t>Qui risque de partir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2880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Un score de risque, client par client.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743200"/>
            <a:ext cx="342900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3017520"/>
            <a:ext cx="548640" cy="5486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749039"/>
            <a:ext cx="2880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C2040"/>
                </a:solidFill>
                <a:latin typeface="Georgia"/>
              </a:rPr>
              <a:t>Pourquoi ce risque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526280"/>
            <a:ext cx="2880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Les raisons : peu utilisé, support insatisfaisant, factures en retard...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2743200"/>
            <a:ext cx="342900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0" y="3017520"/>
            <a:ext cx="548640" cy="548640"/>
          </a:xfrm>
          <a:prstGeom prst="ellipse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749039"/>
            <a:ext cx="2880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C2040"/>
                </a:solidFill>
                <a:latin typeface="Georgia"/>
              </a:rPr>
              <a:t>Que faire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526280"/>
            <a:ext cx="2880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Une action concrète : formation, appel, nouvelle offre...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A896"/>
                </a:solidFill>
                <a:latin typeface="Calibri"/>
              </a:rPr>
              <a:t>LE MATÉRIAU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C2E42"/>
                </a:solidFill>
                <a:latin typeface="Georgia"/>
              </a:rPr>
              <a:t>Les données à disposition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5A6B80"/>
                </a:solidFill>
                <a:latin typeface="Calibri"/>
              </a:rPr>
              <a:t>Imagine une classe de 5 000 clients, avec 29 informations sur chacun 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5A6B80"/>
                </a:solidFill>
                <a:latin typeface="Calibri"/>
              </a:rPr>
              <a:t>depuis quand il est abonné, combien il utilise le logiciel, s'il a appelé le support...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51760"/>
            <a:ext cx="3383280" cy="1554480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5A623"/>
                </a:solidFill>
                <a:latin typeface="Calibri"/>
              </a:rPr>
              <a:t>5 035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clients (lignes)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651760"/>
            <a:ext cx="3383280" cy="1554480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78892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5A623"/>
                </a:solidFill>
                <a:latin typeface="Calibri"/>
              </a:rPr>
              <a:t>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52044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informations par client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2651760"/>
            <a:ext cx="3383280" cy="1554480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278892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5A623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352044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fichiers fournis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1C2E42"/>
                </a:solidFill>
                <a:latin typeface="Calibri"/>
              </a:rPr>
              <a:t>▸  churn_saas_complet.csv — le jeu de données principal, ~5000 clients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1C2E42"/>
                </a:solidFill>
                <a:latin typeface="Calibri"/>
              </a:rPr>
              <a:t>▸  churn_saas_echantillon.csv — un petit extrait de 50 lignes, pour comprendre vite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1C2E42"/>
                </a:solidFill>
                <a:latin typeface="Calibri"/>
              </a:rPr>
              <a:t>▸  catalogue_plans.csv — les 4 formules d'abonnement (Starter, Pro, Business, Enterprise)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05A47"/>
                </a:solidFill>
                <a:latin typeface="Calibri"/>
              </a:rPr>
              <a:t>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C2E42"/>
                </a:solidFill>
                <a:latin typeface="Georgia"/>
              </a:rPr>
              <a:t>Les données ont des pièges — volontairement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" cy="1417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C2040"/>
                </a:solidFill>
                <a:latin typeface="Georgia"/>
              </a:rPr>
              <a:t>Le désordre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5A6B80"/>
                </a:solidFill>
                <a:latin typeface="Calibri"/>
              </a:rPr>
              <a:t>Des dates écrites de 3 façons différentes, des virgules à la place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5A6B80"/>
                </a:solidFill>
                <a:latin typeface="Calibri"/>
              </a:rPr>
              <a:t>des points, des doublons... comme un tableur rempli par plusieurs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5A6B80"/>
                </a:solidFill>
                <a:latin typeface="Calibri"/>
              </a:rPr>
              <a:t>personnes sans se concerter.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429000"/>
            <a:ext cx="109728" cy="14173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429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C2040"/>
                </a:solidFill>
                <a:latin typeface="Georgia"/>
              </a:rPr>
              <a:t>Le leurre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8862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5A6B80"/>
                </a:solidFill>
                <a:latin typeface="Calibri"/>
              </a:rPr>
              <a:t>Une information qui a l'air intéressante mais qui ne sert à rien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5A6B80"/>
                </a:solidFill>
                <a:latin typeface="Calibri"/>
              </a:rPr>
              <a:t>pour prédire — par exemple, la couleur du thème choisi par le client.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29200"/>
            <a:ext cx="109728" cy="141732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029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C2040"/>
                </a:solidFill>
                <a:latin typeface="Georgia"/>
              </a:rPr>
              <a:t>La triche (fuite de données)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4864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5A6B80"/>
                </a:solidFill>
                <a:latin typeface="Calibri"/>
              </a:rPr>
              <a:t>Une information calculée APRÈS le résultat, un peu comme si tu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5A6B80"/>
                </a:solidFill>
                <a:latin typeface="Calibri"/>
              </a:rPr>
              <a:t>connaissais la réponse avant de passer l'examen. Un modèle qui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5A6B80"/>
                </a:solidFill>
                <a:latin typeface="Calibri"/>
              </a:rPr>
              <a:t>l'utilise a l'air parfait... mais il triche.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5A623"/>
                </a:solidFill>
                <a:latin typeface="Calibri"/>
              </a:rPr>
              <a:t>LA FEUILLE DE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10 étapes, du besoin métier au modèle 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010686" cy="1371600"/>
          </a:xfrm>
          <a:prstGeom prst="rect">
            <a:avLst/>
          </a:prstGeom>
          <a:solidFill>
            <a:srgbClr val="143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29968"/>
            <a:ext cx="101068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A623"/>
                </a:solidFill>
                <a:latin typeface="Calibri"/>
              </a:rPr>
              <a:t>TP1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423160"/>
            <a:ext cx="86438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Comprendre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le besoin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669054" y="1920240"/>
            <a:ext cx="1010686" cy="1371600"/>
          </a:xfrm>
          <a:prstGeom prst="rect">
            <a:avLst/>
          </a:prstGeom>
          <a:solidFill>
            <a:srgbClr val="143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9054" y="2029968"/>
            <a:ext cx="101068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A623"/>
                </a:solidFill>
                <a:latin typeface="Calibri"/>
              </a:rPr>
              <a:t>TP2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42206" y="2423160"/>
            <a:ext cx="86438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Nettoyer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les données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9468" y="1920240"/>
            <a:ext cx="1010686" cy="1371600"/>
          </a:xfrm>
          <a:prstGeom prst="rect">
            <a:avLst/>
          </a:prstGeom>
          <a:solidFill>
            <a:srgbClr val="143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9468" y="2029968"/>
            <a:ext cx="101068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A623"/>
                </a:solidFill>
                <a:latin typeface="Calibri"/>
              </a:rPr>
              <a:t>TP3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620" y="2423160"/>
            <a:ext cx="86438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Débusquer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les pièges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09882" y="1920240"/>
            <a:ext cx="1010686" cy="1371600"/>
          </a:xfrm>
          <a:prstGeom prst="rect">
            <a:avLst/>
          </a:prstGeom>
          <a:solidFill>
            <a:srgbClr val="143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9882" y="2029968"/>
            <a:ext cx="101068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A623"/>
                </a:solidFill>
                <a:latin typeface="Calibri"/>
              </a:rPr>
              <a:t>TP4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83034" y="2423160"/>
            <a:ext cx="86438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Explorer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(EDA)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0296" y="1920240"/>
            <a:ext cx="1010686" cy="1371600"/>
          </a:xfrm>
          <a:prstGeom prst="rect">
            <a:avLst/>
          </a:prstGeom>
          <a:solidFill>
            <a:srgbClr val="143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0296" y="2029968"/>
            <a:ext cx="101068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A623"/>
                </a:solidFill>
                <a:latin typeface="Calibri"/>
              </a:rPr>
              <a:t>TP5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3448" y="2423160"/>
            <a:ext cx="86438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Premiers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modèles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31920"/>
            <a:ext cx="1010686" cy="1371600"/>
          </a:xfrm>
          <a:prstGeom prst="rect">
            <a:avLst/>
          </a:prstGeom>
          <a:solidFill>
            <a:srgbClr val="143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41648"/>
            <a:ext cx="101068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A623"/>
                </a:solidFill>
                <a:latin typeface="Calibri"/>
              </a:rPr>
              <a:t>TP6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4434840"/>
            <a:ext cx="86438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Entraîner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+ seuil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69054" y="3931920"/>
            <a:ext cx="1010686" cy="1371600"/>
          </a:xfrm>
          <a:prstGeom prst="rect">
            <a:avLst/>
          </a:prstGeom>
          <a:solidFill>
            <a:srgbClr val="143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69054" y="4041648"/>
            <a:ext cx="101068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A623"/>
                </a:solidFill>
                <a:latin typeface="Calibri"/>
              </a:rPr>
              <a:t>TP7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2206" y="4434840"/>
            <a:ext cx="86438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Expliquer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le modèle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9468" y="3931920"/>
            <a:ext cx="1010686" cy="1371600"/>
          </a:xfrm>
          <a:prstGeom prst="rect">
            <a:avLst/>
          </a:prstGeom>
          <a:solidFill>
            <a:srgbClr val="143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9468" y="4041648"/>
            <a:ext cx="101068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A623"/>
                </a:solidFill>
                <a:latin typeface="Calibri"/>
              </a:rPr>
              <a:t>TP8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62620" y="4434840"/>
            <a:ext cx="86438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Valeur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client (CLV)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09882" y="3931920"/>
            <a:ext cx="1010686" cy="1371600"/>
          </a:xfrm>
          <a:prstGeom prst="rect">
            <a:avLst/>
          </a:prstGeom>
          <a:solidFill>
            <a:srgbClr val="143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09882" y="4041648"/>
            <a:ext cx="101068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A623"/>
                </a:solidFill>
                <a:latin typeface="Calibri"/>
              </a:rPr>
              <a:t>TP9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83034" y="4434840"/>
            <a:ext cx="86438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Rendre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utilisable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30296" y="3931920"/>
            <a:ext cx="1010686" cy="1371600"/>
          </a:xfrm>
          <a:prstGeom prst="rect">
            <a:avLst/>
          </a:prstGeom>
          <a:solidFill>
            <a:srgbClr val="143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30296" y="4041648"/>
            <a:ext cx="101068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A623"/>
                </a:solidFill>
                <a:latin typeface="Calibri"/>
              </a:rPr>
              <a:t>TP10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3448" y="4434840"/>
            <a:ext cx="86438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Mesurer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l'impact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0350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C8D8EC"/>
                </a:solidFill>
                <a:latin typeface="Calibri"/>
              </a:rPr>
              <a:t>→ Puis le notebook certifiant final, qui rassemble tout dans le format officiel imposé.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40135" y="365760"/>
            <a:ext cx="594360" cy="594360"/>
          </a:xfrm>
          <a:prstGeom prst="ellipse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0A896"/>
                </a:solidFill>
                <a:latin typeface="Calibri"/>
              </a:rPr>
              <a:t>TP1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C2E42"/>
                </a:solidFill>
                <a:latin typeface="Georgia"/>
              </a:rPr>
              <a:t>Comprendre à qui on parle et de quoi on dispose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881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91440" cy="960120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67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C2040"/>
                </a:solidFill>
                <a:latin typeface="Calibri"/>
              </a:rPr>
              <a:t>OBJECTIF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Cerner le besoin métier (churn, CLV, rétention) et faire l'inventaire des données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avant d'écrire la moindre ligne de code.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00400"/>
            <a:ext cx="10881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91440" cy="960120"/>
          </a:xfrm>
          <a:prstGeom prst="rect">
            <a:avLst/>
          </a:prstGeom>
          <a:solidFill>
            <a:srgbClr val="0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10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C7A6E"/>
                </a:solidFill>
                <a:latin typeface="Calibri"/>
              </a:rPr>
              <a:t>LIVRABLE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576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Un notebook de cadrage : contexte, dictionnaire de données, questions de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confidentialité (RGPD).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43400"/>
            <a:ext cx="108813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43400"/>
            <a:ext cx="91440" cy="123444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53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05A47"/>
                </a:solidFill>
                <a:latin typeface="Calibri"/>
              </a:rPr>
              <a:t>ENJEU / PROBLÈME À RÉSOUDRE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0060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Peut-on utiliser toutes ces données sans problème ? Y a-t-il des informations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personnelles sensibles qu'il faudrait traiter avec précaution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40135" y="365760"/>
            <a:ext cx="594360" cy="594360"/>
          </a:xfrm>
          <a:prstGeom prst="ellipse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A623"/>
                </a:solidFill>
                <a:latin typeface="Calibri"/>
              </a:rPr>
              <a:t>TP2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C2E42"/>
                </a:solidFill>
                <a:latin typeface="Georgia"/>
              </a:rPr>
              <a:t>Nettoyer des données pas très propres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881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91440" cy="960120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67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C2040"/>
                </a:solidFill>
                <a:latin typeface="Calibri"/>
              </a:rPr>
              <a:t>OBJECTIF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Rendre les données réellement exploitables : dates, nombres, doublons, textes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mal formatés.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00400"/>
            <a:ext cx="10881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91440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10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A896"/>
                </a:solidFill>
                <a:latin typeface="Calibri"/>
              </a:rPr>
              <a:t>LIVRABLE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576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Un jeu de données propre, avec le taux de valeurs manquantes documenté et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la méthode de correction expliquée.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43400"/>
            <a:ext cx="108813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43400"/>
            <a:ext cx="91440" cy="123444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53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05A47"/>
                </a:solidFill>
                <a:latin typeface="Calibri"/>
              </a:rPr>
              <a:t>ENJEU / PROBLÈME À RÉSOUDRE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0060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Les dates sont écrites de 3 façons différentes, les nombres ont des virgules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au lieu de points, certaines lignes sont en double... comment tout uniformiser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sans perdre d'information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40135" y="365760"/>
            <a:ext cx="594360" cy="594360"/>
          </a:xfrm>
          <a:prstGeom prst="ellipse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05A47"/>
                </a:solidFill>
                <a:latin typeface="Calibri"/>
              </a:rPr>
              <a:t>TP3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C2E42"/>
                </a:solidFill>
                <a:latin typeface="Georgia"/>
              </a:rPr>
              <a:t>Débusquer les pièges cachés dans les données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881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91440" cy="960120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67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C2040"/>
                </a:solidFill>
                <a:latin typeface="Calibri"/>
              </a:rPr>
              <a:t>OBJECTIF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Trouver la variable qui « triche » (fuite de données) et les informations qui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n'apportent rien (leurres).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00400"/>
            <a:ext cx="10881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91440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10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A896"/>
                </a:solidFill>
                <a:latin typeface="Calibri"/>
              </a:rPr>
              <a:t>LIVRABLE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576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Une liste justifiée des variables à exclure du modèle, preuve à l'appui.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43400"/>
            <a:ext cx="108813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43400"/>
            <a:ext cx="91440" cy="123444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53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05A47"/>
                </a:solidFill>
                <a:latin typeface="Calibri"/>
              </a:rPr>
              <a:t>ENJEU / PROBLÈME À RÉSOUDRE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0060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Une variable donne un score presque parfait... trop beau pour être vrai.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Pourquoi ? Que se passe-t-il si on la garde quand même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40135" y="365760"/>
            <a:ext cx="594360" cy="594360"/>
          </a:xfrm>
          <a:prstGeom prst="ellipse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0A896"/>
                </a:solidFill>
                <a:latin typeface="Calibri"/>
              </a:rPr>
              <a:t>TP4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C2E42"/>
                </a:solidFill>
                <a:latin typeface="Georgia"/>
              </a:rPr>
              <a:t>Explorer les données comme un détective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881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91440" cy="960120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67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C2040"/>
                </a:solidFill>
                <a:latin typeface="Calibri"/>
              </a:rPr>
              <a:t>OBJECTIF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Comprendre visuellement qui part, et pourquoi, avant de construire quoi que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ce soit.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00400"/>
            <a:ext cx="10881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91440" cy="960120"/>
          </a:xfrm>
          <a:prstGeom prst="rect">
            <a:avLst/>
          </a:prstGeom>
          <a:solidFill>
            <a:srgbClr val="0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10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C7A6E"/>
                </a:solidFill>
                <a:latin typeface="Calibri"/>
              </a:rPr>
              <a:t>LIVRABLE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576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Des graphiques commentés : par secteur, taille d'entreprise, usage du logiciel.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43400"/>
            <a:ext cx="108813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43400"/>
            <a:ext cx="91440" cy="123444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53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05A47"/>
                </a:solidFill>
                <a:latin typeface="Calibri"/>
              </a:rPr>
              <a:t>ENJEU / PROBLÈME À RÉSOUDRE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0060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Très peu de clients partent réellement (déséquilibre des classes) — comment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le voir clairement sans se tromper sur les proportions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40135" y="365760"/>
            <a:ext cx="594360" cy="594360"/>
          </a:xfrm>
          <a:prstGeom prst="ellipse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A623"/>
                </a:solidFill>
                <a:latin typeface="Calibri"/>
              </a:rPr>
              <a:t>TP5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C2E42"/>
                </a:solidFill>
                <a:latin typeface="Georgia"/>
              </a:rPr>
              <a:t>Construire les premiers modèles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881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91440" cy="960120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67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C2040"/>
                </a:solidFill>
                <a:latin typeface="Calibri"/>
              </a:rPr>
              <a:t>OBJECTIF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Essayer plusieurs façons de prédire le churn — au moins deux techniques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différentes, sans encore les peaufiner.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00400"/>
            <a:ext cx="10881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91440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10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A896"/>
                </a:solidFill>
                <a:latin typeface="Calibri"/>
              </a:rPr>
              <a:t>LIVRABLE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576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Un tableau comparatif chiffré entre au moins 2 familles de modèles.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43400"/>
            <a:ext cx="108813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43400"/>
            <a:ext cx="91440" cy="123444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53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05A47"/>
                </a:solidFill>
                <a:latin typeface="Calibri"/>
              </a:rPr>
              <a:t>ENJEU / PROBLÈME À RÉSOUDRE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0060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Comment choisir entre plusieurs modèles, et surtout comment être sûr qu'aucun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ne triche (voir TP3) avant de comparer leurs scores 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40135" y="365760"/>
            <a:ext cx="594360" cy="594360"/>
          </a:xfrm>
          <a:prstGeom prst="ellipse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05A47"/>
                </a:solidFill>
                <a:latin typeface="Calibri"/>
              </a:rPr>
              <a:t>TP6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C2E42"/>
                </a:solidFill>
                <a:latin typeface="Georgia"/>
              </a:rPr>
              <a:t>Entraîner sérieusement et choisir le bon seuil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881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91440" cy="960120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67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C2040"/>
                </a:solidFill>
                <a:latin typeface="Calibri"/>
              </a:rPr>
              <a:t>OBJECTIF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Évaluer le modèle avec les bons outils : courbe ROC, matrice de confusion,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courbe précision-rappel.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00400"/>
            <a:ext cx="10881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91440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10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A896"/>
                </a:solidFill>
                <a:latin typeface="Calibri"/>
              </a:rPr>
              <a:t>LIVRABLE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576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Le modèle retenu, avec un seuil de décision justifié.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43400"/>
            <a:ext cx="108813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43400"/>
            <a:ext cx="91440" cy="123444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53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05A47"/>
                </a:solidFill>
                <a:latin typeface="Calibri"/>
              </a:rPr>
              <a:t>ENJEU / PROBLÈME À RÉSOUDRE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0060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Vaut-il mieux rater un client qui va vraiment partir, ou déranger un client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qui allait rester ? Comment choisir ce compromis 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40135" y="365760"/>
            <a:ext cx="594360" cy="594360"/>
          </a:xfrm>
          <a:prstGeom prst="ellipse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0A896"/>
                </a:solidFill>
                <a:latin typeface="Calibri"/>
              </a:rPr>
              <a:t>TP7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C2E42"/>
                </a:solidFill>
                <a:latin typeface="Georgia"/>
              </a:rPr>
              <a:t>Comprendre pourquoi le modèle décide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881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91440" cy="960120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67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C2040"/>
                </a:solidFill>
                <a:latin typeface="Calibri"/>
              </a:rPr>
              <a:t>OBJECTIF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Ouvrir la boîte noire : quelles informations pèsent le plus dans la décision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du modèle 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00400"/>
            <a:ext cx="10881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91440" cy="960120"/>
          </a:xfrm>
          <a:prstGeom prst="rect">
            <a:avLst/>
          </a:prstGeom>
          <a:solidFill>
            <a:srgbClr val="0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10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C7A6E"/>
                </a:solidFill>
                <a:latin typeface="Calibri"/>
              </a:rPr>
              <a:t>LIVRABLE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576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Un classement des facteurs les plus importants, avec une lecture métier.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43400"/>
            <a:ext cx="108813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43400"/>
            <a:ext cx="91440" cy="123444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53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05A47"/>
                </a:solidFill>
                <a:latin typeface="Calibri"/>
              </a:rPr>
              <a:t>ENJEU / PROBLÈME À RÉSOUDRE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0060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Le modèle annonce « 80 % de risque » — mais à cause de quoi exactement ?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Sans réponse, personne en entreprise ne lui fera confiance.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40135" y="365760"/>
            <a:ext cx="594360" cy="594360"/>
          </a:xfrm>
          <a:prstGeom prst="ellipse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A623"/>
                </a:solidFill>
                <a:latin typeface="Calibri"/>
              </a:rPr>
              <a:t>TP8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C2E42"/>
                </a:solidFill>
                <a:latin typeface="Georgia"/>
              </a:rPr>
              <a:t>Estimer combien vaut chaque client (la CLV)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881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91440" cy="960120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67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C2040"/>
                </a:solidFill>
                <a:latin typeface="Calibri"/>
              </a:rPr>
              <a:t>OBJECTIF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Construire un second modèle, séparé du premier, pour prédire la valeur future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d'un client.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00400"/>
            <a:ext cx="10881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91440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10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A896"/>
                </a:solidFill>
                <a:latin typeface="Calibri"/>
              </a:rPr>
              <a:t>LIVRABLE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576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Un modèle de régression qui prédit un montant en euros.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43400"/>
            <a:ext cx="108813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43400"/>
            <a:ext cx="91440" cy="123444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53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05A47"/>
                </a:solidFill>
                <a:latin typeface="Calibri"/>
              </a:rPr>
              <a:t>ENJEU / PROBLÈME À RÉSOUDRE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0060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Ne surtout pas mélanger ce modèle avec celui du churn — sinon on retombe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dans le problème de triche du TP3, mais dans l'autre sens.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40135" y="365760"/>
            <a:ext cx="594360" cy="594360"/>
          </a:xfrm>
          <a:prstGeom prst="ellipse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05A47"/>
                </a:solidFill>
                <a:latin typeface="Calibri"/>
              </a:rPr>
              <a:t>TP9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C2E42"/>
                </a:solidFill>
                <a:latin typeface="Georgia"/>
              </a:rPr>
              <a:t>Rendre le modèle réellement utilisable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881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91440" cy="960120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67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C2040"/>
                </a:solidFill>
                <a:latin typeface="Calibri"/>
              </a:rPr>
              <a:t>OBJECTIF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Passer du notebook à un outil que des équipes peuvent utiliser au quotidien.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00400"/>
            <a:ext cx="10881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91440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10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A896"/>
                </a:solidFill>
                <a:latin typeface="Calibri"/>
              </a:rPr>
              <a:t>LIVRABLE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576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Le modèle sauvegardé + un exemple simple de branchement (API, CRM).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43400"/>
            <a:ext cx="108813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43400"/>
            <a:ext cx="91440" cy="123444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53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05A47"/>
                </a:solidFill>
                <a:latin typeface="Calibri"/>
              </a:rPr>
              <a:t>ENJEU / PROBLÈME À RÉSOUDRE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0060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Un notebook Jupyter, personne ne l'ouvre en entreprise tous les matins —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comment le connecter aux outils que les équipes utilisent déjà 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40135" y="365760"/>
            <a:ext cx="594360" cy="594360"/>
          </a:xfrm>
          <a:prstGeom prst="ellipse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0A896"/>
                </a:solidFill>
                <a:latin typeface="Calibri"/>
              </a:rPr>
              <a:t>TP10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C2E42"/>
                </a:solidFill>
                <a:latin typeface="Georgia"/>
              </a:rPr>
              <a:t>Mesurer l'impact et prévoir la suite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881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91440" cy="960120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67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C2040"/>
                </a:solidFill>
                <a:latin typeface="Calibri"/>
              </a:rPr>
              <a:t>OBJECTIF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Traduire les statistiques en résultat concret pour l'entreprise, et prévoir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comment garder le modèle à jour.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00400"/>
            <a:ext cx="10881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91440" cy="960120"/>
          </a:xfrm>
          <a:prstGeom prst="rect">
            <a:avLst/>
          </a:prstGeom>
          <a:solidFill>
            <a:srgbClr val="0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10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C7A6E"/>
                </a:solidFill>
                <a:latin typeface="Calibri"/>
              </a:rPr>
              <a:t>LIVRABLE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576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Une estimation en euros des « comptes sauvés » + un plan de suivi dans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le temps.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43400"/>
            <a:ext cx="108813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43400"/>
            <a:ext cx="91440" cy="123444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53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05A47"/>
                </a:solidFill>
                <a:latin typeface="Calibri"/>
              </a:rPr>
              <a:t>ENJEU / PROBLÈME À RÉSOUDRE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0060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Un modèle qui a raison aujourd'hui peut se tromper demain — le monde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2E42"/>
                </a:solidFill>
                <a:latin typeface="Calibri"/>
              </a:rPr>
              <a:t>change. Comment le surveiller et savoir quand le ré-entraîner 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A896"/>
                </a:solidFill>
                <a:latin typeface="Calibri"/>
              </a:rPr>
              <a:t>L'ABOUTISSEMENT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C2E42"/>
                </a:solidFill>
                <a:latin typeface="Georgia"/>
              </a:rPr>
              <a:t>Le notebook certifiant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5A6B80"/>
                </a:solidFill>
                <a:latin typeface="Calibri"/>
              </a:rPr>
              <a:t>Il ne s'agit plus d'explorer — TP1 à TP10 ont déjà tout validé. Ce dernier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5A6B80"/>
                </a:solidFill>
                <a:latin typeface="Calibri"/>
              </a:rPr>
              <a:t>document rassemble les résultats dans l'ordre officiel imposé, prêt à être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5A6B80"/>
                </a:solidFill>
                <a:latin typeface="Calibri"/>
              </a:rPr>
              <a:t>présenté à l'oral.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17520"/>
            <a:ext cx="10881360" cy="2834640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16 SECTIONS, DE LA PAGE DE GARDE AUX ANNEXES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▸  Contexte métier et données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▸  Enjeux éthiques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▸  Nettoyage et exploration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▸  Choix et entraînement du modèle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6576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▸  Mise en exploitation et architecture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▸  Mesure d'impact métier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▸  Amélioration continue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▸  Conclusion et recommandations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0A896"/>
                </a:solidFill>
                <a:latin typeface="Calibri"/>
              </a:rPr>
              <a:t>CE QUE TU VIENS DE VOIR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Le vrai métier de data scientist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43200"/>
            <a:ext cx="1388973" cy="1005840"/>
          </a:xfrm>
          <a:prstGeom prst="rect">
            <a:avLst/>
          </a:prstGeom>
          <a:solidFill>
            <a:srgbClr val="143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138897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Comprendre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1933" y="2880360"/>
            <a:ext cx="137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49093" y="2743200"/>
            <a:ext cx="1388973" cy="1005840"/>
          </a:xfrm>
          <a:prstGeom prst="rect">
            <a:avLst/>
          </a:prstGeom>
          <a:solidFill>
            <a:srgbClr val="143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49093" y="3063240"/>
            <a:ext cx="138897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Nettoyer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8066" y="2880360"/>
            <a:ext cx="137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75226" y="2743200"/>
            <a:ext cx="1388973" cy="1005840"/>
          </a:xfrm>
          <a:prstGeom prst="rect">
            <a:avLst/>
          </a:prstGeom>
          <a:solidFill>
            <a:srgbClr val="143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75226" y="3063240"/>
            <a:ext cx="138897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Explorer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4199" y="2880360"/>
            <a:ext cx="137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1359" y="2743200"/>
            <a:ext cx="1388973" cy="1005840"/>
          </a:xfrm>
          <a:prstGeom prst="rect">
            <a:avLst/>
          </a:prstGeom>
          <a:solidFill>
            <a:srgbClr val="143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1359" y="3063240"/>
            <a:ext cx="138897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Modéliser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0332" y="2880360"/>
            <a:ext cx="137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27492" y="2743200"/>
            <a:ext cx="1388973" cy="1005840"/>
          </a:xfrm>
          <a:prstGeom prst="rect">
            <a:avLst/>
          </a:prstGeom>
          <a:solidFill>
            <a:srgbClr val="143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27492" y="3063240"/>
            <a:ext cx="138897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Expliquer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6465" y="2880360"/>
            <a:ext cx="137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53625" y="2743200"/>
            <a:ext cx="1388973" cy="1005840"/>
          </a:xfrm>
          <a:prstGeom prst="rect">
            <a:avLst/>
          </a:prstGeom>
          <a:solidFill>
            <a:srgbClr val="143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3625" y="3063240"/>
            <a:ext cx="138897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Déployer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2598" y="2880360"/>
            <a:ext cx="137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79758" y="2743200"/>
            <a:ext cx="1388973" cy="1005840"/>
          </a:xfrm>
          <a:prstGeom prst="rect">
            <a:avLst/>
          </a:prstGeom>
          <a:solidFill>
            <a:srgbClr val="143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79758" y="3063240"/>
            <a:ext cx="138897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Mesurer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29768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C8D8EC"/>
                </a:solidFill>
                <a:latin typeface="Calibri"/>
              </a:rPr>
              <a:t>Ce n'est pas qu'un exercice technique : c'est comprendre un problème humain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C8D8EC"/>
                </a:solidFill>
                <a:latin typeface="Calibri"/>
              </a:rPr>
              <a:t>(des clients qui partent), le traduire en données, construire un outil honnête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C8D8EC"/>
                </a:solidFill>
                <a:latin typeface="Calibri"/>
              </a:rPr>
              <a:t>— et rendre ce travail utile à des gens qui ne savent pas coder.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