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463040"/>
            <a:ext cx="4206240" cy="4206240"/>
          </a:xfrm>
          <a:prstGeom prst="ellipse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500000"/>
            <a:ext cx="6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A623"/>
                </a:solidFill>
                <a:latin typeface="Segoe UI"/>
              </a:rPr>
              <a:t>CAS D'USAGE 01 — CHURN SAAS · TP11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1000000" cy="2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Suivre ses expériences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avec MLflow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050000"/>
            <a:ext cx="105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9D4E6"/>
                </a:solidFill>
                <a:latin typeface="Segoe UI"/>
              </a:rPr>
              <a:t>Un parcours pédagogique en 4 étapes pour tracer, comparer et versionner les modèles churn et CLV — au-delà de ce que TP9/TP10 avaient jugé nécessaire.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300000"/>
            <a:ext cx="9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482"/>
                </a:solidFill>
                <a:latin typeface="Segoe UI"/>
              </a:rPr>
              <a:t>Support d'accompagnement — à suivre étape par étape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C2040"/>
                </a:solidFill>
                <a:latin typeface="Segoe UI"/>
              </a:rPr>
              <a:t>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2040"/>
                </a:solidFill>
                <a:latin typeface="Segoe UI"/>
              </a:rPr>
              <a:t>Pourquoi ajouter MLflow maintenant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800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800000" cy="109728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25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05A47"/>
                </a:solidFill>
                <a:latin typeface="Segoe UI"/>
              </a:rPr>
              <a:t>DÉCISION INITIALE (TP9/TP10)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25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C2040"/>
                </a:solidFill>
                <a:latin typeface="Segoe UI"/>
              </a:rPr>
              <a:t>MLflow jugé disproportionné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25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E05A47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Un seul déploiement, deux modèles fixes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E05A47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Pas de variantes en compétition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E05A47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joblib + metadata.json (hash SHA256) suffisaient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E05A47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Décision documentée et justifiée à l'époque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0000" y="1920240"/>
            <a:ext cx="3800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0000" y="1920240"/>
            <a:ext cx="38000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4320" y="2148840"/>
            <a:ext cx="325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A623"/>
                </a:solidFill>
                <a:latin typeface="Segoe UI"/>
              </a:rPr>
              <a:t>LA LIMITE DE CETTE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4320" y="2514600"/>
            <a:ext cx="325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C2040"/>
                </a:solidFill>
                <a:latin typeface="Segoe UI"/>
              </a:rPr>
              <a:t>Dès qu'on compare, on perd la trace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4320" y="3200400"/>
            <a:ext cx="325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TP5 : LogReg vs RF comparés... dans une cellule imprimée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TP8 : idem pour LinReg vs RF (CLV)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Résultats non rejouables, non centralisés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F5A623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Aucun historique interrogeable des 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00000" y="1920240"/>
            <a:ext cx="3751615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0000" y="1920240"/>
            <a:ext cx="3751615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4320" y="2148840"/>
            <a:ext cx="32029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A896"/>
                </a:solidFill>
                <a:latin typeface="Segoe UI"/>
              </a:rPr>
              <a:t>LA VALEUR AJOUTÉE 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4320" y="2514600"/>
            <a:ext cx="32029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C2040"/>
                </a:solidFill>
                <a:latin typeface="Segoe UI"/>
              </a:rPr>
              <a:t>Traçabilité + pédagogie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4320" y="3200400"/>
            <a:ext cx="32029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0A896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Historique des runs consultable dans une UI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0A896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Model Registry : versions, stages, lineage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0A896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Compétence outillage à part entière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250" b="1">
                <a:solidFill>
                  <a:srgbClr val="00A896"/>
                </a:solidFill>
                <a:latin typeface="Segoe UI"/>
              </a:rPr>
              <a:t>▸  </a:t>
            </a:r>
            <a:r>
              <a:rPr sz="1250">
                <a:solidFill>
                  <a:srgbClr val="1A1F2B"/>
                </a:solidFill>
                <a:latin typeface="Segoe UI"/>
              </a:rPr>
              <a:t>Ne remplace pas joblib : s'ajoute par-dessus</a:t>
            </a:r>
          </a:p>
        </p:txBody>
      </p:sp>
      <p:sp>
        <p:nvSpPr>
          <p:cNvPr id="20" name="Oval 19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C2040"/>
                </a:solidFill>
                <a:latin typeface="Segoe UI"/>
              </a:rPr>
              <a:t>CONCEPTS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2040"/>
                </a:solidFill>
                <a:latin typeface="Segoe UI"/>
              </a:rPr>
              <a:t>Trois briques MLflow à connaître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600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600000" cy="109728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513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C2040"/>
                </a:solidFill>
                <a:latin typeface="Segoe UI"/>
              </a:rPr>
              <a:t>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0000"/>
            <a:ext cx="305136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2B"/>
                </a:solidFill>
                <a:latin typeface="Segoe UI"/>
              </a:rPr>
              <a:t>Enregistre paramètres, métriques et artefacts de chaque run d'entraînement. Remplace le print() par un historique interrogeable et comparable.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80" y="1920240"/>
            <a:ext cx="3600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0080" y="1920240"/>
            <a:ext cx="360000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4400" y="2286000"/>
            <a:ext cx="30513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C2040"/>
                </a:solidFill>
                <a:latin typeface="Segoe UI"/>
              </a:rPr>
              <a:t>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4400" y="2850000"/>
            <a:ext cx="305136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2B"/>
                </a:solidFill>
                <a:latin typeface="Segoe UI"/>
              </a:rPr>
              <a:t>Sauvegarde un modèle avec sa signature (entrées/sorties attendues) dans un format standardisé, rechargeable indépendamment du code source.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0080" y="1920240"/>
            <a:ext cx="36000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0080" y="1920240"/>
            <a:ext cx="36000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4400" y="2286000"/>
            <a:ext cx="30513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C2040"/>
                </a:solidFill>
                <a:latin typeface="Segoe UI"/>
              </a:rPr>
              <a:t>Model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4400" y="2850000"/>
            <a:ext cx="305136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F2B"/>
                </a:solidFill>
                <a:latin typeface="Segoe UI"/>
              </a:rPr>
              <a:t>Centralise les versions d'un modèle nommé, avec des stades de cycle de vie (Staging, Production) et un historique des transitions.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TP11 — le plan en 4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000"/>
            <a:ext cx="2750000" cy="42000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000"/>
            <a:ext cx="2750000" cy="109728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05A47"/>
                </a:solidFill>
                <a:latin typeface="Segoe UI"/>
              </a:rPr>
              <a:t>11.1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Pourquoi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0000"/>
            <a:ext cx="23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4E6"/>
                </a:solidFill>
                <a:latin typeface="Segoe UI"/>
              </a:rPr>
              <a:t>Ré-examiner la décision initiale, poser la limite qui justifie MLflow ici.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80" y="1600000"/>
            <a:ext cx="2750000" cy="42000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80" y="1600000"/>
            <a:ext cx="27500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8680" y="18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11.2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8680" y="24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8680" y="3050000"/>
            <a:ext cx="23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4E6"/>
                </a:solidFill>
                <a:latin typeface="Segoe UI"/>
              </a:rPr>
              <a:t>Rejouer les comparaisons TP5 (churn) et TP8 (CLV) sous mlflow.start_run().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0080" y="1600000"/>
            <a:ext cx="2750000" cy="42000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0080" y="1600000"/>
            <a:ext cx="275000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8680" y="18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A896"/>
                </a:solidFill>
                <a:latin typeface="Segoe UI"/>
              </a:rPr>
              <a:t>11.3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8680" y="24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8680" y="3050000"/>
            <a:ext cx="23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4E6"/>
                </a:solidFill>
                <a:latin typeface="Segoe UI"/>
              </a:rPr>
              <a:t>Logger les modèles finaux, signature incluse, passage en stage Production.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0080" y="1600000"/>
            <a:ext cx="2750000" cy="4200000"/>
          </a:xfrm>
          <a:prstGeom prst="rect">
            <a:avLst/>
          </a:prstGeom>
          <a:solidFill>
            <a:srgbClr val="143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20080" y="1600000"/>
            <a:ext cx="2750000" cy="109728"/>
          </a:xfrm>
          <a:prstGeom prst="rect">
            <a:avLst/>
          </a:prstGeom>
          <a:solidFill>
            <a:srgbClr val="7C5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8680" y="18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7C5CE8"/>
                </a:solidFill>
                <a:latin typeface="Segoe UI"/>
              </a:rPr>
              <a:t>11.4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680" y="2450000"/>
            <a:ext cx="2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Intégration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8680" y="3050000"/>
            <a:ext cx="230000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4E6"/>
                </a:solidFill>
                <a:latin typeface="Segoe UI"/>
              </a:rPr>
              <a:t>Étendre train_and_serialize.py — logging MLflow en plus du joblib existant.</a:t>
            </a:r>
          </a:p>
        </p:txBody>
      </p:sp>
      <p:sp>
        <p:nvSpPr>
          <p:cNvPr id="24" name="Oval 23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05A47"/>
                </a:solidFill>
                <a:latin typeface="Segoe UI"/>
              </a:rPr>
              <a:t>ÉTAPE 11.1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C2040"/>
                </a:solidFill>
                <a:latin typeface="Segoe UI"/>
              </a:rPr>
              <a:t>Pourquoi maintenant, pas avant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0000"/>
            <a:ext cx="5303520" cy="3400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0000"/>
            <a:ext cx="47548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OBJECTIF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0000"/>
            <a:ext cx="4754880" cy="2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Documenter honnêtement le changement de position : la décision TP9/TP10 restait correcte pour le besoin strict, mais l'exercice de comparaison structurée justifie l'outil — et la valeur pédagogique d'apprendre MLflow compte indépendamment du besoin métier immédiat.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0000" y="1900000"/>
            <a:ext cx="59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5A47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Relire les justifications initiales (TP9, TP10 §13.2)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5A47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Identifier ce qui a changé : le besoin de COMPARER, pas de déployer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5A47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Rédiger l'entrée 23 d'explications.html AVANT de coder (documenter le raisonnement, pas seulement le résultat)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>
                <a:solidFill>
                  <a:srgbClr val="E05A47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Livrable : un paragraphe de cadrage dans le notebook TP11, §0</a:t>
            </a:r>
          </a:p>
        </p:txBody>
      </p:sp>
      <p:sp>
        <p:nvSpPr>
          <p:cNvPr id="9" name="Oval 8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5A623"/>
                </a:solidFill>
                <a:latin typeface="Segoe UI"/>
              </a:rPr>
              <a:t>ÉTAPE 11.2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C2040"/>
                </a:solidFill>
                <a:latin typeface="Segoe UI"/>
              </a:rPr>
              <a:t>Tracker les expériences déjà menées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Rejouer TP5 (Dummy / LogReg / RF pour le churn) sous mlflow.start_run(run_name=...)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mlflow.log_param() : hyperparamètres de chaque modèle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mlflow.log_metric() : ROC-AUC, PR-AUC (moyennes de cross-validation)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mlflow.log_artifact() : les figures déjà générées (courbes ROC/PR)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Répéter pour TP8 (LinearRegression vs RandomForest, CLV) : RMSE, MAE, R²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0000" y="1900000"/>
            <a:ext cx="55200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0" y="1900000"/>
            <a:ext cx="55200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4320" y="215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POINT DE VIGILANCE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4320" y="2600000"/>
            <a:ext cx="4970000" cy="2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F2B"/>
                </a:solidFill>
                <a:latin typeface="Segoe UI"/>
              </a:rPr>
              <a:t>Ne pas relancer les entraînements pour de vrai à chaque run si le split n'est pas identique à celui déjà validé (random_state=42, TP5/TP8) — le but est de tracer des résultats déjà vérifiés, pas d'en produire de nouveaux non comparables.</a:t>
            </a:r>
          </a:p>
        </p:txBody>
      </p:sp>
      <p:sp>
        <p:nvSpPr>
          <p:cNvPr id="10" name="Oval 9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A896"/>
                </a:solidFill>
                <a:latin typeface="Segoe UI"/>
              </a:rPr>
              <a:t>ÉTAPE 11.3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C2040"/>
                </a:solidFill>
                <a:latin typeface="Segoe UI"/>
              </a:rPr>
              <a:t>Logger les modèles finaux et le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0000"/>
            <a:ext cx="56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00A896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mlflow.sklearn.log_model() pour le pipeline churn final (LogReg, TP6)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00A896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Idem pour le pipeline CLV final (RandomForest, TP8)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00A896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Inclure la signature (schéma des features en entrée, type de sortie)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00A896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Enregistrer les deux modèles dans le Model Registry sous un nom stable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00A896"/>
                </a:solidFill>
                <a:latin typeface="Segoe UI"/>
              </a:rPr>
              <a:t>▸  </a:t>
            </a:r>
            <a:r>
              <a:rPr sz="1400">
                <a:solidFill>
                  <a:srgbClr val="1A1F2B"/>
                </a:solidFill>
                <a:latin typeface="Segoe UI"/>
              </a:rPr>
              <a:t>Transition vers le stage/alias correspondant à la mise en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0000" y="1900000"/>
            <a:ext cx="5520000" cy="3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0000" y="1900000"/>
            <a:ext cx="5520000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4320" y="2150000"/>
            <a:ext cx="5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A896"/>
                </a:solidFill>
                <a:latin typeface="Segoe UI"/>
              </a:rPr>
              <a:t>MLFLOW N'EFFACE PAS L'EXISTANT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4320" y="2600000"/>
            <a:ext cx="4970000" cy="2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F2B"/>
                </a:solidFill>
                <a:latin typeface="Segoe UI"/>
              </a:rPr>
              <a:t>joblib + metadata.json (TP9) restent le format de service utilisé par scripts/scoring.py. MLflow ajoute la traçabilité et l'historique par-dessus, il ne remplace pas le pipeline de production déjà validé et round-trip-testé.</a:t>
            </a:r>
          </a:p>
        </p:txBody>
      </p:sp>
      <p:sp>
        <p:nvSpPr>
          <p:cNvPr id="10" name="Oval 9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C5CE8"/>
                </a:solidFill>
                <a:latin typeface="Segoe UI"/>
              </a:rPr>
              <a:t>ÉTAPE 11.4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000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C2040"/>
                </a:solidFill>
                <a:latin typeface="Segoe UI"/>
              </a:rPr>
              <a:t>Intégrer sans casser l'existant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0000"/>
            <a:ext cx="11631615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7C5CE8"/>
                </a:solidFill>
                <a:latin typeface="Segoe UI"/>
              </a:rPr>
              <a:t>▸  </a:t>
            </a:r>
            <a:r>
              <a:rPr sz="1450">
                <a:solidFill>
                  <a:srgbClr val="1A1F2B"/>
                </a:solidFill>
                <a:latin typeface="Segoe UI"/>
              </a:rPr>
              <a:t>Étendre scripts/train_and_serialize.py : ajouter les appels mlflow.log_* AUTOUR du code de sérialisation joblib existant, sans le modifier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7C5CE8"/>
                </a:solidFill>
                <a:latin typeface="Segoe UI"/>
              </a:rPr>
              <a:t>▸  </a:t>
            </a:r>
            <a:r>
              <a:rPr sz="1450">
                <a:solidFill>
                  <a:srgbClr val="1A1F2B"/>
                </a:solidFill>
                <a:latin typeface="Segoe UI"/>
              </a:rPr>
              <a:t>Le round-trip de vérification (TP9) reste inchangé et continue de passer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50" b="1">
                <a:solidFill>
                  <a:srgbClr val="7C5CE8"/>
                </a:solidFill>
                <a:latin typeface="Segoe UI"/>
              </a:rPr>
              <a:t>▸  </a:t>
            </a:r>
            <a:r>
              <a:rPr sz="1450">
                <a:solidFill>
                  <a:srgbClr val="1A1F2B"/>
                </a:solidFill>
                <a:latin typeface="Segoe UI"/>
              </a:rPr>
              <a:t>Le script produit désormais deux traces indépendantes : les fichiers .joblib (utilisés par scoring.py) et un run MLflow (utilisé pour l'audit/comparaison)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50000"/>
            <a:ext cx="11631615" cy="1450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50000"/>
            <a:ext cx="11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A623"/>
                </a:solidFill>
                <a:latin typeface="Segoe UI"/>
              </a:rPr>
              <a:t>LIVRABLES DE TP11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50000"/>
            <a:ext cx="11000000" cy="7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TP11.ipynb exécuté (4 sous-sections) · TP11.html (page pédagogique) · entrée 23 d'explications.html · train_and_serialize.py étendu</a:t>
            </a:r>
          </a:p>
        </p:txBody>
      </p:sp>
      <p:sp>
        <p:nvSpPr>
          <p:cNvPr id="9" name="Oval 8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4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600">
                <a:solidFill>
                  <a:srgbClr val="E5EAF5"/>
                </a:solidFill>
                <a:latin typeface="Segoe UI"/>
              </a:rPr>
              <a:t>MLflow ne corrige pas une erreur du projet — il ajoute une capacité qui n'existait pas encore : comparer des runs de façon traçable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600">
                <a:solidFill>
                  <a:srgbClr val="E5EAF5"/>
                </a:solidFill>
                <a:latin typeface="Segoe UI"/>
              </a:rPr>
              <a:t>La décision initiale (TP9/TP10) n'était pas fausse ; le contexte pédagogique justifie d'aller plus loin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600">
                <a:solidFill>
                  <a:srgbClr val="E5EAF5"/>
                </a:solidFill>
                <a:latin typeface="Segoe UI"/>
              </a:rPr>
              <a:t>L'existant (joblib, scoring.py, round-trip) n'est jamais remplacé, seulement complété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 b="1">
                <a:solidFill>
                  <a:srgbClr val="F5A623"/>
                </a:solidFill>
                <a:latin typeface="Segoe UI"/>
              </a:rPr>
              <a:t>▸  </a:t>
            </a:r>
            <a:r>
              <a:rPr sz="1600">
                <a:solidFill>
                  <a:srgbClr val="E5EAF5"/>
                </a:solidFill>
                <a:latin typeface="Segoe UI"/>
              </a:rPr>
              <a:t>Comme pour chaque TP : exécution réelle obligatoire avant toute affirmation de résultat</a:t>
            </a:r>
          </a:p>
        </p:txBody>
      </p:sp>
      <p:sp>
        <p:nvSpPr>
          <p:cNvPr id="6" name="Oval 5"/>
          <p:cNvSpPr/>
          <p:nvPr/>
        </p:nvSpPr>
        <p:spPr>
          <a:xfrm>
            <a:off x="11460175" y="6309360"/>
            <a:ext cx="457200" cy="365760"/>
          </a:xfrm>
          <a:prstGeom prst="ellipse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