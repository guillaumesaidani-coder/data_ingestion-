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23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2230"/>
                </a:solidFill>
                <a:latin typeface="Arial"/>
              </a:rPr>
              <a:t>Cas de test par domaine — tous conformes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 de test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2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Paquet</c:v>
                  </c:pt>
                  <c:pt idx="1">
                    <c:v>API</c:v>
                  </c:pt>
                  <c:pt idx="2">
                    <c:v>Sécu</c:v>
                  </c:pt>
                  <c:pt idx="3">
                    <c:v>Docker</c:v>
                  </c:pt>
                  <c:pt idx="4">
                    <c:v>Compose</c:v>
                  </c:pt>
                  <c:pt idx="5">
                    <c:v>Prefect</c:v>
                  </c:pt>
                  <c:pt idx="6">
                    <c:v>Dérive</c:v>
                  </c:pt>
                  <c:pt idx="7">
                    <c:v>Obs.+charge</c:v>
                  </c:pt>
                  <c:pt idx="8">
                    <c:v>HITL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7</c:v>
                </c:pt>
                <c:pt idx="7">
                  <c:v>5</c:v>
                </c:pt>
                <c:pt idx="8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2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858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374" y="826618"/>
            <a:ext cx="724205" cy="7242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9659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TESTS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0" y="26974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— cahier de tests, modules 25 à 39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802636" y="3566160"/>
            <a:ext cx="6583680" cy="777240"/>
          </a:xfrm>
          <a:prstGeom prst="roundRect">
            <a:avLst>
              <a:gd name="adj" fmla="val 14118"/>
            </a:avLst>
          </a:prstGeom>
          <a:solidFill>
            <a:srgbClr val="072A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894076" y="3566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cas de test rejoués contre l'infrastructure réelle — pas relus, exécutés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septembre 2026  ·  ML/cahier_de_tests_indusense.md  ·  ML/guide_experimentation_indusense.md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DE LA CAMPAGNE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la solution fonctionne réellement — pas relire qu'elle fonctionne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317236" cy="4206240"/>
          </a:xfrm>
          <a:prstGeom prst="roundRect">
            <a:avLst>
              <a:gd name="adj" fmla="val 1739"/>
            </a:avLst>
          </a:prstGeom>
          <a:solidFill>
            <a:srgbClr val="F1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331720"/>
            <a:ext cx="467715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5C"/>
                </a:solidFill>
              </a:rPr>
              <a:t>Public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230"/>
                </a:solidFill>
              </a:rPr>
              <a:t>Évaluateurs, testeurs, formateur — toute personne qui doit vérifier la solution par elle-même.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5C"/>
                </a:solidFill>
              </a:rPr>
              <a:t>Portée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230"/>
                </a:solidFill>
              </a:rPr>
              <a:t>9 domaines fonctionnels, modules 23 à 39 : qualité, API, sécurité, conteneur, orchestration, dérive, observabilité, boucle humaine.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5C"/>
                </a:solidFill>
              </a:rPr>
              <a:t>Contrainte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230"/>
                </a:solidFill>
              </a:rPr>
              <a:t>Chaque résultat attendu est une valeur déjà mesurée en développement — jamais une cible théorique.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23076" y="2057400"/>
            <a:ext cx="5317236" cy="4206240"/>
          </a:xfrm>
          <a:prstGeom prst="roundRect">
            <a:avLst>
              <a:gd name="adj" fmla="val 1739"/>
            </a:avLst>
          </a:prstGeom>
          <a:solidFill>
            <a:srgbClr val="0B3D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43116" y="2286000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d'un cas de test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643116" y="2880360"/>
            <a:ext cx="4677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643116" y="3182112"/>
            <a:ext cx="4677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TC-&lt;domaine&gt;-&lt;numéro&gt;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643116" y="3840480"/>
            <a:ext cx="4677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643116" y="4142232"/>
            <a:ext cx="4677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/ code retour / valeur en base, déjà observés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643116" y="4800600"/>
            <a:ext cx="46771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associée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643116" y="5102352"/>
            <a:ext cx="4677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*_proof.md où le cas a déjà été exécuté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643116" y="5806440"/>
            <a:ext cx="46771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global : ✅ tous les cas passent  ·  ⚠️ partiel  ·  ❌ échec non résolu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— 9 DOMAINES, 48 CAS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527048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472184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 &amp; qualité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093976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format, build, suite locale, CI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9016" y="1325880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4520184" y="1527048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0184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233416" y="1472184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233416" y="2093976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santé, readiness, prédiction, validation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89392" y="1325880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290560" y="1527048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9056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003792" y="1472184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003792" y="2093976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API, taille payload, rate limit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099816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" y="3300984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49808" y="3300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463040" y="3246120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 Docker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3867912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non-root, healthcheck, taille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19016" y="3099816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26" name="Shape 23"/>
          <p:cNvSpPr/>
          <p:nvPr/>
        </p:nvSpPr>
        <p:spPr>
          <a:xfrm>
            <a:off x="4520184" y="3300984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20184" y="3300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5233416" y="3246120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Compose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233416" y="3867912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services, ordre, config valide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089392" y="3099816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31" name="Shape 28"/>
          <p:cNvSpPr/>
          <p:nvPr/>
        </p:nvSpPr>
        <p:spPr>
          <a:xfrm>
            <a:off x="8290560" y="3300984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90560" y="3300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003792" y="3246120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— scoring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003792" y="3867912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local/conteneur, idempotence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4873752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36" name="Shape 33"/>
          <p:cNvSpPr/>
          <p:nvPr/>
        </p:nvSpPr>
        <p:spPr>
          <a:xfrm>
            <a:off x="749808" y="5074920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49808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1463040" y="5020056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PSI/KS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463040" y="5641848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référence, alerte, angle mort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319016" y="4873752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41" name="Shape 38"/>
          <p:cNvSpPr/>
          <p:nvPr/>
        </p:nvSpPr>
        <p:spPr>
          <a:xfrm>
            <a:off x="4520184" y="5074920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520184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5233416" y="5020056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+ charge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233416" y="5641848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cibles, dashboards, latences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089392" y="4873752"/>
            <a:ext cx="3550920" cy="1554480"/>
          </a:xfrm>
          <a:prstGeom prst="roundRect">
            <a:avLst>
              <a:gd name="adj" fmla="val 4706"/>
            </a:avLst>
          </a:prstGeom>
          <a:solidFill>
            <a:srgbClr val="F1F6F8"/>
          </a:solidFill>
          <a:ln/>
        </p:spPr>
      </p:sp>
      <p:sp>
        <p:nvSpPr>
          <p:cNvPr id="46" name="Shape 43"/>
          <p:cNvSpPr/>
          <p:nvPr/>
        </p:nvSpPr>
        <p:spPr>
          <a:xfrm>
            <a:off x="8290560" y="5074920"/>
            <a:ext cx="566928" cy="566928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9056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8" name="Text 45"/>
          <p:cNvSpPr txBox="1"/>
          <p:nvPr/>
        </p:nvSpPr>
        <p:spPr>
          <a:xfrm>
            <a:off x="9003792" y="5020056"/>
            <a:ext cx="249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HITL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9003792" y="5641848"/>
            <a:ext cx="249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revue, arbitrage, feux verts, fantôme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— REJOUER, PAS RELIRE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Postgres distincts : source Gold (docker-db-1, TP1→TP6) vs applicatif (ml-db-1, vide par conception, module 28)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7" name="Shape 4"/>
          <p:cNvSpPr/>
          <p:nvPr/>
        </p:nvSpPr>
        <p:spPr>
          <a:xfrm>
            <a:off x="1512189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512189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3756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l'infra réelle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11480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 --build --wait — 4/4 services healthy avant tout test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115818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390138" y="2148840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353687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53687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618738" y="333756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tel quel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18738" y="411480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commande du cahier, copiée-collée, aucune simulation ni mock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957316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231636" y="2148840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19" name="Shape 16"/>
          <p:cNvSpPr/>
          <p:nvPr/>
        </p:nvSpPr>
        <p:spPr>
          <a:xfrm>
            <a:off x="7195185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195185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460236" y="333756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60236" y="411480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mesuré vs résultat attendu documenté dans *_proof.md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798814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9073134" y="2148840"/>
            <a:ext cx="2567178" cy="3566160"/>
          </a:xfrm>
          <a:prstGeom prst="roundRect">
            <a:avLst>
              <a:gd name="adj" fmla="val 2850"/>
            </a:avLst>
          </a:prstGeom>
          <a:solidFill>
            <a:srgbClr val="0B3D5C"/>
          </a:solidFill>
          <a:ln/>
        </p:spPr>
      </p:sp>
      <p:sp>
        <p:nvSpPr>
          <p:cNvPr id="25" name="Shape 22"/>
          <p:cNvSpPr/>
          <p:nvPr/>
        </p:nvSpPr>
        <p:spPr>
          <a:xfrm>
            <a:off x="10036683" y="2468880"/>
            <a:ext cx="640080" cy="640080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036683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301734" y="333756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et corriger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301734" y="411480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écart ouvre un incident : cause racine identifiée, correction validée, cas rejoué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B8A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GLOBAUX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0B3D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48/48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conformes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490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valeurs déjà mesurées du cahier de tests, sur l'infrastructure réelle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937760"/>
            <a:ext cx="548640" cy="548640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4114800" y="1417320"/>
          <a:ext cx="7525512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B343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SÉCURITÉ SOUS CHARGE RÉELLE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Locust, 3 utilisateurs soutenus, 100 s, contre /predict-tabular réel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567178" cy="329184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2402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46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absente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rejetée immédiatement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0138" y="2011680"/>
            <a:ext cx="2567178" cy="329184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90138" y="22402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3573018" y="3246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&gt; 64 Kio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73018" y="41148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coupé dès le 65 537e octet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31636" y="2011680"/>
            <a:ext cx="2567178" cy="329184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31636" y="22402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6414516" y="3246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22-24 % des requêtes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41148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déclenché sous charge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73134" y="2011680"/>
            <a:ext cx="2567178" cy="3291840"/>
          </a:xfrm>
          <a:prstGeom prst="roundRect">
            <a:avLst>
              <a:gd name="adj" fmla="val 2850"/>
            </a:avLst>
          </a:prstGeom>
          <a:solidFill>
            <a:srgbClr val="F1F6F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073134" y="22402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4200" dirty="0"/>
          </a:p>
        </p:txBody>
      </p:sp>
      <p:sp>
        <p:nvSpPr>
          <p:cNvPr id="20" name="Text 17"/>
          <p:cNvSpPr txBox="1"/>
          <p:nvPr/>
        </p:nvSpPr>
        <p:spPr>
          <a:xfrm>
            <a:off x="9256014" y="3246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+ 413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256014" y="411480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comptés dans /metrics, aucun angle mort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middleware de comptage enveloppe la limite de taille — aucun code d'erreur n'échappe aux métriques.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L'ANGLE MORT DU PSI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fenêtres réelles, même référence 'normale' — un indicateur ne suffit jamais seul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317236" cy="4023360"/>
          </a:xfrm>
          <a:prstGeom prst="roundRect">
            <a:avLst>
              <a:gd name="adj" fmla="val 1818"/>
            </a:avLst>
          </a:prstGeom>
          <a:solidFill>
            <a:srgbClr val="F1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240280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2 — capteur en dérive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432B"/>
                </a:solidFill>
              </a:rPr>
              <a:t>PSI = 7,38  </a:t>
            </a:r>
            <a:pPr indent="0" marL="0">
              <a:buNone/>
            </a:pPr>
            <a:r>
              <a:rPr lang="en-US" sz="1300" dirty="0">
                <a:solidFill>
                  <a:srgbClr val="5C6B75"/>
                </a:solidFill>
              </a:rPr>
              <a:t>(seuil 0,25)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375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PSI : OUI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4904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modèle : 0,89 — encore correct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97680"/>
            <a:ext cx="46771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capteur dérive statistiquement, mais le modèle reste performant — l'alerte est bien fondée.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23076" y="2011680"/>
            <a:ext cx="5317236" cy="4023360"/>
          </a:xfrm>
          <a:prstGeom prst="roundRect">
            <a:avLst>
              <a:gd name="adj" fmla="val 1818"/>
            </a:avLst>
          </a:prstGeom>
          <a:solidFill>
            <a:srgbClr val="0B3D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43116" y="2240280"/>
            <a:ext cx="46771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3 — concept drift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643116" y="274320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20C"/>
                </a:solidFill>
              </a:rPr>
              <a:t>PSI = 0,165  </a:t>
            </a:r>
            <a:pPr indent="0" marL="0">
              <a:buNone/>
            </a:pPr>
            <a:r>
              <a:rPr lang="en-US" sz="1300" dirty="0">
                <a:solidFill>
                  <a:srgbClr val="AFC9D8"/>
                </a:solidFill>
              </a:rPr>
              <a:t>(seuil 0,25)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643116" y="33375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PSI : non — muet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43116" y="374904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modèle : 0,04 — effondré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43116" y="4297680"/>
            <a:ext cx="46771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distribution des features ne bouge presque pas, mais la relation feature→panne a changé : le PSI ne peut pas le voir.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— LA RÈGLE D'OR DE LA BOUCLE HITL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F1F6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55448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champion vs challenger — fenêtre juin, jamais vue à l'entraînement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965960"/>
            <a:ext cx="20903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2090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purs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958998" y="1965960"/>
            <a:ext cx="20903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2958998" y="2651760"/>
            <a:ext cx="2090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49317" y="1965960"/>
            <a:ext cx="20903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049317" y="2651760"/>
            <a:ext cx="2090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139635" y="1965960"/>
            <a:ext cx="20903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139635" y="2651760"/>
            <a:ext cx="2090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mort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9229954" y="1965960"/>
            <a:ext cx="20903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REJET_DU_MODELE_N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229954" y="2651760"/>
            <a:ext cx="2090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1089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net = +2, pourtant rejeté : la règle d'or refuse la moyenne, elle exige l'absence de régression franche.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703320"/>
            <a:ext cx="11091672" cy="2560320"/>
          </a:xfrm>
          <a:prstGeom prst="roundRect">
            <a:avLst>
              <a:gd name="adj" fmla="val 2857"/>
            </a:avLst>
          </a:prstGeom>
          <a:solidFill>
            <a:srgbClr val="0B3D5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385876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sélection du feedback humain — un technicien ne revoit que ce qui a alerté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le bouton « incident non prédit »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91840" y="4498848"/>
            <a:ext cx="8348472" cy="329184"/>
          </a:xfrm>
          <a:prstGeom prst="roundRect">
            <a:avLst>
              <a:gd name="adj" fmla="val 13889"/>
            </a:avLst>
          </a:prstGeom>
          <a:solidFill>
            <a:srgbClr val="072A40"/>
          </a:solidFill>
          <a:ln/>
        </p:spPr>
      </p:sp>
      <p:sp>
        <p:nvSpPr>
          <p:cNvPr id="22" name="Shape 19"/>
          <p:cNvSpPr/>
          <p:nvPr/>
        </p:nvSpPr>
        <p:spPr>
          <a:xfrm>
            <a:off x="3291840" y="4498848"/>
            <a:ext cx="7605458" cy="329184"/>
          </a:xfrm>
          <a:prstGeom prst="roundRect">
            <a:avLst>
              <a:gd name="adj" fmla="val 13889"/>
            </a:avLst>
          </a:prstGeom>
          <a:solidFill>
            <a:srgbClr val="F2A20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291840" y="4434840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662/727 (91,1 %)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5056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bouton (taux 100 %)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91840" y="5120640"/>
            <a:ext cx="8348472" cy="329184"/>
          </a:xfrm>
          <a:prstGeom prst="roundRect">
            <a:avLst>
              <a:gd name="adj" fmla="val 13889"/>
            </a:avLst>
          </a:prstGeom>
          <a:solidFill>
            <a:srgbClr val="1B8A5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291840" y="5056632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727/727 (100 %)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562356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pannes manquées par le modèle restent invisibles dans les retours tant que rien ne force leur remontée.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B343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RENCONTRÉS EN REJOUANT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écarts trouvés en exécutant réellement — invisibles à la simple lecture du cahier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1F6F8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048256"/>
            <a:ext cx="310896" cy="310896"/>
          </a:xfrm>
          <a:prstGeom prst="ellipse">
            <a:avLst/>
          </a:prstGeom>
          <a:solidFill>
            <a:srgbClr val="B34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9202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fuite un chemin conteneur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920240"/>
            <a:ext cx="683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MODEL_PATH pointait /app/... y compris sur l'hôte → le modèle était réentraîné à chaque run au lieu d'être réutilisé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3347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852928"/>
            <a:ext cx="310896" cy="310896"/>
          </a:xfrm>
          <a:prstGeom prst="ellipse">
            <a:avLst/>
          </a:prstGeom>
          <a:solidFill>
            <a:srgbClr val="B343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2724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predictions obsolète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724912"/>
            <a:ext cx="683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créée avant le module 35 dans ml-db-1 (4 colonnes au lieu de 10) → bloquait le scoring en conteneur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438144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1F6F8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3657600"/>
            <a:ext cx="310896" cy="310896"/>
          </a:xfrm>
          <a:prstGeom prst="ellipse">
            <a:avLst/>
          </a:prstGeom>
          <a:solidFill>
            <a:srgbClr val="B343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5295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rate() trop large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3529584"/>
            <a:ext cx="683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[2m] ne redescend pas à 0 en 35 s ; [30s] confirme le comportement attendu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242816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4462272"/>
            <a:ext cx="310896" cy="310896"/>
          </a:xfrm>
          <a:prstGeom prst="ellipse">
            <a:avLst/>
          </a:prstGeom>
          <a:solidFill>
            <a:srgbClr val="B3432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4334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déjà consommé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4334256"/>
            <a:ext cx="683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917 alertes déjà revues par une session antérieure → ZeroDivisionError, pas de garde-fou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047488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1F6F8"/>
          </a:solidFill>
          <a:ln/>
        </p:spPr>
      </p:sp>
      <p:sp>
        <p:nvSpPr>
          <p:cNvPr id="27" name="Shape 24"/>
          <p:cNvSpPr/>
          <p:nvPr/>
        </p:nvSpPr>
        <p:spPr>
          <a:xfrm>
            <a:off x="731520" y="5266944"/>
            <a:ext cx="310896" cy="310896"/>
          </a:xfrm>
          <a:prstGeom prst="ellipse">
            <a:avLst/>
          </a:prstGeom>
          <a:solidFill>
            <a:srgbClr val="B34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31520" y="5266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234440" y="51389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CSV proches du seuil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5138928"/>
            <a:ext cx="683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10,68-11,05k lignes vs 11k-19k annoncé — écart mineur, non bloquant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" y="59253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PÉDAGOGIQUES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508760"/>
            <a:ext cx="10588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cahier de tests n'a de valeur que rejoué contre l'infrastructure réelle — pas relu comme une checklist.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3288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2468880"/>
            <a:ext cx="10588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(volumes Docker, schémas, bases) dérive silencieusement entre deux sessions : « ça marchait hier » n'est pas une preuve.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47472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49300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51560" y="3429000"/>
            <a:ext cx="10588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métrique de dérive (PSI) ne remplace pas une métrique de performance (rappel) — la fenêtre concept drift le montre : PSI muet, rappel effondré.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443484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45312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51560" y="4389120"/>
            <a:ext cx="10588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bilan net positif ne justifie pas une promotion automatique — la règle d'or protège contre l'illusion que gains et régressions s'annulent.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548640" y="5394960"/>
            <a:ext cx="292608" cy="292608"/>
          </a:xfrm>
          <a:prstGeom prst="ellipse">
            <a:avLst/>
          </a:prstGeom>
          <a:solidFill>
            <a:srgbClr val="F2A20C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413248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51560" y="5349240"/>
            <a:ext cx="10588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biais de sélection du feedback humain est invisible sans instrumentation dédiée, et il fausse tout réentraînement tant qu'il n'est pas mesuré.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2026-09-22T14:13:49Z</dcterms:created>
  <dcterms:modified xsi:type="dcterms:W3CDTF">2026-09-22T14:13:49Z</dcterms:modified>
</cp:coreProperties>
</file>