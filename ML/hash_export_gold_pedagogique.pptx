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FC7E0"/>
                </a:solidFill>
                <a:latin typeface="Calibri"/>
              </a:rPr>
              <a:t>TRAÇABILITÉ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Export Gold +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Comment data.py fige un instantané du dataset Gold et lui donne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FDEE8"/>
                </a:solidFill>
                <a:latin typeface="Calibri"/>
              </a:rPr>
              <a:t>une empreinte vérifiable, pour relier chaque run MLflow à ses données exactes.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8C0"/>
                </a:solidFill>
                <a:latin typeface="Consolas"/>
              </a:rPr>
              <a:t>ML/src/indusense/data.py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LE PROBLÈME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Une table qui dérive, un run qui ne le sait pas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T0 : 67 colonnes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29000" y="1965960"/>
            <a:ext cx="27432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23360" y="169164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T1 : 69 colonnes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12280" y="1965960"/>
            <a:ext cx="27432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169164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69164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T2 : 78 colonnes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5F6B7A"/>
                </a:solidFill>
                <a:latin typeface="Calibri"/>
              </a:rPr>
              <a:t>gold_machine_hourly_feature (Postgres) — le schéma évolue silencieusement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532120" y="2880360"/>
            <a:ext cx="320040" cy="457200"/>
          </a:xfrm>
          <a:prstGeom prst="downArrow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0" y="342900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02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3429000"/>
            <a:ext cx="3657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B02E2E"/>
                </a:solidFill>
                <a:latin typeface="Calibri"/>
              </a:rPr>
              <a:t>Run MLflow entraîné à un instant donné</a:t>
            </a:r>
          </a:p>
          <a:p>
            <a:pPr algn="ctr"/>
            <a:r>
              <a:rPr sz="1350" b="1" i="0">
                <a:solidFill>
                  <a:srgbClr val="B02E2E"/>
                </a:solidFill>
                <a:latin typeface="Calibri"/>
              </a:rPr>
              <a:t>→ sur QUELLE version de la table ? 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6177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4818888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5" y="4791455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2E2E"/>
                </a:solidFill>
                <a:latin typeface="Cambria"/>
              </a:rPr>
              <a:t>Conséquence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5321807"/>
            <a:ext cx="4672583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Impossible de rejouer un run : les données d'entraînement ne sont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plus identifiables une fois la table modifiée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4617720"/>
            <a:ext cx="5074920" cy="16002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0488" y="481888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1696" y="4791455"/>
            <a:ext cx="415137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Besoin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5321807"/>
            <a:ext cx="4672583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Figer un instantané fichier de la table, versionnable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et identifiable de façon unique et vérifiable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LA SOLUTION — DATA.PY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Deux fonctions, un instantané vérifiable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880360" cy="118872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40279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06039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nsolas"/>
              </a:rPr>
              <a:t>gold_machine_hourly_feature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74720" y="2560320"/>
            <a:ext cx="59436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8" y="181051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A"/>
                </a:solidFill>
                <a:latin typeface="Calibri"/>
              </a:rPr>
              <a:t>export_gold_dataset()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103120"/>
            <a:ext cx="2880360" cy="11887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79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Snapshot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06039"/>
            <a:ext cx="2606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gold_dataset.csv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Calibri"/>
              </a:rPr>
              <a:t>(figé, versionnable par DVC)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98080" y="2560320"/>
            <a:ext cx="59436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0648" y="181051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5F6B7A"/>
                </a:solidFill>
                <a:latin typeface="Calibri"/>
              </a:rPr>
              <a:t>hash_file()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103120"/>
            <a:ext cx="2880360" cy="11887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240279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Empreinte MD5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2606039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4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>
                <a:solidFill>
                  <a:srgbClr val="8FE0B0"/>
                </a:solidFill>
                <a:latin typeface="Consolas"/>
              </a:rPr>
              <a:t>9f86d081884c...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57600"/>
            <a:ext cx="5349240" cy="24688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385876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1016" y="3831335"/>
            <a:ext cx="4425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export_gold_dataset(engine, out_path)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361688"/>
            <a:ext cx="4946903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Exécute la requête SQL sur toute la table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Écrit le résultat en CSV à un chemin donné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Retourne ce chemin : c'est l'instantané figé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657600"/>
            <a:ext cx="5577840" cy="24688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36207" y="3858768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3831335"/>
            <a:ext cx="4654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hash_file(path)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7" y="4361688"/>
            <a:ext cx="5175503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Lit le fichier par blocs de 1 Mo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Calcule un MD5 cumulatif sur le contenu binaire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Retourne une chaîne hexadécimale unique pour ce contenu exact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RAPPEL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Un hash : une empreinte de taille fixe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3774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1F2B"/>
                </a:solidFill>
                <a:latin typeface="Calibri"/>
              </a:rPr>
              <a:t>Entrée</a:t>
            </a:r>
          </a:p>
          <a:p>
            <a:pPr algn="ctr"/>
            <a:r>
              <a:rPr sz="1300" b="1" i="0">
                <a:solidFill>
                  <a:srgbClr val="1A1F2B"/>
                </a:solidFill>
                <a:latin typeface="Calibri"/>
              </a:rPr>
              <a:t>(taille quelconque)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08960" y="2103120"/>
            <a:ext cx="50292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645920"/>
            <a:ext cx="2926080" cy="11887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926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Fonction de hash</a:t>
            </a:r>
          </a:p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(ex. MD5, SHA-256)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629400" y="2103120"/>
            <a:ext cx="502920" cy="274320"/>
          </a:xfrm>
          <a:prstGeom prst="right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0" y="178308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86600" y="1947672"/>
            <a:ext cx="2926080" cy="585216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8FE0B0"/>
                </a:solidFill>
                <a:latin typeface="Consolas"/>
              </a:rPr>
              <a:t>a1b2c3d4e5f6...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5F6B7A"/>
                </a:solidFill>
                <a:latin typeface="Calibri"/>
              </a:rPr>
              <a:t>empreinte de longueur fixe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3557016"/>
            <a:ext cx="4425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mbria"/>
              </a:rPr>
              <a:t>Déterministe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087368"/>
            <a:ext cx="494690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Même contenu → toujours le même hash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Ex : deux exports identiques donnent la même empreinte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383280"/>
            <a:ext cx="5577840" cy="14173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36207" y="3584448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3557016"/>
            <a:ext cx="46542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2E2E"/>
                </a:solidFill>
                <a:latin typeface="Cambria"/>
              </a:rPr>
              <a:t>Effet avalanche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4087368"/>
            <a:ext cx="5175503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1 seul octet modifié → hash totalement différent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Ex : une colonne ajoutée au CSV change tout le 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9808" y="518464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5157216"/>
            <a:ext cx="101406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mbria"/>
              </a:rPr>
              <a:t>Irréversible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687568"/>
            <a:ext cx="10661904" cy="164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Impossible de retrouver le fichier à partir du seul hash — ce n'est pas du chiffrement, l'empreinte ne sert qu'à comparer/identifier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DANS DATA.PY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Le hash comme clé de correspondance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691640"/>
            <a:ext cx="2743200" cy="96012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9160" y="1691640"/>
            <a:ext cx="27432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gold_dataset.csv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7889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50">
                <a:solidFill>
                  <a:srgbClr val="8FE0B0"/>
                </a:solidFill>
                <a:latin typeface="Consolas"/>
              </a:rPr>
              <a:t>hash = 9f86d081...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103120" y="3337560"/>
            <a:ext cx="2743200" cy="640079"/>
          </a:xfrm>
          <a:prstGeom prst="bentConnector3">
            <a:avLst/>
          </a:prstGeom>
          <a:ln w="2540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3337560"/>
            <a:ext cx="2103120" cy="640079"/>
          </a:xfrm>
          <a:prstGeom prst="bentConnector3">
            <a:avLst/>
          </a:prstGeom>
          <a:ln w="2540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4023360"/>
            <a:ext cx="4937760" cy="20116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245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4197096"/>
            <a:ext cx="40142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  <a:latin typeface="Cambria"/>
              </a:rPr>
              <a:t>Pointeur DVC (.dvc)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727448"/>
            <a:ext cx="4535424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dvc add gold_dataset.csv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stocke md5: 9f86d081... dans le pointeur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permet dvc checkout pour retrouver ce fichier exact plus tard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023360"/>
            <a:ext cx="5120640" cy="201168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93407" y="4224528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14616" y="4197096"/>
            <a:ext cx="41970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mbria"/>
              </a:rPr>
              <a:t>Tag du run MLflow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7" y="4727448"/>
            <a:ext cx="4718303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data_hash = 9f86d081...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loggé comme paramètre/tag du run d'entraînement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300">
                <a:solidFill>
                  <a:srgbClr val="1A1F2B"/>
                </a:solidFill>
                <a:latin typeface="Calibri"/>
              </a:rPr>
              <a:t>relie le modèle produit à la version exacte des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F6B7A"/>
                </a:solidFill>
                <a:latin typeface="Calibri"/>
              </a:rPr>
              <a:t>Même hash des deux côtés → preuve que le run et le pointeur DVC pointent vers le même fichier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DÉTAIL D'IMPLÉMENTATION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Pourquoi MD5, alors qu'il est « cassé »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B0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1016" y="2002536"/>
            <a:ext cx="4471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02E2E"/>
                </a:solidFill>
                <a:latin typeface="Cambria"/>
              </a:rPr>
              <a:t>Pas un usage de sécurité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32888"/>
            <a:ext cx="499262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MD5 est jugé faible contre des attaques volontaires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(collisions fabriquées exprès)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Ici, personne ne cherche à falsifier un dataset :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le risque visé est la dérive involontaire, pas l'attaque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7" y="202996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6016" y="2002536"/>
            <a:ext cx="44714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mbria"/>
              </a:rPr>
              <a:t>Cohérence avec l'outillage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532888"/>
            <a:ext cx="4992624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DVC utilise MD5 par défaut pour ses pointeurs .dvc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hash_file() reprend le même algorithme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→ le hash du run est directement comparable</a:t>
            </a:r>
          </a:p>
          <a:p>
            <a:pPr indent="-201168" marL="201168">
              <a:spcAft>
                <a:spcPts val="800"/>
              </a:spcAft>
              <a:buFont typeface="Arial"/>
              <a:buChar char="–"/>
            </a:pPr>
            <a:r>
              <a:rPr sz="1250">
                <a:solidFill>
                  <a:srgbClr val="1A1F2B"/>
                </a:solidFill>
                <a:latin typeface="Calibri"/>
              </a:rPr>
              <a:t>à celui déjà stocké par DVC, sans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F6B7A"/>
                </a:solidFill>
                <a:latin typeface="Calibri"/>
              </a:rPr>
              <a:t>Règle générale : MD5/SHA pour identifier un contenu (intégrité, versioning) ; un algorithme dédié (bcrypt, argon2) pour protéger un secret (mots de passe).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3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EN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21295C"/>
                </a:solidFill>
                <a:latin typeface="Cambria"/>
              </a:rPr>
              <a:t>Traçabilité bout en bout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01368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F2B"/>
                </a:solidFill>
                <a:latin typeface="Calibri"/>
              </a:rPr>
              <a:t>La table Postgres évolue dans le temps, sans laisser de trace de son état</a:t>
            </a:r>
          </a:p>
        </p:txBody>
      </p:sp>
      <p:sp>
        <p:nvSpPr>
          <p:cNvPr id="6" name="Down Arrow 5"/>
          <p:cNvSpPr/>
          <p:nvPr/>
        </p:nvSpPr>
        <p:spPr>
          <a:xfrm>
            <a:off x="795528" y="2267712"/>
            <a:ext cx="164592" cy="219456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56946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87752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F2B"/>
                </a:solidFill>
                <a:latin typeface="Calibri"/>
              </a:rPr>
              <a:t>export_gold_dataset() fige un instantané CSV à un moment donné</a:t>
            </a:r>
          </a:p>
        </p:txBody>
      </p:sp>
      <p:sp>
        <p:nvSpPr>
          <p:cNvPr id="9" name="Down Arrow 8"/>
          <p:cNvSpPr/>
          <p:nvPr/>
        </p:nvSpPr>
        <p:spPr>
          <a:xfrm>
            <a:off x="795528" y="3054096"/>
            <a:ext cx="164592" cy="219456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355848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374136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F2B"/>
                </a:solidFill>
                <a:latin typeface="Calibri"/>
              </a:rPr>
              <a:t>hash_file() calcule une empreinte MD5 unique de ce fichier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95528" y="3840480"/>
            <a:ext cx="164592" cy="219456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0080" y="414223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160520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F2B"/>
                </a:solidFill>
                <a:latin typeface="Calibri"/>
              </a:rPr>
              <a:t>Ce hash est partagé entre le pointeur DVC et le run MLflow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95528" y="4626864"/>
            <a:ext cx="164592" cy="219456"/>
          </a:xfrm>
          <a:prstGeom prst="downArrow">
            <a:avLst/>
          </a:prstGeom>
          <a:solidFill>
            <a:srgbClr val="5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928616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946903"/>
            <a:ext cx="9875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A1F2B"/>
                </a:solidFill>
                <a:latin typeface="Calibri"/>
              </a:rPr>
              <a:t>Résultat : à partir d'un run, on retrouve exactement les données qui l'ont produit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