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389120"/>
            <a:ext cx="4023360" cy="4023360"/>
          </a:xfrm>
          <a:prstGeom prst="ellipse">
            <a:avLst/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8A33D"/>
                </a:solidFill>
                <a:latin typeface="Calibri"/>
              </a:rPr>
              <a:t>INDUSENSE — SPRINT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Dérive, observabilité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et industrialisation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CFE3E8"/>
                </a:solidFill>
                <a:latin typeface="Calibri"/>
              </a:rPr>
              <a:t>Modules 30 à 39 — flow empaqueté, PSI/KS, Prometheus &amp; Grafana, boucle HITL champion/challenger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892040"/>
            <a:ext cx="502920" cy="38100"/>
          </a:xfrm>
          <a:prstGeom prst="rect">
            <a:avLst/>
          </a:prstGeom>
          <a:solidFill>
            <a:srgbClr val="12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9FB2BE"/>
                </a:solidFill>
                <a:latin typeface="Calibri"/>
              </a:rPr>
              <a:t>« Prouver, avec les outils, que le socle fonctionne déjà — avant de construire dessus.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C93A0"/>
                </a:solidFill>
                <a:latin typeface="Calibri"/>
              </a:rPr>
              <a:t>Branche ci/quality-and-build — CI verte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SOMMAIRE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3B57"/>
                </a:solidFill>
                <a:latin typeface="Cambria"/>
              </a:rPr>
              <a:t>Ce que ce chat a construit et prouvé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83080"/>
            <a:ext cx="640080" cy="640080"/>
          </a:xfrm>
          <a:prstGeom prst="ellipse">
            <a:avLst/>
          </a:prstGeom>
          <a:solidFill>
            <a:srgbClr val="12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73736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3B57"/>
                </a:solidFill>
                <a:latin typeface="Cambria"/>
              </a:rPr>
              <a:t>Flow empaqueté &amp; Postgres réel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121408"/>
            <a:ext cx="9692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77"/>
                </a:solidFill>
                <a:latin typeface="Calibri"/>
              </a:rPr>
              <a:t>Le pipeline Prefect quitte la racine du dépôt pour vivre dans le paquet — 4 bugs réels trouvés en le faisant tourner.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34640"/>
            <a:ext cx="640080" cy="640080"/>
          </a:xfrm>
          <a:prstGeom prst="ellipse">
            <a:avLst/>
          </a:prstGeom>
          <a:solidFill>
            <a:srgbClr val="12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31–34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78892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3B57"/>
                </a:solidFill>
                <a:latin typeface="Cambria"/>
              </a:rPr>
              <a:t>Dérive : PSI/KS, spec, runbook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72968"/>
            <a:ext cx="9692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77"/>
                </a:solidFill>
                <a:latin typeface="Calibri"/>
              </a:rPr>
              <a:t>Rien n'était fourni : détection de dérive, 4 scénarios, règle figée et playbook opérateur construits de zéro.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886200"/>
            <a:ext cx="640080" cy="640080"/>
          </a:xfrm>
          <a:prstGeom prst="ellipse">
            <a:avLst/>
          </a:prstGeom>
          <a:solidFill>
            <a:srgbClr val="12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862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33–34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8404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3B57"/>
                </a:solidFill>
                <a:latin typeface="Cambria"/>
              </a:rPr>
              <a:t>Observabilité + Locust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24528"/>
            <a:ext cx="9692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77"/>
                </a:solidFill>
                <a:latin typeface="Calibri"/>
              </a:rPr>
              <a:t>Exporteur Prometheus, 2 dashboards Grafana, alerte réellement déclenchée ; harnais de charge, résultats qui divergent du guide.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937760"/>
            <a:ext cx="640080" cy="640080"/>
          </a:xfrm>
          <a:prstGeom prst="ellipse">
            <a:avLst/>
          </a:prstGeom>
          <a:solidFill>
            <a:srgbClr val="12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9377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35–39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8920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3B57"/>
                </a:solidFill>
                <a:latin typeface="Cambria"/>
              </a:rPr>
              <a:t>Boucle HITL champion/challenger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276088"/>
            <a:ext cx="96926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77"/>
                </a:solidFill>
                <a:latin typeface="Calibri"/>
              </a:rPr>
              <a:t>Journal versionné, simulateur + Streamlit, arbitrage, 4 feux verts Prefect, mode fantôme — garde-fou prouvé de bout en bout.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77"/>
                </a:solidFill>
                <a:latin typeface="Calibri"/>
              </a:rPr>
              <a:t>Sommaire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7"/>
                </a:solidFill>
                <a:latin typeface="Calibri"/>
              </a:rPr>
              <a:t>InduSense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4114800"/>
            <a:ext cx="5486400" cy="5486400"/>
          </a:xfrm>
          <a:prstGeom prst="ellipse">
            <a:avLst/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MÉTHODE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Chaque affirmation de ce deck vient</a:t>
            </a:r>
          </a:p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d'une exécution réelle — jamais</a:t>
            </a:r>
          </a:p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déduite du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297680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4297680"/>
            <a:ext cx="109728" cy="1828800"/>
          </a:xfrm>
          <a:prstGeom prst="rect">
            <a:avLst/>
          </a:prstGeom>
          <a:solidFill>
            <a:srgbClr val="12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448056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Docker Compose réel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498348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B9CCD4"/>
                </a:solidFill>
                <a:latin typeface="Calibri"/>
              </a:rPr>
              <a:t>db/api/prometheus/grafana démarrés, healthchecks vérifiés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99432" y="4297680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99432" y="4297680"/>
            <a:ext cx="109728" cy="1828800"/>
          </a:xfrm>
          <a:prstGeom prst="rect">
            <a:avLst/>
          </a:prstGeom>
          <a:solidFill>
            <a:srgbClr val="12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55464" y="448056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Postgres réel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5464" y="498348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B9CCD4"/>
                </a:solidFill>
                <a:latin typeface="Calibri"/>
              </a:rPr>
              <a:t>132 940 lignes restaurées depuis le dépôt de dev, pas un mock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4297680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4" y="4297680"/>
            <a:ext cx="109728" cy="1828800"/>
          </a:xfrm>
          <a:prstGeom prst="rect">
            <a:avLst/>
          </a:prstGeom>
          <a:solidFill>
            <a:srgbClr val="12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4480560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Comptage indépendant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498348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B9CCD4"/>
                </a:solidFill>
                <a:latin typeface="Calibri"/>
              </a:rPr>
              <a:t>psql / curl / Prometheus interrogés directement, jamais la valeur que le script prétend avoir écrite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MODULE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3B57"/>
                </a:solidFill>
                <a:latin typeface="Cambria"/>
              </a:rPr>
              <a:t>Sortir le flow de la racine du dépôt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AVANT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84632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spcAft>
                <a:spcPts val="800"/>
              </a:spcAft>
              <a:buClr>
                <a:srgbClr val="C0392B"/>
              </a:buClr>
              <a:buFont typeface="Arial"/>
              <a:buChar char="•"/>
            </a:pPr>
            <a:r>
              <a:rPr sz="1400">
                <a:solidFill>
                  <a:srgbClr val="1A2733"/>
                </a:solidFill>
                <a:latin typeface="Calibri"/>
              </a:rPr>
              <a:t>flows/pipeline.py à la racine du dépôt</a:t>
            </a:r>
          </a:p>
          <a:p>
            <a:pPr indent="-182880" marL="182880">
              <a:spcAft>
                <a:spcPts val="800"/>
              </a:spcAft>
              <a:buClr>
                <a:srgbClr val="C0392B"/>
              </a:buClr>
              <a:buFont typeface="Arial"/>
              <a:buChar char="•"/>
            </a:pPr>
            <a:r>
              <a:rPr sz="1400">
                <a:solidFill>
                  <a:srgbClr val="1A2733"/>
                </a:solidFill>
                <a:latin typeface="Calibri"/>
              </a:rPr>
              <a:t>Le Dockerfile ne copie que src/ dans l'image — ce script n'existe tout simplement pas dans le conteneur</a:t>
            </a:r>
          </a:p>
          <a:p>
            <a:pPr indent="-182880" marL="182880">
              <a:spcAft>
                <a:spcPts val="800"/>
              </a:spcAft>
              <a:buClr>
                <a:srgbClr val="C0392B"/>
              </a:buClr>
              <a:buFont typeface="Arial"/>
              <a:buChar char="•"/>
            </a:pPr>
            <a:r>
              <a:rPr sz="1400">
                <a:solidFill>
                  <a:srgbClr val="1A2733"/>
                </a:solidFill>
                <a:latin typeface="Calibri"/>
              </a:rPr>
              <a:t>Stockage des prédictions en sqlite3 brut : incompatible avec Postgres en conteneur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394960" cy="4206240"/>
          </a:xfrm>
          <a:prstGeom prst="roundRect">
            <a:avLst>
              <a:gd name="adj" fmla="val 5000"/>
            </a:avLst>
          </a:prstGeom>
          <a:solidFill>
            <a:srgbClr val="EA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7451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8A5F"/>
                </a:solidFill>
                <a:latin typeface="Calibri"/>
              </a:rPr>
              <a:t>APRÈS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86000"/>
            <a:ext cx="484632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spcAft>
                <a:spcPts val="800"/>
              </a:spcAft>
              <a:buClr>
                <a:srgbClr val="1E8A5F"/>
              </a:buClr>
              <a:buFont typeface="Arial"/>
              <a:buChar char="•"/>
            </a:pPr>
            <a:r>
              <a:rPr sz="1400">
                <a:solidFill>
                  <a:srgbClr val="1A2733"/>
                </a:solidFill>
                <a:latin typeface="Calibri"/>
              </a:rPr>
              <a:t>src/indusense/flows/predict_flow.py — dans le paquet, donc dans l'image</a:t>
            </a:r>
          </a:p>
          <a:p>
            <a:pPr indent="-182880" marL="182880">
              <a:spcAft>
                <a:spcPts val="800"/>
              </a:spcAft>
              <a:buClr>
                <a:srgbClr val="1E8A5F"/>
              </a:buClr>
              <a:buFont typeface="Arial"/>
              <a:buChar char="•"/>
            </a:pPr>
            <a:r>
              <a:rPr sz="1400">
                <a:solidFill>
                  <a:srgbClr val="1A2733"/>
                </a:solidFill>
                <a:latin typeface="Calibri"/>
              </a:rPr>
              <a:t>flows/pipeline.py réduit à une façade de 3 lignes — zéro logique dupliquée</a:t>
            </a:r>
          </a:p>
          <a:p>
            <a:pPr indent="-182880" marL="182880">
              <a:spcAft>
                <a:spcPts val="800"/>
              </a:spcAft>
              <a:buClr>
                <a:srgbClr val="1E8A5F"/>
              </a:buClr>
              <a:buFont typeface="Arial"/>
              <a:buChar char="•"/>
            </a:pPr>
            <a:r>
              <a:rPr sz="1400">
                <a:solidFill>
                  <a:srgbClr val="1A2733"/>
                </a:solidFill>
                <a:latin typeface="Calibri"/>
              </a:rPr>
              <a:t>predictions_store.py réécrit en SQLAlchemy : même SQL upsert sur SQLite (local) et PostgreSQL (conteneur)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77"/>
                </a:solidFill>
                <a:latin typeface="Calibri"/>
              </a:rPr>
              <a:t>Module 30 — Flow empaqueté &amp; Postgres réel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7"/>
                </a:solidFill>
                <a:latin typeface="Calibri"/>
              </a:rPr>
              <a:t>InduSense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MODULE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3B57"/>
                </a:solidFill>
                <a:latin typeface="Cambria"/>
              </a:rPr>
              <a:t>4 bugs réels, trouvés en le faisant tourner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0881360" cy="987552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56816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5681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288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3B57"/>
                </a:solidFill>
                <a:latin typeface="Cambria"/>
              </a:rPr>
              <a:t>Cache Prefect en échec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9456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77"/>
                </a:solidFill>
                <a:latin typeface="Calibri"/>
              </a:rPr>
              <a:t>L'Engine SQLAlchemy n'est pas picklable — Prefect tentait de le hacher à chaque appel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383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2877F"/>
                </a:solidFill>
                <a:latin typeface="Calibri"/>
              </a:rPr>
              <a:t>cache_policy=NO_CACHE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10881360" cy="987552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054096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5409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9260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3B57"/>
                </a:solidFill>
                <a:latin typeface="Cambria"/>
              </a:rPr>
              <a:t>Fichier verrouillé (Windows)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29184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77"/>
                </a:solidFill>
                <a:latin typeface="Calibri"/>
              </a:rPr>
              <a:t>Le pool de connexions n'était jamais fermé — PermissionError au nettoyage du dossier temporaire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926080"/>
            <a:ext cx="3383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2877F"/>
                </a:solidFill>
                <a:latin typeface="Calibri"/>
              </a:rPr>
              <a:t>engine.dispose()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10881360" cy="987552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151376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513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0233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3B57"/>
                </a:solidFill>
                <a:latin typeface="Cambria"/>
              </a:rPr>
              <a:t>Permissions refusées (conteneur)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3891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77"/>
                </a:solidFill>
                <a:latin typeface="Calibri"/>
              </a:rPr>
              <a:t>appuser (non-root) ne peut pas écrire dans /app, possédé par root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023360"/>
            <a:ext cx="3383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2877F"/>
                </a:solidFill>
                <a:latin typeface="Calibri"/>
              </a:rPr>
              <a:t>chown dédié + PREFECT_HOME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29200"/>
            <a:ext cx="10881360" cy="987552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5248656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24865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1206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F3B57"/>
                </a:solidFill>
                <a:latin typeface="Cambria"/>
              </a:rPr>
              <a:t>URL Postgres cassée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486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77"/>
                </a:solidFill>
                <a:latin typeface="Calibri"/>
              </a:rPr>
              <a:t>Le mot de passe contient un @ littéral, lu comme séparateur d'hôte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120640"/>
            <a:ext cx="33832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2877F"/>
                </a:solidFill>
                <a:latin typeface="Calibri"/>
              </a:rPr>
              <a:t>encodage %40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172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B6B77"/>
                </a:solidFill>
                <a:latin typeface="Calibri"/>
              </a:rPr>
              <a:t>Preuve indépendante : 15 lignes stables après 2 exécutions du flow packagé, vérifiées via docker compose exec db psql — pas la valeur renvoyée par le script.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MODULES 31–34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Rien n'était fourni dans ce dépôt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394960" cy="4114800"/>
          </a:xfrm>
          <a:prstGeom prst="roundRect">
            <a:avLst>
              <a:gd name="adj" fmla="val 5000"/>
            </a:avLst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LE JALON DU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spcAft>
                <a:spcPts val="800"/>
              </a:spcAft>
              <a:buClr>
                <a:srgbClr val="E8A33D"/>
              </a:buClr>
              <a:buFont typeface="Arial"/>
              <a:buChar char="•"/>
            </a:pPr>
            <a:r>
              <a:rPr sz="1450">
                <a:solidFill>
                  <a:srgbClr val="CFE3E8"/>
                </a:solidFill>
                <a:latin typeface="Calibri"/>
              </a:rPr>
              <a:t>drift.py (PSI + KS) déjà livré</a:t>
            </a:r>
          </a:p>
          <a:p>
            <a:pPr indent="-182880" marL="182880">
              <a:spcAft>
                <a:spcPts val="800"/>
              </a:spcAft>
              <a:buClr>
                <a:srgbClr val="E8A33D"/>
              </a:buClr>
              <a:buFont typeface="Arial"/>
              <a:buChar char="•"/>
            </a:pPr>
            <a:r>
              <a:rPr sz="1450">
                <a:solidFill>
                  <a:srgbClr val="CFE3E8"/>
                </a:solidFill>
                <a:latin typeface="Calibri"/>
              </a:rPr>
              <a:t>Modèle de dérive et seuil déjà gelés</a:t>
            </a:r>
          </a:p>
          <a:p>
            <a:pPr indent="-182880" marL="182880">
              <a:spcAft>
                <a:spcPts val="800"/>
              </a:spcAft>
              <a:buClr>
                <a:srgbClr val="E8A33D"/>
              </a:buClr>
              <a:buFont typeface="Arial"/>
              <a:buChar char="•"/>
            </a:pPr>
            <a:r>
              <a:rPr sz="1450">
                <a:solidFill>
                  <a:srgbClr val="CFE3E8"/>
                </a:solidFill>
                <a:latin typeface="Calibri"/>
              </a:rPr>
              <a:t>Exporteur Prometheus déjà présent</a:t>
            </a:r>
          </a:p>
          <a:p>
            <a:pPr indent="-182880" marL="182880">
              <a:spcAft>
                <a:spcPts val="800"/>
              </a:spcAft>
              <a:buClr>
                <a:srgbClr val="E8A33D"/>
              </a:buClr>
              <a:buFont typeface="Arial"/>
              <a:buChar char="•"/>
            </a:pPr>
            <a:r>
              <a:rPr sz="1450">
                <a:solidFill>
                  <a:srgbClr val="CFE3E8"/>
                </a:solidFill>
                <a:latin typeface="Calibri"/>
              </a:rPr>
              <a:t>Dashboard Grafana déjà provisionné</a:t>
            </a:r>
          </a:p>
          <a:p>
            <a:pPr indent="-182880" marL="182880">
              <a:spcAft>
                <a:spcPts val="800"/>
              </a:spcAft>
              <a:buClr>
                <a:srgbClr val="E8A33D"/>
              </a:buClr>
              <a:buFont typeface="Arial"/>
              <a:buChar char="•"/>
            </a:pPr>
            <a:r>
              <a:rPr sz="1450">
                <a:solidFill>
                  <a:srgbClr val="CFE3E8"/>
                </a:solidFill>
                <a:latin typeface="Calibri"/>
              </a:rPr>
              <a:t>Reste à faire : brancher et observer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394960" cy="4114800"/>
          </a:xfrm>
          <a:prstGeom prst="roundRect">
            <a:avLst>
              <a:gd name="adj" fmla="val 5000"/>
            </a:avLst>
          </a:prstGeom>
          <a:solidFill>
            <a:srgbClr val="12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7451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CE DÉPÔT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86000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spcAft>
                <a:spcPts val="800"/>
              </a:spcAft>
              <a:buClr>
                <a:srgbClr val="0B2A25"/>
              </a:buClr>
              <a:buFont typeface="Arial"/>
              <a:buChar char="•"/>
            </a:pPr>
            <a:r>
              <a:rPr sz="1450">
                <a:solidFill>
                  <a:srgbClr val="FFFFFF"/>
                </a:solidFill>
                <a:latin typeface="Calibri"/>
              </a:rPr>
              <a:t>PSI + KS écrits et testés (7 tests)</a:t>
            </a:r>
          </a:p>
          <a:p>
            <a:pPr indent="-182880" marL="182880">
              <a:spcAft>
                <a:spcPts val="800"/>
              </a:spcAft>
              <a:buClr>
                <a:srgbClr val="0B2A25"/>
              </a:buClr>
              <a:buFont typeface="Arial"/>
              <a:buChar char="•"/>
            </a:pPr>
            <a:r>
              <a:rPr sz="1450">
                <a:solidFill>
                  <a:srgbClr val="FFFFFF"/>
                </a:solidFill>
                <a:latin typeface="Calibri"/>
              </a:rPr>
              <a:t>2 références réelles figées + 4 scénarios construits</a:t>
            </a:r>
          </a:p>
          <a:p>
            <a:pPr indent="-182880" marL="182880">
              <a:spcAft>
                <a:spcPts val="800"/>
              </a:spcAft>
              <a:buClr>
                <a:srgbClr val="0B2A25"/>
              </a:buClr>
              <a:buFont typeface="Arial"/>
              <a:buChar char="•"/>
            </a:pPr>
            <a:r>
              <a:rPr sz="1450">
                <a:solidFill>
                  <a:srgbClr val="FFFFFF"/>
                </a:solidFill>
                <a:latin typeface="Calibri"/>
              </a:rPr>
              <a:t>Exporteur, spec et runbook écrits de zéro</a:t>
            </a:r>
          </a:p>
          <a:p>
            <a:pPr indent="-182880" marL="182880">
              <a:spcAft>
                <a:spcPts val="800"/>
              </a:spcAft>
              <a:buClr>
                <a:srgbClr val="0B2A25"/>
              </a:buClr>
              <a:buFont typeface="Arial"/>
              <a:buChar char="•"/>
            </a:pPr>
            <a:r>
              <a:rPr sz="1450">
                <a:solidFill>
                  <a:srgbClr val="FFFFFF"/>
                </a:solidFill>
                <a:latin typeface="Calibri"/>
              </a:rPr>
              <a:t>2 dashboards Grafana provisionnés</a:t>
            </a:r>
          </a:p>
          <a:p>
            <a:pPr indent="-182880" marL="182880">
              <a:spcAft>
                <a:spcPts val="800"/>
              </a:spcAft>
              <a:buClr>
                <a:srgbClr val="0B2A25"/>
              </a:buClr>
              <a:buFont typeface="Arial"/>
              <a:buChar char="•"/>
            </a:pPr>
            <a:r>
              <a:rPr sz="1450">
                <a:solidFill>
                  <a:srgbClr val="FFFFFF"/>
                </a:solidFill>
                <a:latin typeface="Calibri"/>
              </a:rPr>
              <a:t>Modèle réutilisé : b11-gkf, le vrai modèle de prod — pas de doublon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MODULES 31–34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3B57"/>
                </a:solidFill>
                <a:latin typeface="Cambria"/>
              </a:rPr>
              <a:t>PSI et KS : la mécanique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349240" cy="416052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3B57"/>
                </a:solidFill>
                <a:latin typeface="Cambria"/>
              </a:rPr>
              <a:t>PSI — décisionnel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spcAft>
                <a:spcPts val="800"/>
              </a:spcAft>
              <a:buClr>
                <a:srgbClr val="12877F"/>
              </a:buClr>
              <a:buFont typeface="Arial"/>
              <a:buChar char="•"/>
            </a:pPr>
            <a:r>
              <a:rPr sz="1400">
                <a:solidFill>
                  <a:srgbClr val="1A2733"/>
                </a:solidFill>
                <a:latin typeface="Calibri"/>
              </a:rPr>
              <a:t>Mesure un déplacement de distribution d'une feature</a:t>
            </a:r>
          </a:p>
          <a:p>
            <a:pPr indent="-182880" marL="182880">
              <a:spcAft>
                <a:spcPts val="800"/>
              </a:spcAft>
              <a:buClr>
                <a:srgbClr val="12877F"/>
              </a:buClr>
              <a:buFont typeface="Arial"/>
              <a:buChar char="•"/>
            </a:pPr>
            <a:r>
              <a:rPr sz="1400">
                <a:solidFill>
                  <a:srgbClr val="1A2733"/>
                </a:solidFill>
                <a:latin typeface="Calibri"/>
              </a:rPr>
              <a:t>Bins figés sur la référence seule — jamais recalculés sur la fenêtre courante</a:t>
            </a:r>
          </a:p>
          <a:p>
            <a:pPr indent="-182880" marL="182880">
              <a:spcAft>
                <a:spcPts val="800"/>
              </a:spcAft>
              <a:buClr>
                <a:srgbClr val="12877F"/>
              </a:buClr>
              <a:buFont typeface="Arial"/>
              <a:buChar char="•"/>
            </a:pPr>
            <a:r>
              <a:rPr sz="1400">
                <a:solidFill>
                  <a:srgbClr val="1A2733"/>
                </a:solidFill>
                <a:latin typeface="Calibri"/>
              </a:rPr>
              <a:t>Alerte si PSI &gt; 0,25, persistant sur 2 fenêtres consécutives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37360"/>
            <a:ext cx="5349240" cy="416052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3B57"/>
                </a:solidFill>
                <a:latin typeface="Cambria"/>
              </a:rPr>
              <a:t>KS — confirmation seulement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42316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spcAft>
                <a:spcPts val="800"/>
              </a:spcAft>
              <a:buClr>
                <a:srgbClr val="E8A33D"/>
              </a:buClr>
              <a:buFont typeface="Arial"/>
              <a:buChar char="•"/>
            </a:pPr>
            <a:r>
              <a:rPr sz="1400">
                <a:solidFill>
                  <a:srgbClr val="1A2733"/>
                </a:solidFill>
                <a:latin typeface="Calibri"/>
              </a:rPr>
              <a:t>p-value calculée pour chaque feature, à chaque fenêtre — même cadence que le PSI</a:t>
            </a:r>
          </a:p>
          <a:p>
            <a:pPr indent="-182880" marL="182880">
              <a:spcAft>
                <a:spcPts val="800"/>
              </a:spcAft>
              <a:buClr>
                <a:srgbClr val="E8A33D"/>
              </a:buClr>
              <a:buFont typeface="Arial"/>
              <a:buChar char="•"/>
            </a:pPr>
            <a:r>
              <a:rPr sz="1400">
                <a:solidFill>
                  <a:srgbClr val="1A2733"/>
                </a:solidFill>
                <a:latin typeface="Calibri"/>
              </a:rPr>
              <a:t>Aucune règle d'alerte ne le lit : lecture humaine seulement</a:t>
            </a:r>
          </a:p>
          <a:p>
            <a:pPr indent="-182880" marL="182880">
              <a:spcAft>
                <a:spcPts val="800"/>
              </a:spcAft>
              <a:buClr>
                <a:srgbClr val="E8A33D"/>
              </a:buClr>
              <a:buFont typeface="Arial"/>
              <a:buChar char="•"/>
            </a:pPr>
            <a:r>
              <a:rPr sz="1400">
                <a:solidFill>
                  <a:srgbClr val="1A2733"/>
                </a:solidFill>
                <a:latin typeface="Calibri"/>
              </a:rPr>
              <a:t>Aveugle au concept drift, comme le PSI — les deux ne regardent que 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77"/>
                </a:solidFill>
                <a:latin typeface="Calibri"/>
              </a:rPr>
              <a:t>Modules 31-34 — Dérive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7"/>
                </a:solidFill>
                <a:latin typeface="Calibri"/>
              </a:rPr>
              <a:t>InduSense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MODULES 31–34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3B57"/>
                </a:solidFill>
                <a:latin typeface="Cambria"/>
              </a:rPr>
              <a:t>4 scénarios rejoués contre le vrai modèle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1554480"/>
                <a:gridCol w="1554480"/>
                <a:gridCol w="26517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Fenêtre</a:t>
                      </a:r>
                    </a:p>
                  </a:txBody>
                  <a:tcPr marL="73152" marR="73152" marT="45720" marB="45720" anchor="ctr">
                    <a:solidFill>
                      <a:srgbClr val="0F3B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PSI max</a:t>
                      </a:r>
                    </a:p>
                  </a:txBody>
                  <a:tcPr marL="73152" marR="73152" marT="45720" marB="45720" anchor="ctr">
                    <a:solidFill>
                      <a:srgbClr val="0F3B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Rappel</a:t>
                      </a:r>
                    </a:p>
                  </a:txBody>
                  <a:tcPr marL="73152" marR="73152" marT="45720" marB="45720" anchor="ctr">
                    <a:solidFill>
                      <a:srgbClr val="0F3B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73152" marR="73152" marT="45720" marB="45720" anchor="ctr">
                    <a:solidFill>
                      <a:srgbClr val="0F3B5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F1 — témoin (réel)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0,04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0,95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E8A5F"/>
                          </a:solidFill>
                          <a:latin typeface="Calibri"/>
                        </a:rPr>
                        <a:t>RAS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F2 — capteur menteur (+8°C synth.)</a:t>
                      </a:r>
                    </a:p>
                  </a:txBody>
                  <a:tcPr marL="73152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7,38</a:t>
                      </a:r>
                    </a:p>
                  </a:txBody>
                  <a:tcPr marL="73152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0,89</a:t>
                      </a:r>
                    </a:p>
                  </a:txBody>
                  <a:tcPr marL="73152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E8A33D"/>
                          </a:solidFill>
                          <a:latin typeface="Calibri"/>
                        </a:rPr>
                        <a:t>Dérive capteur, modèle sain</a:t>
                      </a:r>
                    </a:p>
                  </a:txBody>
                  <a:tcPr marL="73152" marR="73152" marT="45720" marB="45720" anchor="ctr"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F3 — concept drift (labels synth.)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0,17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0,04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C0392B"/>
                          </a:solidFill>
                          <a:latin typeface="Calibri"/>
                        </a:rPr>
                        <a:t>PSI muet — modèle KO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F4 — campagne (réel, réf. normale)</a:t>
                      </a:r>
                    </a:p>
                  </a:txBody>
                  <a:tcPr marL="73152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2,61</a:t>
                      </a:r>
                    </a:p>
                  </a:txBody>
                  <a:tcPr marL="73152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marL="73152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E8A33D"/>
                          </a:solidFill>
                          <a:latin typeface="Calibri"/>
                        </a:rPr>
                        <a:t>Fausse alerte de régime</a:t>
                      </a:r>
                    </a:p>
                  </a:txBody>
                  <a:tcPr marL="73152" marR="73152" marT="45720" marB="45720" anchor="ctr"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F4 — campagne (réel, réf. haute charge)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0,03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E8A5F"/>
                          </a:solidFill>
                          <a:latin typeface="Calibri"/>
                        </a:rPr>
                        <a:t>Contre-épreuve OK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257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B77"/>
                </a:solidFill>
                <a:latin typeface="Calibri"/>
              </a:rPr>
              <a:t>F3 reproduit exactement l'angle mort du PSI décrit par le guide, sans avoir eu besoin de forcer les chiffres : features inchangées (labels mélangés, synthétique et documenté) → PSI sous le seuil, rappel effondré.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L'ANGLE MORT DU PSI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Fenêtre 3 — concept drift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103120"/>
            <a:ext cx="4206240" cy="2743200"/>
          </a:xfrm>
          <a:prstGeom prst="roundRect">
            <a:avLst>
              <a:gd name="adj" fmla="val 8000"/>
            </a:avLst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267712"/>
            <a:ext cx="3931920" cy="2057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E8A5F"/>
                </a:solidFill>
                <a:latin typeface="Cambria"/>
              </a:rPr>
              <a:t>0,165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434340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PSI max (sous le seuil 0,25)</a:t>
            </a:r>
          </a:p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RAS en apparence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103120"/>
            <a:ext cx="4206240" cy="2743200"/>
          </a:xfrm>
          <a:prstGeom prst="roundRect">
            <a:avLst>
              <a:gd name="adj" fmla="val 8000"/>
            </a:avLst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2267712"/>
            <a:ext cx="3931920" cy="2057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C0392B"/>
                </a:solidFill>
                <a:latin typeface="Cambria"/>
              </a:rPr>
              <a:t>0,043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434340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Rappel du modèle (attendu : 0,91)</a:t>
            </a:r>
          </a:p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Effondré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074920"/>
            <a:ext cx="9784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A33D"/>
                </a:solidFill>
                <a:latin typeface="Cambria"/>
              </a:rPr>
              <a:t>PSI et KS regardent seulement 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440680"/>
            <a:ext cx="9784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FE3E8"/>
                </a:solidFill>
                <a:latin typeface="Calibri"/>
              </a:rPr>
              <a:t>Ici c'est la relation X→y qui a changé (labels mélangés, synthétique) — invisible à une mesure de distribution. D'où le KPI de second rideau : rappel &lt; 0,70 (~23% sous la référence 0,9106) autorise seul un réentraînement.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MODULES 31–34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3B57"/>
                </a:solidFill>
                <a:latin typeface="Cambria"/>
              </a:rPr>
              <a:t>Deux rôles, deux documents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0160" y="1828800"/>
          <a:ext cx="960119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749039"/>
                <a:gridCol w="3749039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5720" marB="45720" anchor="ctr">
                    <a:solidFill>
                      <a:srgbClr val="0F3B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reports/drift/drift_spec.md</a:t>
                      </a:r>
                    </a:p>
                  </a:txBody>
                  <a:tcPr marL="73152" marR="73152" marT="45720" marB="45720" anchor="ctr">
                    <a:solidFill>
                      <a:srgbClr val="0F3B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docs/runbook.md</a:t>
                      </a:r>
                    </a:p>
                  </a:txBody>
                  <a:tcPr marL="73152" marR="73152" marT="45720" marB="45720" anchor="ctr">
                    <a:solidFill>
                      <a:srgbClr val="0F3B5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F3B57"/>
                          </a:solidFill>
                          <a:latin typeface="Calibri"/>
                        </a:rPr>
                        <a:t>Qui</a:t>
                      </a:r>
                    </a:p>
                  </a:txBody>
                  <a:tcPr marL="73152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Data scientist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Opérateur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F3B57"/>
                          </a:solidFill>
                          <a:latin typeface="Calibri"/>
                        </a:rPr>
                        <a:t>Quand</a:t>
                      </a:r>
                    </a:p>
                  </a:txBody>
                  <a:tcPr marL="73152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Avant l'incident, à froid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Pendant l'incident, sous pression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F3B57"/>
                          </a:solidFill>
                          <a:latin typeface="Calibri"/>
                        </a:rPr>
                        <a:t>Contenu</a:t>
                      </a:r>
                    </a:p>
                  </a:txBody>
                  <a:tcPr marL="73152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Règles, seuils, références, preuves chiffrées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Diagnostic borné, action réversible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F3B57"/>
                          </a:solidFill>
                          <a:latin typeface="Calibri"/>
                        </a:rPr>
                        <a:t>Touche au modèle ?</a:t>
                      </a:r>
                    </a:p>
                  </a:txBody>
                  <a:tcPr marL="73152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Oui — entraîne, gèle le seuil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2733"/>
                          </a:solidFill>
                          <a:latin typeface="Calibri"/>
                        </a:rPr>
                        <a:t>Non — jamais, même en urgence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77"/>
                </a:solidFill>
                <a:latin typeface="Calibri"/>
              </a:rPr>
              <a:t>Modules 31-34 — Spec vs runbook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7"/>
                </a:solidFill>
                <a:latin typeface="Calibri"/>
              </a:rPr>
              <a:t>InduSense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OBSERVABILITÉ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3B57"/>
                </a:solidFill>
                <a:latin typeface="Cambria"/>
              </a:rPr>
              <a:t>Prometheus &amp; Grafana, en conditions réelles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514600" cy="173736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47672"/>
            <a:ext cx="22402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2877F"/>
                </a:solidFill>
                <a:latin typeface="Cambria"/>
              </a:rPr>
              <a:t>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1752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cibles Prometheus UP</a:t>
            </a:r>
          </a:p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(api + drift, port 9110)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783080"/>
            <a:ext cx="2514600" cy="173736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947672"/>
            <a:ext cx="22402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C0392B"/>
                </a:solidFill>
                <a:latin typeface="Cambria"/>
              </a:rPr>
              <a:t>firing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01752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IndusenseDriftPSIEleve</a:t>
            </a:r>
          </a:p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réellement déclenchée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783080"/>
            <a:ext cx="2514600" cy="173736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947672"/>
            <a:ext cx="22402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F3B57"/>
                </a:solidFill>
                <a:latin typeface="Cambria"/>
              </a:rPr>
              <a:t>6 + 4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301752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panneaux — dashboards</a:t>
            </a:r>
          </a:p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dérive &amp; SLO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783080"/>
            <a:ext cx="2514600" cy="173736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947672"/>
            <a:ext cx="22402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E8A33D"/>
                </a:solidFill>
                <a:latin typeface="Cambria"/>
              </a:rPr>
              <a:t>auto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01752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dashboards provisionnés</a:t>
            </a:r>
          </a:p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Grafana au démarrage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9476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3B57"/>
                </a:solidFill>
                <a:latin typeface="Cambria"/>
              </a:rPr>
              <a:t>Piège réel rencontré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108813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spcAft>
                <a:spcPts val="800"/>
              </a:spcAft>
              <a:buClr>
                <a:srgbClr val="E8A33D"/>
              </a:buClr>
              <a:buFont typeface="Arial"/>
              <a:buChar char="•"/>
            </a:pPr>
            <a:r>
              <a:rPr sz="1350">
                <a:solidFill>
                  <a:srgbClr val="1A2733"/>
                </a:solidFill>
                <a:latin typeface="Calibri"/>
              </a:rPr>
              <a:t>netstat a révélé un process écoutant sur le port 9109 depuis le 2026-09-03, en permanence : l'exporteur du formateur lui-même, laissé actif sur la machine partagée</a:t>
            </a:r>
          </a:p>
          <a:p>
            <a:pPr indent="-182880" marL="182880">
              <a:spcAft>
                <a:spcPts val="800"/>
              </a:spcAft>
              <a:buClr>
                <a:srgbClr val="E8A33D"/>
              </a:buClr>
              <a:buFont typeface="Arial"/>
              <a:buChar char="•"/>
            </a:pPr>
            <a:r>
              <a:rPr sz="1350">
                <a:solidFill>
                  <a:srgbClr val="1A2733"/>
                </a:solidFill>
                <a:latin typeface="Calibri"/>
              </a:rPr>
              <a:t>Curl sur 9109 renvoyait ses métriques à lui (feature="temperature", fenêtre="janvier"), pas les nôtres — piège découvert en testant, pas supposé</a:t>
            </a:r>
          </a:p>
          <a:p>
            <a:pPr indent="-182880" marL="182880">
              <a:spcAft>
                <a:spcPts val="800"/>
              </a:spcAft>
              <a:buClr>
                <a:srgbClr val="E8A33D"/>
              </a:buClr>
              <a:buFont typeface="Arial"/>
              <a:buChar char="•"/>
            </a:pPr>
            <a:r>
              <a:rPr sz="1350">
                <a:solidFill>
                  <a:srgbClr val="1A2733"/>
                </a:solidFill>
                <a:latin typeface="Calibri"/>
              </a:rPr>
              <a:t>Notre exporteur tourne sur le port 9110 à la 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77"/>
                </a:solidFill>
                <a:latin typeface="Calibri"/>
              </a:rPr>
              <a:t>Observabilité — Prometheus &amp; Grafana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7"/>
                </a:solidFill>
                <a:latin typeface="Calibri"/>
              </a:rPr>
              <a:t>InduSense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BONUS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3B57"/>
                </a:solidFill>
                <a:latin typeface="Cambria"/>
              </a:rPr>
              <a:t>Harnais Locust — 2 résultats qui divergent du guide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394960" cy="411480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3B57"/>
                </a:solidFill>
                <a:latin typeface="Cambria"/>
              </a:rPr>
              <a:t>Quantiles p50/p95/p99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2877F"/>
                </a:solidFill>
                <a:latin typeface="Cambria"/>
              </a:rPr>
              <a:t>6,58 ms  /  9,73 ms  /  54,28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48463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77"/>
                </a:solidFill>
                <a:latin typeface="Calibri"/>
              </a:rPr>
              <a:t>Trois valeurs distinctes chez nous. Le guide observe l'inverse (p50=p95=p99, tout sous le premier bucket) : nos buckets par défaut sont bien plus fins sous 100 ms. Différence réelle entre deux implémentations, pas une reproduction du piège du guide.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394960" cy="411480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3B57"/>
                </a:solidFill>
                <a:latin typeface="Cambria"/>
              </a:rPr>
              <a:t>Le 413 (payload trop gros)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774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8A5F"/>
                </a:solidFill>
                <a:latin typeface="Cambria"/>
              </a:rPr>
              <a:t>422 et 413 : les deux comptés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971800"/>
            <a:ext cx="48463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77"/>
                </a:solidFill>
                <a:latin typeface="Calibri"/>
              </a:rPr>
              <a:t>Le guide documente un angle mort réel chez eux (le 413 ne traverse jamais leur instrumentation). Chez nous, testé et confirmé absent : l'ordre des middlewares fait que le compteur voit le retour même en cas de rejet.</a:t>
            </a:r>
          </a:p>
          <a:p>
            <a:pPr algn="l"/>
            <a:r>
              <a:rPr sz="1250" b="0" i="0">
                <a:solidFill>
                  <a:srgbClr val="5B6B77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5B6B77"/>
                </a:solidFill>
                <a:latin typeface="Calibri"/>
              </a:rPr>
              <a:t>Trouvaille bonus : 24% d'échecs (429) sous charge réelle — le rate limit du module 26 réagit comme prévu.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MODULES 35–39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La boucle HITL — de zéro, comme 31-34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FE3E8"/>
                </a:solidFill>
                <a:latin typeface="Calibri"/>
              </a:rPr>
              <a:t>Adaptée de feuille_de_route_mlops_indusense.md à notre système réel — et referme au passage des écarts du gap analysis DAT (model_version = release_id léger, arbitrage = model_promotions simplifié, mode fantôme = bascule contrôlée).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2048256" cy="3017520"/>
          </a:xfrm>
          <a:prstGeom prst="roundRect">
            <a:avLst>
              <a:gd name="adj" fmla="val 8000"/>
            </a:avLst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2834640"/>
            <a:ext cx="548640" cy="548640"/>
          </a:xfrm>
          <a:prstGeom prst="ellipse">
            <a:avLst/>
          </a:prstGeom>
          <a:solidFill>
            <a:srgbClr val="12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566160"/>
            <a:ext cx="17282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Journal versionné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160520"/>
            <a:ext cx="172821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9CCD4"/>
                </a:solidFill>
                <a:latin typeface="Calibri"/>
              </a:rPr>
              <a:t>model_version + photo des features à chaque prédiction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34056" y="2651760"/>
            <a:ext cx="2048256" cy="3017520"/>
          </a:xfrm>
          <a:prstGeom prst="roundRect">
            <a:avLst>
              <a:gd name="adj" fmla="val 8000"/>
            </a:avLst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71216" y="2834640"/>
            <a:ext cx="548640" cy="548640"/>
          </a:xfrm>
          <a:prstGeom prst="ellipse">
            <a:avLst/>
          </a:prstGeom>
          <a:solidFill>
            <a:srgbClr val="12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1216" y="28346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3566160"/>
            <a:ext cx="17282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Simulateur + Streamlit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4160520"/>
            <a:ext cx="172821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9CCD4"/>
                </a:solidFill>
                <a:latin typeface="Calibri"/>
              </a:rPr>
              <a:t>biais de sélection mesuré, pas affirmé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19472" y="2651760"/>
            <a:ext cx="2048256" cy="3017520"/>
          </a:xfrm>
          <a:prstGeom prst="roundRect">
            <a:avLst>
              <a:gd name="adj" fmla="val 8000"/>
            </a:avLst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56632" y="2834640"/>
            <a:ext cx="548640" cy="548640"/>
          </a:xfrm>
          <a:prstGeom prst="ellipse">
            <a:avLst/>
          </a:prstGeom>
          <a:solidFill>
            <a:srgbClr val="12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2" y="28346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3566160"/>
            <a:ext cx="17282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Arbitrage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4160520"/>
            <a:ext cx="172821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9CCD4"/>
                </a:solidFill>
                <a:latin typeface="Calibri"/>
              </a:rPr>
              <a:t>champion vs challenger, matrice gain/régression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04888" y="2651760"/>
            <a:ext cx="2048256" cy="3017520"/>
          </a:xfrm>
          <a:prstGeom prst="roundRect">
            <a:avLst>
              <a:gd name="adj" fmla="val 8000"/>
            </a:avLst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42048" y="2834640"/>
            <a:ext cx="548640" cy="548640"/>
          </a:xfrm>
          <a:prstGeom prst="ellipse">
            <a:avLst/>
          </a:prstGeom>
          <a:solidFill>
            <a:srgbClr val="12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42048" y="28346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566160"/>
            <a:ext cx="17282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4 feux verts Prefect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160520"/>
            <a:ext cx="172821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9CCD4"/>
                </a:solidFill>
                <a:latin typeface="Calibri"/>
              </a:rPr>
              <a:t>quotas, qualité, dérive — avant de dépenser un entraînement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90304" y="2651760"/>
            <a:ext cx="2048256" cy="3017520"/>
          </a:xfrm>
          <a:prstGeom prst="roundRect">
            <a:avLst>
              <a:gd name="adj" fmla="val 8000"/>
            </a:avLst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27464" y="2834640"/>
            <a:ext cx="548640" cy="548640"/>
          </a:xfrm>
          <a:prstGeom prst="ellipse">
            <a:avLst/>
          </a:prstGeom>
          <a:solidFill>
            <a:srgbClr val="12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27464" y="28346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4896" y="3566160"/>
            <a:ext cx="17282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Mode fantôme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6" y="4160520"/>
            <a:ext cx="172821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9CCD4"/>
                </a:solidFill>
                <a:latin typeface="Calibri"/>
              </a:rPr>
              <a:t>zéro tolérance, bascule réelle et réversible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9FB2BE"/>
                </a:solidFill>
                <a:latin typeface="Calibri"/>
              </a:rPr>
              <a:t>Une différence de contexte assumée : notre label de panne est déjà connu (incidents réels) — le simulateur rejoue l'historique comme si un technicien venait de le confirmer, pour prouver le mécanisme sans attendre des semaines.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MODULE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3B57"/>
                </a:solidFill>
                <a:latin typeface="Cambria"/>
              </a:rPr>
              <a:t>Journal de prédiction versionné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AVANT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84632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spcAft>
                <a:spcPts val="800"/>
              </a:spcAft>
              <a:buClr>
                <a:srgbClr val="C0392B"/>
              </a:buClr>
              <a:buFont typeface="Arial"/>
              <a:buChar char="•"/>
            </a:pPr>
            <a:r>
              <a:rPr sz="1400">
                <a:solidFill>
                  <a:srgbClr val="1A2733"/>
                </a:solidFill>
                <a:latin typeface="Calibri"/>
              </a:rPr>
              <a:t>predictions ne garde que la probabilité — aucune version de modèle tracée</a:t>
            </a:r>
          </a:p>
          <a:p>
            <a:pPr indent="-182880" marL="182880">
              <a:spcAft>
                <a:spcPts val="800"/>
              </a:spcAft>
              <a:buClr>
                <a:srgbClr val="C0392B"/>
              </a:buClr>
              <a:buFont typeface="Arial"/>
              <a:buChar char="•"/>
            </a:pPr>
            <a:r>
              <a:rPr sz="1400">
                <a:solidFill>
                  <a:srgbClr val="1A2733"/>
                </a:solidFill>
                <a:latin typeface="Calibri"/>
              </a:rPr>
              <a:t>aucune photo des features au moment du scoring : impossible de rejouer une fenêtre passée contre un nouveau modèle</a:t>
            </a:r>
          </a:p>
          <a:p>
            <a:pPr indent="-182880" marL="182880">
              <a:spcAft>
                <a:spcPts val="800"/>
              </a:spcAft>
              <a:buClr>
                <a:srgbClr val="C0392B"/>
              </a:buClr>
              <a:buFont typeface="Arial"/>
              <a:buChar char="•"/>
            </a:pPr>
            <a:r>
              <a:rPr sz="1400">
                <a:solidFill>
                  <a:srgbClr val="1A2733"/>
                </a:solidFill>
                <a:latin typeface="Calibri"/>
              </a:rPr>
              <a:t>aucun espace pour un verdict humain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394960" cy="4206240"/>
          </a:xfrm>
          <a:prstGeom prst="roundRect">
            <a:avLst>
              <a:gd name="adj" fmla="val 5000"/>
            </a:avLst>
          </a:prstGeom>
          <a:solidFill>
            <a:srgbClr val="EA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7451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8A5F"/>
                </a:solidFill>
                <a:latin typeface="Calibri"/>
              </a:rPr>
              <a:t>APRÈS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86000"/>
            <a:ext cx="484632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spcAft>
                <a:spcPts val="800"/>
              </a:spcAft>
              <a:buClr>
                <a:srgbClr val="1E8A5F"/>
              </a:buClr>
              <a:buFont typeface="Arial"/>
              <a:buChar char="•"/>
            </a:pPr>
            <a:r>
              <a:rPr sz="1400">
                <a:solidFill>
                  <a:srgbClr val="1A2733"/>
                </a:solidFill>
                <a:latin typeface="Calibri"/>
              </a:rPr>
              <a:t>model_version (SHA-256 tronqué de model.joblib) sur chaque ligne</a:t>
            </a:r>
          </a:p>
          <a:p>
            <a:pPr indent="-182880" marL="182880">
              <a:spcAft>
                <a:spcPts val="800"/>
              </a:spcAft>
              <a:buClr>
                <a:srgbClr val="1E8A5F"/>
              </a:buClr>
              <a:buFont typeface="Arial"/>
              <a:buChar char="•"/>
            </a:pPr>
            <a:r>
              <a:rPr sz="1400">
                <a:solidFill>
                  <a:srgbClr val="1A2733"/>
                </a:solidFill>
                <a:latin typeface="Calibri"/>
              </a:rPr>
              <a:t>features_payload : photo JSON des ~78 features utilisées</a:t>
            </a:r>
          </a:p>
          <a:p>
            <a:pPr indent="-182880" marL="182880">
              <a:spcAft>
                <a:spcPts val="800"/>
              </a:spcAft>
              <a:buClr>
                <a:srgbClr val="1E8A5F"/>
              </a:buClr>
              <a:buFont typeface="Arial"/>
              <a:buChar char="•"/>
            </a:pPr>
            <a:r>
              <a:rPr sz="1400">
                <a:solidFill>
                  <a:srgbClr val="1A2733"/>
                </a:solidFill>
                <a:latin typeface="Calibri"/>
              </a:rPr>
              <a:t>review_status / ground_truth / reviewer_comment — jamais écrasés par un replay du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B6B77"/>
                </a:solidFill>
                <a:latin typeface="Calibri"/>
              </a:rPr>
              <a:t>Prouvé en conditions réelles : une revue marquée à la main survit intacte à un 2e passage du flow packagé.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77"/>
                </a:solidFill>
                <a:latin typeface="Calibri"/>
              </a:rPr>
              <a:t>Module 35 — Journal versionné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7"/>
                </a:solidFill>
                <a:latin typeface="Calibri"/>
              </a:rPr>
              <a:t>InduSense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MODULE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Le biais de sélection, mesuré pas affirmé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965960"/>
            <a:ext cx="4206240" cy="2286000"/>
          </a:xfrm>
          <a:prstGeom prst="roundRect">
            <a:avLst>
              <a:gd name="adj" fmla="val 8000"/>
            </a:avLst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130552"/>
            <a:ext cx="393192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C0392B"/>
                </a:solidFill>
                <a:latin typeface="Cambria"/>
              </a:rPr>
              <a:t>65 /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74904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vraies pannes visibles dans les retours</a:t>
            </a:r>
          </a:p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sans bouton «incident non prédit» / avec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965960"/>
            <a:ext cx="4206240" cy="2286000"/>
          </a:xfrm>
          <a:prstGeom prst="roundRect">
            <a:avLst>
              <a:gd name="adj" fmla="val 8000"/>
            </a:avLst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2130552"/>
            <a:ext cx="393192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2877F"/>
                </a:solidFill>
                <a:latin typeface="Cambria"/>
              </a:rPr>
              <a:t>917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74904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alertes backfillées = exactement</a:t>
            </a:r>
          </a:p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tp+fp (662+255) du holdout module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784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A33D"/>
                </a:solidFill>
                <a:latin typeface="Cambria"/>
              </a:rPr>
              <a:t>19 944 fenêtres réelles scorées (split test, jamais entraîné dessus)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983480"/>
            <a:ext cx="9784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FE3E8"/>
                </a:solidFill>
                <a:latin typeface="Calibri"/>
              </a:rPr>
              <a:t>Un technicien n'inspecte que les alertes — la feuille de route l'avertit, ici c'est mesuré : sans le bouton, les 65 pannes manquées par le modèle (faux négatifs) restent invisibles à jamais dans les retours. Streamlit réel (2 flux : affiner une fausse alerte, déclarer un incident non prédit) prouvé avec streamlit.testing.v1.AppTest — clics réels, relecture en base après coup.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MODULE 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3B57"/>
                </a:solidFill>
                <a:latin typeface="Cambria"/>
              </a:rPr>
              <a:t>Arbitrage champion vs challenger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6984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846320"/>
                <a:gridCol w="4023360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5720" marB="45720" anchor="ctr">
                    <a:solidFill>
                      <a:srgbClr val="0F3B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Champion (b11-gkf, prod)</a:t>
                      </a:r>
                    </a:p>
                  </a:txBody>
                  <a:tcPr marL="73152" marR="73152" marT="45720" marB="45720" anchor="ctr">
                    <a:solidFill>
                      <a:srgbClr val="0F3B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Challenger (trainval + avril-mai revu)</a:t>
                      </a:r>
                    </a:p>
                  </a:txBody>
                  <a:tcPr marL="73152" marR="73152" marT="45720" marB="45720" anchor="ctr">
                    <a:solidFill>
                      <a:srgbClr val="0F3B5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3B57"/>
                          </a:solidFill>
                          <a:latin typeface="Calibri"/>
                        </a:rPr>
                        <a:t>Entraînement</a:t>
                      </a:r>
                    </a:p>
                  </a:txBody>
                  <a:tcPr marL="73152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733"/>
                          </a:solidFill>
                          <a:latin typeface="Calibri"/>
                        </a:rPr>
                        <a:t>juin 2025 – mars 2026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733"/>
                          </a:solidFill>
                          <a:latin typeface="Calibri"/>
                        </a:rPr>
                        <a:t>+ 17 090 fenêtres revues par la boucle HITL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3B57"/>
                          </a:solidFill>
                          <a:latin typeface="Calibri"/>
                        </a:rPr>
                        <a:t>Arbitrage</a:t>
                      </a:r>
                    </a:p>
                  </a:txBody>
                  <a:tcPr marL="73152" marR="73152" marT="45720" marB="45720" anchor="ctr">
                    <a:solidFill>
                      <a:srgbClr val="F2F5F7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733"/>
                          </a:solidFill>
                          <a:latin typeface="Calibri"/>
                        </a:rPr>
                        <a:t>juin 2026 — 2 854 fenêtres jamais vues par aucun des deux modèles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7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3B57"/>
                          </a:solidFill>
                          <a:latin typeface="Calibri"/>
                        </a:rPr>
                        <a:t>Résultat</a:t>
                      </a:r>
                    </a:p>
                  </a:txBody>
                  <a:tcPr marL="73152" marR="73152" marT="45720" marB="45720" anchor="ctr">
                    <a:solidFill>
                      <a:srgbClr val="F2F5F7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733"/>
                          </a:solidFill>
                          <a:latin typeface="Calibri"/>
                        </a:rPr>
                        <a:t>gains +9 · stables 2 798 · régressions -7 · bilan net +2 -&gt; REJET_DU_MODELE_N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7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709160"/>
            <a:ext cx="10698480" cy="150876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892040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Cambria"/>
              </a:rPr>
              <a:t>Décision : REJET_DU_MODELE_N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03520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B77"/>
                </a:solidFill>
                <a:latin typeface="Calibri"/>
              </a:rPr>
              <a:t>Résultat honnête, pas retouché pour la démo : bilan net positif, mais 7 régressions sur des pannes réelles pour 9 gains — la règle d'or de la feuille de route (jamais un score global seul) fonctionne exactement comme prévu.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77"/>
                </a:solidFill>
                <a:latin typeface="Calibri"/>
              </a:rPr>
              <a:t>Module 37 — Arbitrage champion/challenger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7"/>
                </a:solidFill>
                <a:latin typeface="Calibri"/>
              </a:rPr>
              <a:t>InduSense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MODULE 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3B57"/>
                </a:solidFill>
                <a:latin typeface="Cambria"/>
              </a:rPr>
              <a:t>4 feux verts avant de dépenser un entraînement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0881360" cy="841248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01952"/>
            <a:ext cx="512064" cy="512064"/>
          </a:xfrm>
          <a:prstGeom prst="ellipse">
            <a:avLst/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4708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3B57"/>
                </a:solidFill>
                <a:latin typeface="Cambria"/>
              </a:rPr>
              <a:t>Quota validations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76272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77"/>
                </a:solidFill>
                <a:latin typeface="Calibri"/>
              </a:rPr>
              <a:t>982 ≥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10881360" cy="841248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862072"/>
            <a:ext cx="512064" cy="512064"/>
          </a:xfrm>
          <a:prstGeom prst="ellipse">
            <a:avLst/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62072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80720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3B57"/>
                </a:solidFill>
                <a:latin typeface="Cambria"/>
              </a:rPr>
              <a:t>Quota pannes confirmées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36392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77"/>
                </a:solidFill>
                <a:latin typeface="Calibri"/>
              </a:rPr>
              <a:t>727 ≥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10881360" cy="841248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3822192"/>
            <a:ext cx="512064" cy="512064"/>
          </a:xfrm>
          <a:prstGeom prst="ellipse">
            <a:avLst/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22192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76732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3B57"/>
                </a:solidFill>
                <a:latin typeface="Cambria"/>
              </a:rPr>
              <a:t>Qualité des données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96512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77"/>
                </a:solidFill>
                <a:latin typeface="Calibri"/>
              </a:rPr>
              <a:t>aucune valeur hors bornes (Pandera, contrat DAT)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17720"/>
            <a:ext cx="10881360" cy="841248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4782312"/>
            <a:ext cx="512064" cy="512064"/>
          </a:xfrm>
          <a:prstGeom prst="ellipse">
            <a:avLst/>
          </a:prstGeom>
          <a:solidFill>
            <a:srgbClr val="1E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82312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72744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3B57"/>
                </a:solidFill>
                <a:latin typeface="Cambria"/>
              </a:rPr>
              <a:t>Dérive constatée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056632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77"/>
                </a:solidFill>
                <a:latin typeface="Calibri"/>
              </a:rPr>
              <a:t>PSI réel 0,3841 &gt; 0,25 (dérive saisonnière authentique)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064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B6B77"/>
                </a:solidFill>
                <a:latin typeface="Calibri"/>
              </a:rPr>
              <a:t>Prouvé dans les deux sens : cycle réellement suspendu sur une base de prédictions vide (feux 1 et 2 rouges), et réellement déclenché sur les vraies données — même décision qu'au module 37, cette fois derrière les feux verts.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77"/>
                </a:solidFill>
                <a:latin typeface="Calibri"/>
              </a:rPr>
              <a:t>Module 38 — Feux verts Prefect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77"/>
                </a:solidFill>
                <a:latin typeface="Calibri"/>
              </a:rPr>
              <a:t>InduSense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1371600"/>
            <a:ext cx="4572000" cy="4572000"/>
          </a:xfrm>
          <a:prstGeom prst="ellipse">
            <a:avLst/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A33D"/>
                </a:solidFill>
                <a:latin typeface="Calibri"/>
              </a:rPr>
              <a:t>MODULE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Mode fantôme — la dernière porte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011680"/>
            <a:ext cx="4206240" cy="2103120"/>
          </a:xfrm>
          <a:prstGeom prst="roundRect">
            <a:avLst>
              <a:gd name="adj" fmla="val 8000"/>
            </a:avLst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176272"/>
            <a:ext cx="393192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E8A33D"/>
                </a:solidFill>
                <a:latin typeface="Cambria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61188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régression tolérée</a:t>
            </a:r>
          </a:p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(plus strict que l'arbitrage)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011680"/>
            <a:ext cx="4206240" cy="2103120"/>
          </a:xfrm>
          <a:prstGeom prst="roundRect">
            <a:avLst>
              <a:gd name="adj" fmla="val 8000"/>
            </a:avLst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2176272"/>
            <a:ext cx="393192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C0392B"/>
                </a:solidFill>
                <a:latin typeface="Cambria"/>
              </a:rPr>
              <a:t>PAS_ÉLIGIBLE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61188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dernier arbitrage = REJET</a:t>
            </a:r>
          </a:p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model.joblib jamais touché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26280"/>
            <a:ext cx="9784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CFE3E8"/>
                </a:solidFill>
                <a:latin typeface="Calibri"/>
              </a:rPr>
              <a:t>Le chemin mécanique de promotion (sauvegarde, bascule de fichier réversible) est prouvé séparément, avec un arbitrage fabriqué pour l'occasion — jamais en truquant le vrai pipeline. Sur nos vraies données, le modèle de production n'a jamais bougé, parce que rien ne le justifiait encore : la boucle a fonctionné comme un garde-fou, pas comme une chaîne de validation automatique.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5943600"/>
            <a:ext cx="4572000" cy="4572000"/>
          </a:xfrm>
          <a:prstGeom prst="ellipse">
            <a:avLst/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8A33D"/>
                </a:solidFill>
                <a:latin typeface="Calibri"/>
              </a:rPr>
              <a:t>BILAN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Tout prouvé, rien deviné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50592"/>
            <a:ext cx="233172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2877F"/>
                </a:solidFill>
                <a:latin typeface="Cambria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0332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commits mergés</a:t>
            </a:r>
          </a:p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sur ci/quality-and-build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28600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450592"/>
            <a:ext cx="233172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2877F"/>
                </a:solidFill>
                <a:latin typeface="Cambria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370332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bugs réels trouvés</a:t>
            </a:r>
          </a:p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et corrigés en marchant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8600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450592"/>
            <a:ext cx="233172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2877F"/>
                </a:solidFill>
                <a:latin typeface="Cambria"/>
              </a:rPr>
              <a:t>119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70332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tests passés</a:t>
            </a:r>
          </a:p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(pytest -q, CI verte)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228600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0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450592"/>
            <a:ext cx="233172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2877F"/>
                </a:solidFill>
                <a:latin typeface="Cambria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70332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runs CI verts</a:t>
            </a:r>
          </a:p>
          <a:p>
            <a:pPr algn="ctr"/>
            <a:r>
              <a:rPr sz="1100" b="0" i="0">
                <a:solidFill>
                  <a:srgbClr val="5B6B77"/>
                </a:solidFill>
                <a:latin typeface="Calibri"/>
              </a:rPr>
              <a:t>quality +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6344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FE3E8"/>
                </a:solidFill>
                <a:latin typeface="Calibri"/>
              </a:rPr>
              <a:t>Modules 30 à 39 : flow packagé et rendu portable, sous-système de dérive construit de zéro, observabilité Prometheus/Grafana branchée et déclenchée pour de vrai, harnais de charge Locust, et une boucle HITL complète qui a correctement refusé de toucher au modèle de production — chaque étape exécutée, cassée, corrigée, revérifiée.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217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C93A0"/>
                </a:solidFill>
                <a:latin typeface="Calibri"/>
              </a:rPr>
              <a:t>drift_proof.md · pipeline_proof.md · perf_proof.md · hitl_proof.md · gap_analysis_dat_v1.md — la trace complète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