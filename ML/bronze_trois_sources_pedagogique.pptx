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FC7E0"/>
                </a:solidFill>
                <a:latin typeface="Calibri"/>
              </a:rPr>
              <a:t>PROJET INDUSENSE — PIPELINE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Les trois sources du pipeline Bronze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37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FDEE8"/>
                </a:solidFill>
                <a:latin typeface="Calibri"/>
              </a:rPr>
              <a:t>Trois origines de données bien distinctes, trois formats différents,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FDEE8"/>
                </a:solidFill>
                <a:latin typeface="Calibri"/>
              </a:rPr>
              <a:t>convergent vers un seul Gold Dataset — et leur impact sur le projet.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434840"/>
            <a:ext cx="1417320" cy="310896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417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telemetry.csv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4434840"/>
            <a:ext cx="1417320" cy="310896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4434840"/>
            <a:ext cx="1417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incidents.csv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4434840"/>
            <a:ext cx="1417320" cy="310896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4434840"/>
            <a:ext cx="1417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machine.sql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FA8C0"/>
                </a:solidFill>
                <a:latin typeface="Consolas"/>
              </a:rPr>
              <a:t>TP3 / TP4 — indusense_db (PostgreSQL)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Trois origines, trois formats, un seul Gold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291840" cy="868680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telemetry.csv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134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DDE8F0"/>
                </a:solidFill>
                <a:latin typeface="Calibri"/>
              </a:rPr>
              <a:t>Fichier plat</a:t>
            </a:r>
          </a:p>
          <a:p>
            <a:pPr algn="ctr"/>
            <a:r>
              <a:rPr sz="1100" b="0" i="0">
                <a:solidFill>
                  <a:srgbClr val="DDE8F0"/>
                </a:solidFill>
                <a:latin typeface="Calibri"/>
              </a:rPr>
              <a:t>(capteurs)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874519"/>
            <a:ext cx="3291840" cy="868680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19659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releves_incidents.csv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3134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DDE8F0"/>
                </a:solidFill>
                <a:latin typeface="Calibri"/>
              </a:rPr>
              <a:t>Fichier plat</a:t>
            </a:r>
          </a:p>
          <a:p>
            <a:pPr algn="ctr"/>
            <a:r>
              <a:rPr sz="1100" b="0" i="0">
                <a:solidFill>
                  <a:srgbClr val="DDE8F0"/>
                </a:solidFill>
                <a:latin typeface="Calibri"/>
              </a:rPr>
              <a:t>(déclarations)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874519"/>
            <a:ext cx="3291840" cy="868680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9659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machine.sql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3134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DDE8F0"/>
                </a:solidFill>
                <a:latin typeface="Calibri"/>
              </a:rPr>
              <a:t>Script SQL</a:t>
            </a:r>
          </a:p>
          <a:p>
            <a:pPr algn="ctr"/>
            <a:r>
              <a:rPr sz="1100" b="0" i="0">
                <a:solidFill>
                  <a:srgbClr val="DDE8F0"/>
                </a:solidFill>
                <a:latin typeface="Calibri"/>
              </a:rPr>
              <a:t>(référentiel statique)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057400" y="2852928"/>
            <a:ext cx="274320" cy="256032"/>
          </a:xfrm>
          <a:prstGeom prst="down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5669279" y="2852928"/>
            <a:ext cx="274320" cy="256032"/>
          </a:xfrm>
          <a:prstGeom prst="down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9281160" y="2852928"/>
            <a:ext cx="274320" cy="256032"/>
          </a:xfrm>
          <a:prstGeom prst="down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236976"/>
            <a:ext cx="3291840" cy="54864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36976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65A82"/>
                </a:solidFill>
                <a:latin typeface="Consolas"/>
              </a:rPr>
              <a:t>bronze_telemetry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236976"/>
            <a:ext cx="3291840" cy="54864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3236976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C7293"/>
                </a:solidFill>
                <a:latin typeface="Consolas"/>
              </a:rPr>
              <a:t>bronze_incidents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236976"/>
            <a:ext cx="3291840" cy="54864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236976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1295C"/>
                </a:solidFill>
                <a:latin typeface="Consolas"/>
              </a:rPr>
              <a:t>bronze_maintenance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2057400" y="3922776"/>
            <a:ext cx="274320" cy="256032"/>
          </a:xfrm>
          <a:prstGeom prst="down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5669279" y="3922776"/>
            <a:ext cx="274320" cy="256032"/>
          </a:xfrm>
          <a:prstGeom prst="down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9281160" y="3922776"/>
            <a:ext cx="274320" cy="256032"/>
          </a:xfrm>
          <a:prstGeom prst="down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51760" y="4306824"/>
            <a:ext cx="6858000" cy="502920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4306824"/>
            <a:ext cx="6858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Silver (nettoyage, typage, dédoublonnage)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961888" y="4882896"/>
            <a:ext cx="274320" cy="237744"/>
          </a:xfrm>
          <a:prstGeom prst="down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651760" y="5193792"/>
            <a:ext cx="6858000" cy="548640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5193792"/>
            <a:ext cx="6858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gold_machine_hourly_feature (~91 colonnes)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SOURCE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telemetry.csv — signaux capteurs horodatés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532120" cy="288036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984248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965960"/>
            <a:ext cx="46268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Contenu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59736"/>
            <a:ext cx="5129783" cy="22037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1 ligne = 1 relevé capteur à un instant t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machine_id, timestamp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temperature_c, pressure_bar, voltage_mean_v,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rotation_mean_rpm, pieces_produced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349240" cy="288036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984248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3448" y="1965960"/>
            <a:ext cx="444398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Qualité observée (TP3)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459736"/>
            <a:ext cx="4946903" cy="22037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135 626 lignes lues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132 940 valides (parse_ok = true)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2 686 doublons horaires rejetés (2,0 %)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→ table bronze_telemetry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46320"/>
            <a:ext cx="11109960" cy="137160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5047488"/>
            <a:ext cx="365760" cy="36576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5029200"/>
            <a:ext cx="10204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Impact dans le projet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522975"/>
            <a:ext cx="1070762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Base du signal temporel : agrégats horaires, rolling 6h/12h/24h, tendances (delta, trend), z-scores (glissant + baseline machine) — le cœur des features Gold utilisées par le modèle de maintenance prédictive (TP7)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SOURCE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releves_incidents.csv — déclarations opérateurs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532120" cy="288036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984248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965960"/>
            <a:ext cx="46268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mbria"/>
              </a:rPr>
              <a:t>Contenu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59736"/>
            <a:ext cx="5129783" cy="22037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1 ligne = 1 incident déclaré par un opérateur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incident_id, date, time, machine_id, severity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operator_name / operator_badge, shift, comment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9 flags de type (surchauffe, vibration, arrêt urgence...)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349240" cy="288036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984248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3448" y="1965960"/>
            <a:ext cx="444398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mbria"/>
              </a:rPr>
              <a:t>Qualité observée (TP3)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459736"/>
            <a:ext cx="4946903" cy="22037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1 245 lignes lues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1 245 valides, 0 rejet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operator_name/badge anonymisés séparément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(operator_mapping_RESTRICTED.csv)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→ table bronze_incidents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46320"/>
            <a:ext cx="11109960" cy="137160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5047488"/>
            <a:ext cx="365760" cy="36576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5029200"/>
            <a:ext cx="10204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Impact dans le projet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522975"/>
            <a:ext cx="1070762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Alimente le lookback incidents (24h / 7j, heures depuis le dernier incident, comptage par type) et surtout la cible du modèle : c'est à partir des incidents que sont construits les labels de panne multi-horizons (TP6)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SOURCE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machine.sql — référentiel statique (2 tables)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532120" cy="306324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984248"/>
            <a:ext cx="365760" cy="36576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965960"/>
            <a:ext cx="46268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Table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59736"/>
            <a:ext cx="5129783" cy="2386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machine_code, model, production_line, location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commissioning_date, criticality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max_daily_capacity, max_hourly_capacity_pieces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Données statiques par machine, pas d'historique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349240" cy="306324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984248"/>
            <a:ext cx="365760" cy="36576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3448" y="1965960"/>
            <a:ext cx="444398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Table maintenance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459736"/>
            <a:ext cx="4946903" cy="2386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~1 562 interventions historisées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maintenance_id, machine_code, maintenance_at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maintenance_type (proactive/reactive), action_type,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component, duration_hours, related_incident_id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→ ingérée en bronze_maintenance seulement en TP4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83480"/>
            <a:ext cx="11109960" cy="141732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5184648"/>
            <a:ext cx="365760" cy="36576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5166360"/>
            <a:ext cx="10204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Impact dans le projet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660136"/>
            <a:ext cx="10707624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capacity_utilization_pct (jointure simple, sans fuite temporelle) ; days_since_last_maintenance et maintenance_count_prev_30d (lookback intra-machine) — restée hors du pipeline Gold pendant les 3 premiers TP, ajoutée ensuite en TP4/TP5/TP6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COMPARATIF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Les trois sources, côte à côte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233172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2331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1783080"/>
            <a:ext cx="283464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78308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telemetry.csv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0" y="1783080"/>
            <a:ext cx="28346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178308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releves_incidents.csv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49640" y="1783080"/>
            <a:ext cx="283464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78308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machine.sql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40280"/>
            <a:ext cx="2331720" cy="576072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240280"/>
            <a:ext cx="2185415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Format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2240280"/>
            <a:ext cx="283464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2240280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CSV horodaté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2240280"/>
            <a:ext cx="283464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88152" y="2240280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CSV événementiel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2240280"/>
            <a:ext cx="283464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22792" y="2240280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Script SQL statique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816352"/>
            <a:ext cx="2331720" cy="576072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2816352"/>
            <a:ext cx="2185415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Granularité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2816352"/>
            <a:ext cx="2834640" cy="576072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53512" y="2816352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1 relevé capteur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0" y="2816352"/>
            <a:ext cx="2834640" cy="576072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88152" y="2816352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1 incident déclaré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49640" y="2816352"/>
            <a:ext cx="2834640" cy="576072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22792" y="2816352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1 machine / 1 intervention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392424"/>
            <a:ext cx="2331720" cy="576072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3392424"/>
            <a:ext cx="2185415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Volume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3392424"/>
            <a:ext cx="283464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53512" y="3392424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135 626 lignes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0" y="3392424"/>
            <a:ext cx="283464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88152" y="3392424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1 245 lignes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49640" y="3392424"/>
            <a:ext cx="283464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22792" y="3392424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1 562 interventions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968496"/>
            <a:ext cx="2331720" cy="576072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3968496"/>
            <a:ext cx="2185415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Qualité (TP3/4)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360" y="3968496"/>
            <a:ext cx="2834640" cy="576072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53512" y="3968496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98,0 % valides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15000" y="3968496"/>
            <a:ext cx="2834640" cy="576072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88152" y="3968496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100 % valides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49640" y="3968496"/>
            <a:ext cx="2834640" cy="576072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22792" y="3968496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100 % valides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544568"/>
            <a:ext cx="2331720" cy="576072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4544568"/>
            <a:ext cx="2185415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Table bronze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80360" y="4544568"/>
            <a:ext cx="283464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53512" y="4544568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bronze_telemetry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15000" y="4544568"/>
            <a:ext cx="283464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88152" y="4544568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bronze_incidents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49640" y="4544568"/>
            <a:ext cx="283464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22792" y="4544568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bronze_maintenance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5120640"/>
            <a:ext cx="2331720" cy="576072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" y="5120640"/>
            <a:ext cx="2185415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Ingéré depuis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80360" y="5120640"/>
            <a:ext cx="2834640" cy="576072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53512" y="5120640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TP2 / TP3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15000" y="5120640"/>
            <a:ext cx="2834640" cy="576072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88152" y="5120640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TP2 / TP3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49640" y="5120640"/>
            <a:ext cx="2834640" cy="576072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22792" y="5120640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TP4 (plus tardif)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5696712"/>
            <a:ext cx="2331720" cy="576072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" y="5696712"/>
            <a:ext cx="2185415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Rôle dans Gold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80360" y="5696712"/>
            <a:ext cx="283464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53512" y="5696712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Features numériques</a:t>
            </a:r>
          </a:p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(rolling, z-score)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15000" y="5696712"/>
            <a:ext cx="283464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88152" y="5696712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Lookback + labels</a:t>
            </a:r>
          </a:p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de panne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49640" y="5696712"/>
            <a:ext cx="283464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22792" y="5696712"/>
            <a:ext cx="268833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Capacité + lookback</a:t>
            </a:r>
          </a:p>
          <a:p>
            <a:pPr algn="ctr"/>
            <a:r>
              <a:rPr sz="1100" b="0" i="0">
                <a:solidFill>
                  <a:srgbClr val="1A1F2B"/>
                </a:solidFill>
                <a:latin typeface="Calibri"/>
              </a:rPr>
              <a:t>maintenance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IMPACT GLOBAL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Trois sources, un seul modèle de maintenance prédictive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66160" cy="196596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984248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965960"/>
            <a:ext cx="266090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telemetry.csv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59736"/>
            <a:ext cx="3163824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Signal continu :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seuils, tendances,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anomalies statistiques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83080"/>
            <a:ext cx="3566160" cy="196596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98848" y="1984248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768" y="1965960"/>
            <a:ext cx="266090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mbria"/>
              </a:rPr>
              <a:t>incidents.csv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459736"/>
            <a:ext cx="3163824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Vérité terrain :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définit la cible du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modèle (panne future)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83080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47888" y="1984248"/>
            <a:ext cx="365760" cy="36576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1965960"/>
            <a:ext cx="270662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machine.sql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459736"/>
            <a:ext cx="3209544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Contexte machine :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capacité, criticité,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historique d'entretien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77639" y="2651760"/>
            <a:ext cx="320040" cy="274320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726679" y="2651760"/>
            <a:ext cx="320040" cy="274320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51760" y="4069080"/>
            <a:ext cx="6858000" cy="685800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4069080"/>
            <a:ext cx="6858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gold_machine_hourly_feature — ~91 colonnes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961888" y="4828032"/>
            <a:ext cx="274320" cy="237744"/>
          </a:xfrm>
          <a:prstGeom prst="down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51760" y="5212080"/>
            <a:ext cx="6858000" cy="123444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852928" y="5413248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5394960"/>
            <a:ext cx="59527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mbria"/>
              </a:rPr>
              <a:t>TP7 — Maintenance prédictive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2928" y="5888736"/>
            <a:ext cx="6455664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Modèle entraîné sur les 3 sources combinées ; seuil de décision ajusté pour un rappel ≥ 90 %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(manquer une panne coûte plus cher qu'une fausse alerte)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EN RÉSUMÉ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Ce qu'il faut retenir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828799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A1F2B"/>
                </a:solidFill>
                <a:latin typeface="Calibri"/>
              </a:rPr>
              <a:t>Le pipeline Bronze d'InduSense a trois origines distinctes, pas une : deux CSV plats et un script SQL statique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926079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88036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A1F2B"/>
                </a:solidFill>
                <a:latin typeface="Calibri"/>
              </a:rPr>
              <a:t>telemetry.csv et releves_incidents.csv sont ingérés dès TP2/TP3 ; machine.sql (table maintenance) arrive plus tard, en TP4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977639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93192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A1F2B"/>
                </a:solidFill>
                <a:latin typeface="Calibri"/>
              </a:rPr>
              <a:t>Chaque source alimente une famille différente de features Gold : signal, vérité terrain, contexte machine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98348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A1F2B"/>
                </a:solidFill>
                <a:latin typeface="Calibri"/>
              </a:rPr>
              <a:t>Le modèle de maintenance prédictive (TP7) ne fonctionne que parce que ces trois sources convergent dans un Gold Dataset unique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