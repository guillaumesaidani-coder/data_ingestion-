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 rouge : le flow Prefect est le chef d'orchestre ; il ne joue aucune note lui-même. Les modules du package sont les musiciens.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chef ne joue d'aucun instrument : si on retire Prefect, chaque musicien sait toujours jouer sa partie seul.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basson est la basse des bois : le choix de l'instrument souligne que cette étape donne la fondation (les données) à tout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786384"/>
            <a:ext cx="438912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040" y="731520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841248"/>
            <a:ext cx="329184" cy="329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21408" y="731520"/>
            <a:ext cx="548640" cy="54864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841248"/>
            <a:ext cx="329184" cy="32918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779776" y="731520"/>
            <a:ext cx="548640" cy="54864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889504" y="841248"/>
            <a:ext cx="329184" cy="329184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3438144" y="731520"/>
            <a:ext cx="548640" cy="54864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841248"/>
            <a:ext cx="329184" cy="329184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096512" y="731520"/>
            <a:ext cx="548640" cy="548640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841248"/>
            <a:ext cx="329184" cy="32918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48640" y="1645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Prefect, chef d'orchestre</a:t>
            </a:r>
            <a:endParaRPr lang="en-US" sz="4200" dirty="0"/>
          </a:p>
        </p:txBody>
      </p:sp>
      <p:sp>
        <p:nvSpPr>
          <p:cNvPr id="15" name="Text 7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étapes du flow indusense-pipeline, pupitre par pupitre</a:t>
            </a:r>
            <a:endParaRPr lang="en-US" sz="2100" dirty="0"/>
          </a:p>
        </p:txBody>
      </p:sp>
      <p:sp>
        <p:nvSpPr>
          <p:cNvPr id="16" name="Text 8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src/indusense/flows/predict_flow.py · 1 flow · 5 tasks · 5 modules appelés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chef ? Un script ne suffit pas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36941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 = export_gold_dataset(...)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train_and_evaluate(...)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 = derniere_heure(gold)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 = score_features(model, last)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upsert_predictions(engine, proba)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enchaîne les appels… et c'est tout.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l'étape 4 plante 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relance tout, entraînement compris.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les données n'ont pas changé 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réexporte quand même 144 Mo.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si on relance deux fois 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doublons en base.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tourné, quand, avec quoi 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133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trace, à part un print.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apporte l'ordre, le cache, la reprise et le journal, sans toucher au code des musiciens.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chef, une partition, des musiciens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069080" y="1097280"/>
            <a:ext cx="1005840" cy="10058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298448"/>
            <a:ext cx="603504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860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: le @flow indusense_pipeline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1051560" y="2468880"/>
            <a:ext cx="3520440" cy="502920"/>
          </a:xfrm>
          <a:prstGeom prst="line">
            <a:avLst/>
          </a:prstGeom>
          <a:noFill/>
          <a:ln w="25400">
            <a:solidFill>
              <a:srgbClr val="A89FB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40080" y="3017520"/>
            <a:ext cx="822960" cy="8229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82112"/>
            <a:ext cx="493776" cy="4937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432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basson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2860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build_gold_dataset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 flipH="1">
            <a:off x="2697480" y="2468880"/>
            <a:ext cx="1874520" cy="502920"/>
          </a:xfrm>
          <a:prstGeom prst="line">
            <a:avLst/>
          </a:prstGeom>
          <a:noFill/>
          <a:ln w="25400">
            <a:solidFill>
              <a:srgbClr val="A89FB5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286000" y="3017520"/>
            <a:ext cx="822960" cy="82296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31821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9202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piano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87452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ensure_model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 flipH="1">
            <a:off x="4343400" y="2468880"/>
            <a:ext cx="228600" cy="502920"/>
          </a:xfrm>
          <a:prstGeom prst="line">
            <a:avLst/>
          </a:prstGeom>
          <a:noFill/>
          <a:ln w="25400">
            <a:solidFill>
              <a:srgbClr val="A89FB5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931920" y="3017520"/>
            <a:ext cx="822960" cy="82296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96512" y="318211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56616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L'alto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352044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load_latest_features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572000" y="2468880"/>
            <a:ext cx="1417320" cy="502920"/>
          </a:xfrm>
          <a:prstGeom prst="line">
            <a:avLst/>
          </a:prstGeom>
          <a:noFill/>
          <a:ln w="25400">
            <a:solidFill>
              <a:srgbClr val="A89FB5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577840" y="3017520"/>
            <a:ext cx="822960" cy="82296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182112"/>
            <a:ext cx="493776" cy="49377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1208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violon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predict_latest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4572000" y="2468880"/>
            <a:ext cx="3063240" cy="502920"/>
          </a:xfrm>
          <a:prstGeom prst="line">
            <a:avLst/>
          </a:prstGeom>
          <a:noFill/>
          <a:ln w="25400">
            <a:solidFill>
              <a:srgbClr val="A89FB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223760" y="3017520"/>
            <a:ext cx="822960" cy="822960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3182112"/>
            <a:ext cx="493776" cy="49377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85800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timbales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812280" y="4160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5A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store_predictions</a:t>
            </a:r>
            <a:endParaRPr lang="en-US" sz="8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</a:t>
            </a:r>
            <a:pPr algn="ctr"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@flow : ordre, tempo, reprise.   </a:t>
            </a:r>
            <a:pPr algn="ctr" indent="0" marL="0">
              <a:buNone/>
            </a:pPr>
            <a:r>
              <a:rPr lang="en-US" sz="115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</a:t>
            </a:r>
            <a:pPr algn="ctr"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@task.   </a:t>
            </a:r>
            <a:pPr algn="ctr" indent="0" marL="0">
              <a:buNone/>
            </a:pPr>
            <a:r>
              <a:rPr lang="en-US" sz="115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</a:t>
            </a:r>
            <a:pPr algn="ctr"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module du package.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distribution des rôles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1920240"/>
                <a:gridCol w="24688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@task (le pupitre)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Musicien (module)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joue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basson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build-gold-dataset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data.export_gold_dataset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 le Gold en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piano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ensure-model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joblib · modeling.train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 ou entraîne le 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8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E8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load-latest-features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pandas (dans le flow)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 la dernière heure par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premier violon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predict-latest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scoring.score_features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calcule la probabilité de panne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777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7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timbales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store-predictions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predictions_store.upsert_predictions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écrit les prédictions en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L'alto est une exception : sa partie est écrite dans le flow lui-même (quelques lignes de pandas), pas dans un module.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85800" cy="6858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572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concert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5212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diapason : config.py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jouer, tout l'orchestre s'accorde sur le même « la ». Dans le flow, chaque pupitre demande à config.py où sont la base, le modèle et les prédictions.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B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B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Utilisé 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B0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get_engine()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PostgreSQL (le Gold)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basson, piano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get_model_path()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est model.joblib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get_model_version()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l'empreinte du modèle (12 caractères)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violon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1B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get_predictions_engine()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des prédictions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timbales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orchestre mal accordé joue faux même si chaque musicien est bon : un mauvais DB_HOST fait échouer tout le flow.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E2F2F1"/>
          </a:solidFill>
          <a:ln w="12700">
            <a:solidFill>
              <a:srgbClr val="E2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n°1 sur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371600" cy="13716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basson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l'orchestre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tient la ligne grave sur laquelle tout l'orchestre s'appuie. On l'entend peu, mais sans lui rien ne tient.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65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build-gold-dataset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749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appelé : data.export_gold_dataset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09728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7952" y="1207008"/>
            <a:ext cx="43342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@task(name="build-gold-dataset",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cache_key_fn=_gold_freshness_cache_key)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build_gold_dataset(out_path):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export_gold_dataset(get_engine(),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out_path)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joue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9900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gold_machine_hourly_feature, écrit dans data/gold/gold_dataset.csv : 132 940 lignes, 144 Mo. C'est la fondation de toutes les étapes suivantes.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703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06240" y="37764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du chef : </a:t>
            </a:r>
            <a:pPr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cache. L'empreinte de la table (nombre de lignes + dernière fenêtre) est comparée au concert précédent ; si rien n'a changé, le chef ne fait pas rejouer le passage.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ECE7F7"/>
          </a:solidFill>
          <a:ln w="12700">
            <a:solidFill>
              <a:srgbClr val="ECE7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n°2 sur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371600" cy="1371600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piano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l'orchestre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piano de concert est déjà sur scène et accordé : on ne le fait pas livrer à chaque représentation. S'il manque, on le fait venir et on l'accorde.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65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ensure-model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749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appelé : joblib · modeling.train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097280"/>
            <a:ext cx="4663440" cy="1600200"/>
          </a:xfrm>
          <a:prstGeom prst="roundRect">
            <a:avLst>
              <a:gd name="adj" fmla="val 3429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7952" y="1207008"/>
            <a:ext cx="433425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model_path.exists() and not retrain: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joblib.load(model_path)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sinon : entraînement complet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= load_gold_dataset(get_engine())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pipe, m = train_and_evaluate(... B11 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joblib.dump(pipe, model_path)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joue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31729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model.joblib (1,2 Mo). Il n'entraîne que si le fichier est absent, ou si le chef le demande avec le paramètre retrain=True.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703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06240" y="37764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du chef : </a:t>
            </a:r>
            <a:pPr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reprise. Le journal note « modèle existant réutilisé » : un deuxième concert n'entraîne pas à nouveau.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E4F1EE"/>
          </a:solidFill>
          <a:ln w="12700">
            <a:solidFill>
              <a:srgbClr val="E4F1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n°3 sur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371600" cy="137160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691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L'alto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l'orchestre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intermédiaire, discrète : il fait le lien entre les graves (les données) et la mélodie (la prédiction).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65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E8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load-latest-features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749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appelé : pandas (dans le flow)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09728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7952" y="1207008"/>
            <a:ext cx="43342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pd.read_csv(gold_csv)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df["window_start"] = pd.to_datetime(...)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(df.sort_values("window_start")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.groupby("machine_id")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.tail(1))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joue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9900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garde que la dernière heure connue de chaque machine : 132 940 lignes en entrée, 15 en sortie (une par machine).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703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06240" y="37764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du chef : </a:t>
            </a:r>
            <a:pPr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réglage particulier. C'est le seul pupitre dont la partition est écrite dans le flow, sans module du package.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n°4 sur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371600" cy="13716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premier violon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l'orchestre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joue la mélodie, celle que le public entend et retient. Ici, le public, ce sont les techniciens.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65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predict-latest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749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appelé : scoring.score_features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09728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7952" y="1207008"/>
            <a:ext cx="43342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proba, payloads = score_features(model, latest)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out["failure_proba_24h"] = proba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out["scored_at"]     = maintenant (UTC)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out["model_version"] = get_model_version()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out["features_payload"] = payloads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joue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9900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probabilité de panne dans les 24 h pour chaque machine, avec la version du modèle et une photo des features utilisées.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703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06240" y="37764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du chef : </a:t>
            </a:r>
            <a:pPr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aucun. Même partition que scripts/backfill_predictions.py. L'API, elle, improvise sa propre version : c'est la rupture n°3.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AF0DC"/>
          </a:solidFill>
          <a:ln w="12700">
            <a:solidFill>
              <a:srgbClr val="FAF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Pupitre n°5 sur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17320" y="822960"/>
            <a:ext cx="1371600" cy="1371600"/>
          </a:xfrm>
          <a:prstGeom prst="ellipse">
            <a:avLst/>
          </a:prstGeom>
          <a:solidFill>
            <a:srgbClr val="B7770A"/>
          </a:solidFill>
          <a:ln w="12700">
            <a:solidFill>
              <a:srgbClr val="B7770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097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timbales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77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l'orchestre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coups qui marquent et que personne ne peut effacer. Ils ponctuent la fin du morceau.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365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777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store-predictions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749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Musicien appelé : predictions_store.upsert_predictions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097280"/>
            <a:ext cx="4663440" cy="1417320"/>
          </a:xfrm>
          <a:prstGeom prst="roundRect">
            <a:avLst>
              <a:gd name="adj" fmla="val 3871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87952" y="1207008"/>
            <a:ext cx="43342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@task(name="store-predictions",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cache_policy=NO_CACHE)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store_predictions(predictions, engine):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[...]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upsert_predictions(engine, rows)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697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joue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299008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 les 15 prédictions dans la table predictions. La clé (machine_id, window_start) empêche les doublons, et un verdict de technicien n'est jamais écrasé.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7033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06240" y="37764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du chef : </a:t>
            </a:r>
            <a:pPr indent="0" marL="0">
              <a:buNone/>
            </a:pPr>
            <a:r>
              <a:rPr lang="en-US" sz="115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NO_CACHE. Ce pupitre joue à chaque concert : c'est lui qui écrit. Sans ce réglage, Prefect tenterait de mettre en cache la connexion à la base et échouerait.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gestes du chef : ce que Prefect ajoute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480560" cy="2834640"/>
          </a:xfrm>
          <a:prstGeom prst="roundRect">
            <a:avLst>
              <a:gd name="adj" fmla="val 1935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207008"/>
            <a:ext cx="415137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@flow(name="indusense-pipeline",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flow_run_name=_flow_run_name)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indusense_pipeline(gold_csv, model_path,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retrain=False):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gold_path = build_gold_dataset(gold_csv)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  = ensure_model(model_path, retrain)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latest    = load_latest_features(gold_path)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preds     = predict_latest(model, latest)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     = store_predictions(preds, engine)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097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@flow / @task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31673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 le chef et les pupitres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572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flow_run_name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79222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 chaque concert, avec sa date et son heure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048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cache_key_fn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26771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rejoue pas un passage inchangé (basson)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5237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NO_CACHE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74320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 toujours (timbales)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999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get_run_logger()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21868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carnet du régisseur : ce qui a été joué, et quand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retrain=True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69417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consigne du chef : réaccorder le piano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corps du flow ne contient que l'ordre des pupitres : aucun calcul.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Rejouer le concert sans rien doubler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Pupitre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concert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 concert, données inchangées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42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basson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exporte le 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en cache, non rejoué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3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piano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 si besoin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réutilise le modèle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E8E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 15 lignes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rejoue (très rapide)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premier violon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probabilités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5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rejoue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777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timbales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écrit 15 lignes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à jour les 15 mêmes lignes : 0 doublon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3950208"/>
            <a:ext cx="4425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{'rows_scored': 15, 'rows_in_db': …, 'db_url': …}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l'idempotence : relancer ne change que ce qui doit changer.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deuxième partition : l'audition d'un soliste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flows/retrain_flow.py : faut-il remplacer le soliste en place (le champion) par un candidat (le challenger) 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8A6B0C"/>
          </a:solidFill>
          <a:ln w="12700">
            <a:solidFill>
              <a:srgbClr val="8A6B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01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d'audition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@task verifier_conditions_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reentrainement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feux verts : ≥ 50 validations, ≥ 10 pannes, capteurs dans les bornes, dérive PSI &gt; 0,25, nouveau lot Gold. Sinon : SUSPENDU.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743200"/>
            <a:ext cx="182880" cy="274320"/>
          </a:xfrm>
          <a:prstGeom prst="rightArrow">
            <a:avLst/>
          </a:prstGeom>
          <a:solidFill>
            <a:srgbClr val="8A6B0C"/>
          </a:solidFill>
          <a:ln w="12700">
            <a:solidFill>
              <a:srgbClr val="8A6B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73552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8F1DA"/>
          </a:solidFill>
          <a:ln w="12700">
            <a:solidFill>
              <a:srgbClr val="F8F1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691640"/>
            <a:ext cx="548640" cy="548640"/>
          </a:xfrm>
          <a:prstGeom prst="ellipse">
            <a:avLst/>
          </a:prstGeom>
          <a:solidFill>
            <a:srgbClr val="8A6B0C"/>
          </a:solidFill>
          <a:ln w="12700">
            <a:solidFill>
              <a:srgbClr val="8A6B0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01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56432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L'audition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56432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6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arbitration.run_arbitration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456432" y="32004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rejoue les mêmes morceaux que le titulaire : gains et régressions, cas par cas. Résultat : ARBITRE.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97880" y="2743200"/>
            <a:ext cx="182880" cy="274320"/>
          </a:xfrm>
          <a:prstGeom prst="rightArrow">
            <a:avLst/>
          </a:prstGeom>
          <a:solidFill>
            <a:srgbClr val="8A6B0C"/>
          </a:solidFill>
          <a:ln w="12700">
            <a:solidFill>
              <a:srgbClr val="8A6B0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155448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4F2F7"/>
          </a:solidFill>
          <a:ln w="15875">
            <a:solidFill>
              <a:srgbClr val="B23A48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272784" y="1691640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013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72784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répétition derrière le rideau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72784" y="26700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shadow.run_shadow_cycle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272784" y="32004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candidat joue en silence avant de monter sur scène. Non appelé par le flow : lancé à part (rupture n°5).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Ici, le chef ne fait pas jouer : il décide qui a le droit de jouer.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InduSense · Prefect, chef d'orchestre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salles, la même partition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votre PC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10312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" y="2212848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--frozen python flows/pipeline.py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175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flows/pipeline.py n'est qu'une façade de 3 lignes : il importe le flow du package.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14300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4F2F7"/>
          </a:solidFill>
          <a:ln w="12700">
            <a:solidFill>
              <a:srgbClr val="F4F2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325880"/>
            <a:ext cx="594360" cy="594360"/>
          </a:xfrm>
          <a:prstGeom prst="ellipse">
            <a:avLst/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4447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conteneur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937760" y="2103120"/>
            <a:ext cx="3520440" cy="731520"/>
          </a:xfrm>
          <a:prstGeom prst="roundRect">
            <a:avLst>
              <a:gd name="adj" fmla="val 7500"/>
            </a:avLst>
          </a:prstGeom>
          <a:solidFill>
            <a:srgbClr val="1A1426"/>
          </a:solidFill>
          <a:ln w="12700">
            <a:solidFill>
              <a:srgbClr val="1A142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02352" y="2212848"/>
            <a:ext cx="3191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run --rm --no-deps api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indusense.flows.predict_flow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301752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flow vit dans src/, donc dans l'image. PREFECT_HOME=/app/data/.prefect garde la mémoire du chef (cache, résultats).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2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partition, zéro copie : c'est pour ça que le flow est dans le package.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439266"/>
            <a:ext cx="340157" cy="3401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chef ne joue aucune note</a:t>
            </a:r>
            <a:pPr indent="0" marL="0">
              <a:buNone/>
            </a:pPr>
            <a:r>
              <a:rPr lang="en-US" sz="1500" dirty="0">
                <a:solidFill>
                  <a:srgbClr val="D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@flow fixe l'ordre, les modules font le travail.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2216506"/>
            <a:ext cx="340157" cy="34015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103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pupitre délègue</a:t>
            </a:r>
            <a:pPr indent="0" marL="0">
              <a:buNone/>
            </a:pPr>
            <a:r>
              <a:rPr lang="en-US" sz="1500" dirty="0">
                <a:solidFill>
                  <a:srgbClr val="D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@task courte appelle un module testé du package.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88036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2993746"/>
            <a:ext cx="340157" cy="34015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 ne coûte rien</a:t>
            </a:r>
            <a:pPr indent="0" marL="0">
              <a:buNone/>
            </a:pPr>
            <a:r>
              <a:rPr lang="en-US" sz="1500" dirty="0">
                <a:solidFill>
                  <a:srgbClr val="D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cache (basson), reprise (piano), upsert sans doublon (timbales).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566928" cy="566928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6" y="3770986"/>
            <a:ext cx="340157" cy="34015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6576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fausses notes connues</a:t>
            </a:r>
            <a:pPr indent="0" marL="0">
              <a:buNone/>
            </a:pPr>
            <a:r>
              <a:rPr lang="en-US" sz="1500" dirty="0">
                <a:solidFill>
                  <a:srgbClr val="D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l'API improvise sa partie (n°3), la répétition fantôme n'est pas au programme (n°5).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lancer le flow deux fois et retrouver, dans le journal, le passage mis en cache.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Prefect, chef d'orchestre d'InduSense</dc:title>
  <dc:subject>PptxGenJS Presentation</dc:subject>
  <dc:creator>Guillaume Saïdani</dc:creator>
  <cp:lastModifiedBy>Guillaume Saïdani</cp:lastModifiedBy>
  <cp:revision>1</cp:revision>
  <dcterms:created xsi:type="dcterms:W3CDTF">2026-09-24T10:06:41Z</dcterms:created>
  <dcterms:modified xsi:type="dcterms:W3CDTF">2026-09-24T10:06:41Z</dcterms:modified>
</cp:coreProperties>
</file>