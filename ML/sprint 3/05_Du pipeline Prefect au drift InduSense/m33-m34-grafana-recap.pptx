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requêtes</c:v>
                </c:pt>
              </c:strCache>
            </c:strRef>
          </c:tx>
          <c:spPr>
            <a:ln w="28575">
              <a:solidFill>
                <a:srgbClr val="1F6478"/>
              </a:solidFill>
            </a:ln>
          </c:spPr>
          <c:marker>
            <c:symbol val="none"/>
            <c:size val="4"/>
            <c:spPr>
              <a:solidFill>
                <a:srgbClr val="1F6478"/>
              </a:solidFill>
              <a:ln>
                <a:solidFill>
                  <a:srgbClr val="1F6478"/>
                </a:solidFill>
              </a:ln>
            </c:spPr>
          </c:marker>
          <c:cat>
            <c:strRef>
              <c:f>Sheet1!$A$2:$A$22</c:f>
              <c:strCache>
                <c:ptCount val="21"/>
                <c:pt idx="0">
                  <c:v>-20</c:v>
                </c:pt>
                <c:pt idx="1">
                  <c:v>-19</c:v>
                </c:pt>
                <c:pt idx="2">
                  <c:v>-18</c:v>
                </c:pt>
                <c:pt idx="3">
                  <c:v>-17</c:v>
                </c:pt>
                <c:pt idx="4">
                  <c:v>-16</c:v>
                </c:pt>
                <c:pt idx="5">
                  <c:v>-15</c:v>
                </c:pt>
                <c:pt idx="6">
                  <c:v>-14</c:v>
                </c:pt>
                <c:pt idx="7">
                  <c:v>-13</c:v>
                </c:pt>
                <c:pt idx="8">
                  <c:v>-12</c:v>
                </c:pt>
                <c:pt idx="9">
                  <c:v>-11</c:v>
                </c:pt>
                <c:pt idx="10">
                  <c:v>-10</c:v>
                </c:pt>
                <c:pt idx="11">
                  <c:v>-9</c:v>
                </c:pt>
                <c:pt idx="12">
                  <c:v>-8</c:v>
                </c:pt>
                <c:pt idx="13">
                  <c:v>-7</c:v>
                </c:pt>
                <c:pt idx="14">
                  <c:v>-6</c:v>
                </c:pt>
                <c:pt idx="15">
                  <c:v>-5</c:v>
                </c:pt>
                <c:pt idx="16">
                  <c:v>-4</c:v>
                </c:pt>
                <c:pt idx="17">
                  <c:v>-3</c:v>
                </c:pt>
                <c:pt idx="18">
                  <c:v>-2</c:v>
                </c:pt>
                <c:pt idx="19">
                  <c:v>-1</c:v>
                </c:pt>
                <c:pt idx="20">
                  <c:v>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78.0</c:v>
                </c:pt>
                <c:pt idx="1">
                  <c:v>84.0</c:v>
                </c:pt>
                <c:pt idx="2">
                  <c:v>93.0</c:v>
                </c:pt>
                <c:pt idx="3">
                  <c:v>102.0</c:v>
                </c:pt>
                <c:pt idx="4">
                  <c:v>106.0</c:v>
                </c:pt>
                <c:pt idx="5">
                  <c:v>106.0</c:v>
                </c:pt>
                <c:pt idx="6">
                  <c:v>106.0</c:v>
                </c:pt>
                <c:pt idx="7">
                  <c:v>106.0</c:v>
                </c:pt>
                <c:pt idx="8">
                  <c:v>106.0</c:v>
                </c:pt>
                <c:pt idx="9">
                  <c:v>106.0</c:v>
                </c:pt>
                <c:pt idx="10">
                  <c:v>106.0</c:v>
                </c:pt>
                <c:pt idx="11">
                  <c:v>106.0</c:v>
                </c:pt>
                <c:pt idx="12">
                  <c:v>106.0</c:v>
                </c:pt>
                <c:pt idx="13">
                  <c:v>106.0</c:v>
                </c:pt>
                <c:pt idx="14">
                  <c:v>106.0</c:v>
                </c:pt>
                <c:pt idx="15">
                  <c:v>106.0</c:v>
                </c:pt>
                <c:pt idx="16">
                  <c:v>113.0</c:v>
                </c:pt>
                <c:pt idx="17">
                  <c:v>113.0</c:v>
                </c:pt>
                <c:pt idx="18">
                  <c:v>115.0</c:v>
                </c:pt>
                <c:pt idx="19">
                  <c:v>115.0</c:v>
                </c:pt>
                <c:pt idx="20">
                  <c:v>115.0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D0CB"/>
            </a:solidFill>
          </a:ln>
        </c:spPr>
        <c:txPr>
          <a:bodyPr/>
          <a:lstStyle/>
          <a:p>
            <a:pPr>
              <a:defRPr sz="850">
                <a:latin typeface="Consola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25.0"/>
          <c:min val="60.0"/>
        </c:scaling>
        <c:delete val="0"/>
        <c:axPos val="l"/>
        <c:majorGridlines>
          <c:spPr>
            <a:ln w="6350">
              <a:solidFill>
                <a:srgbClr val="C3D0CB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solidFill>
              <a:srgbClr val="C3D0CB"/>
            </a:solidFill>
          </a:ln>
        </c:spPr>
        <c:txPr>
          <a:bodyPr/>
          <a:lstStyle/>
          <a:p>
            <a:pPr>
              <a:defRPr sz="850">
                <a:latin typeface="Consola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req/s</c:v>
                </c:pt>
              </c:strCache>
            </c:strRef>
          </c:tx>
          <c:spPr>
            <a:ln w="28575">
              <a:solidFill>
                <a:srgbClr val="B5501C"/>
              </a:solidFill>
            </a:ln>
          </c:spPr>
          <c:marker>
            <c:symbol val="none"/>
            <c:size val="4"/>
            <c:spPr>
              <a:solidFill>
                <a:srgbClr val="B5501C"/>
              </a:solidFill>
              <a:ln>
                <a:solidFill>
                  <a:srgbClr val="B5501C"/>
                </a:solidFill>
              </a:ln>
            </c:spPr>
          </c:marker>
          <c:cat>
            <c:strRef>
              <c:f>Sheet1!$A$2:$A$22</c:f>
              <c:strCache>
                <c:ptCount val="21"/>
                <c:pt idx="0">
                  <c:v>-20</c:v>
                </c:pt>
                <c:pt idx="1">
                  <c:v>-19</c:v>
                </c:pt>
                <c:pt idx="2">
                  <c:v>-18</c:v>
                </c:pt>
                <c:pt idx="3">
                  <c:v>-17</c:v>
                </c:pt>
                <c:pt idx="4">
                  <c:v>-16</c:v>
                </c:pt>
                <c:pt idx="5">
                  <c:v>-15</c:v>
                </c:pt>
                <c:pt idx="6">
                  <c:v>-14</c:v>
                </c:pt>
                <c:pt idx="7">
                  <c:v>-13</c:v>
                </c:pt>
                <c:pt idx="8">
                  <c:v>-12</c:v>
                </c:pt>
                <c:pt idx="9">
                  <c:v>-11</c:v>
                </c:pt>
                <c:pt idx="10">
                  <c:v>-10</c:v>
                </c:pt>
                <c:pt idx="11">
                  <c:v>-9</c:v>
                </c:pt>
                <c:pt idx="12">
                  <c:v>-8</c:v>
                </c:pt>
                <c:pt idx="13">
                  <c:v>-7</c:v>
                </c:pt>
                <c:pt idx="14">
                  <c:v>-6</c:v>
                </c:pt>
                <c:pt idx="15">
                  <c:v>-5</c:v>
                </c:pt>
                <c:pt idx="16">
                  <c:v>-4</c:v>
                </c:pt>
                <c:pt idx="17">
                  <c:v>-3</c:v>
                </c:pt>
                <c:pt idx="18">
                  <c:v>-2</c:v>
                </c:pt>
                <c:pt idx="19">
                  <c:v>-1</c:v>
                </c:pt>
                <c:pt idx="20">
                  <c:v>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0.152</c:v>
                </c:pt>
                <c:pt idx="1">
                  <c:v>0.152</c:v>
                </c:pt>
                <c:pt idx="2">
                  <c:v>0.143</c:v>
                </c:pt>
                <c:pt idx="3">
                  <c:v>0.143</c:v>
                </c:pt>
                <c:pt idx="4">
                  <c:v>0.095</c:v>
                </c:pt>
                <c:pt idx="5">
                  <c:v>0.01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0.048</c:v>
                </c:pt>
                <c:pt idx="17">
                  <c:v>0.019</c:v>
                </c:pt>
                <c:pt idx="18">
                  <c:v>0.019</c:v>
                </c:pt>
                <c:pt idx="19">
                  <c:v>0.01</c:v>
                </c:pt>
                <c:pt idx="20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D0CB"/>
            </a:solidFill>
          </a:ln>
        </c:spPr>
        <c:txPr>
          <a:bodyPr/>
          <a:lstStyle/>
          <a:p>
            <a:pPr>
              <a:defRPr sz="850">
                <a:latin typeface="Consola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18"/>
          <c:min val="0.0"/>
        </c:scaling>
        <c:delete val="0"/>
        <c:axPos val="l"/>
        <c:majorGridlines>
          <c:spPr>
            <a:ln w="6350">
              <a:solidFill>
                <a:srgbClr val="C3D0CB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solidFill>
              <a:srgbClr val="C3D0CB"/>
            </a:solidFill>
          </a:ln>
        </c:spPr>
        <c:txPr>
          <a:bodyPr/>
          <a:lstStyle/>
          <a:p>
            <a:pPr>
              <a:defRPr sz="850">
                <a:latin typeface="Consola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2xx (Locust)</c:v>
                </c:pt>
              </c:strCache>
            </c:strRef>
          </c:tx>
          <c:spPr>
            <a:ln w="28575">
              <a:solidFill>
                <a:srgbClr val="2F7A53"/>
              </a:solidFill>
            </a:ln>
          </c:spPr>
          <c:marker>
            <c:size val="4"/>
            <c:spPr>
              <a:solidFill>
                <a:srgbClr val="2F7A53"/>
              </a:solidFill>
              <a:ln>
                <a:solidFill>
                  <a:srgbClr val="2F7A53"/>
                </a:solidFill>
              </a:ln>
            </c:spPr>
          </c:marker>
          <c:cat>
            <c:strRef>
              <c:f>Sheet1!$A$2:$A$22</c:f>
              <c:strCache>
                <c:ptCount val="21"/>
                <c:pt idx="0">
                  <c:v>-20</c:v>
                </c:pt>
                <c:pt idx="1">
                  <c:v>-19</c:v>
                </c:pt>
                <c:pt idx="2">
                  <c:v>-18</c:v>
                </c:pt>
                <c:pt idx="3">
                  <c:v>-17</c:v>
                </c:pt>
                <c:pt idx="4">
                  <c:v>-16</c:v>
                </c:pt>
                <c:pt idx="5">
                  <c:v>-15</c:v>
                </c:pt>
                <c:pt idx="6">
                  <c:v>-14</c:v>
                </c:pt>
                <c:pt idx="7">
                  <c:v>-13</c:v>
                </c:pt>
                <c:pt idx="8">
                  <c:v>-12</c:v>
                </c:pt>
                <c:pt idx="9">
                  <c:v>-11</c:v>
                </c:pt>
                <c:pt idx="10">
                  <c:v>-10</c:v>
                </c:pt>
                <c:pt idx="11">
                  <c:v>-9</c:v>
                </c:pt>
                <c:pt idx="12">
                  <c:v>-8</c:v>
                </c:pt>
                <c:pt idx="13">
                  <c:v>-7</c:v>
                </c:pt>
                <c:pt idx="14">
                  <c:v>-6</c:v>
                </c:pt>
                <c:pt idx="15">
                  <c:v>-5</c:v>
                </c:pt>
                <c:pt idx="16">
                  <c:v>-4</c:v>
                </c:pt>
                <c:pt idx="17">
                  <c:v>-3</c:v>
                </c:pt>
                <c:pt idx="18">
                  <c:v>-2</c:v>
                </c:pt>
                <c:pt idx="19">
                  <c:v>-1</c:v>
                </c:pt>
                <c:pt idx="20">
                  <c:v>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0.152</c:v>
                </c:pt>
                <c:pt idx="1">
                  <c:v>0.145</c:v>
                </c:pt>
                <c:pt idx="2">
                  <c:v>0.152</c:v>
                </c:pt>
                <c:pt idx="3">
                  <c:v>0.145</c:v>
                </c:pt>
                <c:pt idx="4">
                  <c:v>0.115</c:v>
                </c:pt>
                <c:pt idx="5">
                  <c:v>0.061</c:v>
                </c:pt>
                <c:pt idx="6">
                  <c:v>0.006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0.03</c:v>
                </c:pt>
                <c:pt idx="17">
                  <c:v>0.03</c:v>
                </c:pt>
                <c:pt idx="18">
                  <c:v>0.012</c:v>
                </c:pt>
                <c:pt idx="19">
                  <c:v>0.0</c:v>
                </c:pt>
                <c:pt idx="20">
                  <c:v>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4xx (422 injectés)</c:v>
                </c:pt>
              </c:strCache>
            </c:strRef>
          </c:tx>
          <c:spPr>
            <a:ln w="28575">
              <a:solidFill>
                <a:srgbClr val="B23A2F"/>
              </a:solidFill>
            </a:ln>
          </c:spPr>
          <c:marker>
            <c:size val="4"/>
            <c:spPr>
              <a:solidFill>
                <a:srgbClr val="B23A2F"/>
              </a:solidFill>
              <a:ln>
                <a:solidFill>
                  <a:srgbClr val="B23A2F"/>
                </a:solidFill>
              </a:ln>
            </c:spPr>
          </c:marker>
          <c:cat>
            <c:strRef>
              <c:f>Sheet1!$A$2:$A$22</c:f>
              <c:strCache>
                <c:ptCount val="21"/>
                <c:pt idx="0">
                  <c:v>-20</c:v>
                </c:pt>
                <c:pt idx="1">
                  <c:v>-19</c:v>
                </c:pt>
                <c:pt idx="2">
                  <c:v>-18</c:v>
                </c:pt>
                <c:pt idx="3">
                  <c:v>-17</c:v>
                </c:pt>
                <c:pt idx="4">
                  <c:v>-16</c:v>
                </c:pt>
                <c:pt idx="5">
                  <c:v>-15</c:v>
                </c:pt>
                <c:pt idx="6">
                  <c:v>-14</c:v>
                </c:pt>
                <c:pt idx="7">
                  <c:v>-13</c:v>
                </c:pt>
                <c:pt idx="8">
                  <c:v>-12</c:v>
                </c:pt>
                <c:pt idx="9">
                  <c:v>-11</c:v>
                </c:pt>
                <c:pt idx="10">
                  <c:v>-10</c:v>
                </c:pt>
                <c:pt idx="11">
                  <c:v>-9</c:v>
                </c:pt>
                <c:pt idx="12">
                  <c:v>-8</c:v>
                </c:pt>
                <c:pt idx="13">
                  <c:v>-7</c:v>
                </c:pt>
                <c:pt idx="14">
                  <c:v>-6</c:v>
                </c:pt>
                <c:pt idx="15">
                  <c:v>-5</c:v>
                </c:pt>
                <c:pt idx="16">
                  <c:v>-4</c:v>
                </c:pt>
                <c:pt idx="17">
                  <c:v>-3</c:v>
                </c:pt>
                <c:pt idx="18">
                  <c:v>-2</c:v>
                </c:pt>
                <c:pt idx="19">
                  <c:v>-1</c:v>
                </c:pt>
                <c:pt idx="20">
                  <c:v>0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0.0121</c:v>
                </c:pt>
                <c:pt idx="19">
                  <c:v>0.0121</c:v>
                </c:pt>
                <c:pt idx="20">
                  <c:v>0.0061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D0CB"/>
            </a:solidFill>
          </a:ln>
        </c:spPr>
        <c:txPr>
          <a:bodyPr/>
          <a:lstStyle/>
          <a:p>
            <a:pPr>
              <a:defRPr sz="850">
                <a:latin typeface="Consola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18"/>
          <c:min val="0.0"/>
        </c:scaling>
        <c:delete val="0"/>
        <c:axPos val="l"/>
        <c:majorGridlines>
          <c:spPr>
            <a:ln w="6350">
              <a:solidFill>
                <a:srgbClr val="C3D0CB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solidFill>
              <a:srgbClr val="C3D0CB"/>
            </a:solidFill>
          </a:ln>
        </c:spPr>
        <c:txPr>
          <a:bodyPr/>
          <a:lstStyle/>
          <a:p>
            <a:pPr>
              <a:defRPr sz="850">
                <a:latin typeface="Consolas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841248"/>
            <a:ext cx="109728" cy="109728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74980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160">
                <a:solidFill>
                  <a:srgbClr val="4C6360"/>
                </a:solidFill>
                <a:latin typeface="Consolas"/>
              </a:rPr>
              <a:t>JALON 10 · MODULES 33–34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200" b="1" i="0">
                <a:solidFill>
                  <a:srgbClr val="10201F"/>
                </a:solidFill>
                <a:latin typeface="Bahnschrift"/>
              </a:rPr>
              <a:t>Grafana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63240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4C6360"/>
                </a:solidFill>
                <a:latin typeface="Segoe UI"/>
              </a:rPr>
              <a:t>La vitrine qui transforme les métriques Prometheus en dashboard lisible — le point d'entrée que l'on ouvre en premier, pas la donnée elle-même.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43400"/>
            <a:ext cx="338327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4498848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00">
                <a:solidFill>
                  <a:srgbClr val="1F6478"/>
                </a:solidFill>
                <a:latin typeface="Consolas"/>
              </a:rPr>
              <a:t>RÔLE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773168"/>
            <a:ext cx="29809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0201F"/>
                </a:solidFill>
                <a:latin typeface="Segoe UI"/>
              </a:rPr>
              <a:t>Visualisation + provisioning déclaratif, aucune donnée stockée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4343400"/>
            <a:ext cx="338327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4498848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00">
                <a:solidFill>
                  <a:srgbClr val="1F6478"/>
                </a:solidFill>
                <a:latin typeface="Consolas"/>
              </a:rPr>
              <a:t>DANS CE JALON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4773168"/>
            <a:ext cx="29809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0201F"/>
                </a:solidFill>
                <a:latin typeface="Segoe UI"/>
              </a:rPr>
              <a:t>1 dashboard, 6 panneaux — dérive &amp; métriques InduSense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7" y="4343400"/>
            <a:ext cx="338327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4498848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00">
                <a:solidFill>
                  <a:srgbClr val="1F6478"/>
                </a:solidFill>
                <a:latin typeface="Consolas"/>
              </a:rPr>
              <a:t>EN AMONT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4773168"/>
            <a:ext cx="29809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0201F"/>
                </a:solidFill>
                <a:latin typeface="Segoe UI"/>
              </a:rPr>
              <a:t>Toujours Prometheus — Grafana ne fait qu'interroger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Parcours CISIA — Sprint 3 — J5 après-midi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Grafana &amp; Observabilité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POURQUOI GRAFANA, EN PLUS DE PROMETHEUS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0201F"/>
                </a:solidFill>
                <a:latin typeface="Bahnschrift"/>
              </a:rPr>
              <a:t>Prometheus répond ; Grafana montre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9784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C6360"/>
                </a:solidFill>
                <a:latin typeface="Segoe UI"/>
              </a:rPr>
              <a:t>L'UI Prometheus (jalon précédent) sait exécuter une requête. Elle ne garde pas de vue d'ensemble, ni de seuil visuel, ni d'adresse à partager.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074920" cy="3794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548640" y="2148840"/>
            <a:ext cx="5074920" cy="566928"/>
          </a:xfrm>
          <a:prstGeom prst="round2SameRect">
            <a:avLst/>
          </a:prstGeom>
          <a:solidFill>
            <a:srgbClr val="F7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48840"/>
            <a:ext cx="4526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 spc="80">
                <a:solidFill>
                  <a:srgbClr val="B23A2F"/>
                </a:solidFill>
                <a:latin typeface="Consolas"/>
              </a:rPr>
              <a:t>UI PROMETHEUS SEULE</a:t>
            </a:r>
          </a:p>
        </p:txBody>
      </p:sp>
      <p:sp>
        <p:nvSpPr>
          <p:cNvPr id="9" name="Oval 8"/>
          <p:cNvSpPr/>
          <p:nvPr/>
        </p:nvSpPr>
        <p:spPr>
          <a:xfrm>
            <a:off x="822959" y="2999232"/>
            <a:ext cx="82296" cy="82296"/>
          </a:xfrm>
          <a:prstGeom prst="ellipse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71216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0201F"/>
                </a:solidFill>
                <a:latin typeface="Segoe UI"/>
              </a:rPr>
              <a:t>6 métriques du TP = 6 requêtes PromQL à retaper une par une</a:t>
            </a:r>
          </a:p>
        </p:txBody>
      </p:sp>
      <p:sp>
        <p:nvSpPr>
          <p:cNvPr id="11" name="Oval 10"/>
          <p:cNvSpPr/>
          <p:nvPr/>
        </p:nvSpPr>
        <p:spPr>
          <a:xfrm>
            <a:off x="822959" y="3749040"/>
            <a:ext cx="82296" cy="82296"/>
          </a:xfrm>
          <a:prstGeom prst="ellipse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21024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0201F"/>
                </a:solidFill>
                <a:latin typeface="Segoe UI"/>
              </a:rPr>
              <a:t>Un chiffre brut ne dit pas s'il est grave (0,25 ou 6,8 ?)</a:t>
            </a:r>
          </a:p>
        </p:txBody>
      </p:sp>
      <p:sp>
        <p:nvSpPr>
          <p:cNvPr id="13" name="Oval 12"/>
          <p:cNvSpPr/>
          <p:nvPr/>
        </p:nvSpPr>
        <p:spPr>
          <a:xfrm>
            <a:off x="822959" y="4498848"/>
            <a:ext cx="82296" cy="82296"/>
          </a:xfrm>
          <a:prstGeom prst="ellipse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370832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0201F"/>
                </a:solidFill>
                <a:latin typeface="Segoe UI"/>
              </a:rPr>
              <a:t>Rien à montrer d'un coup d'œil en debrief ou en Game Day</a:t>
            </a:r>
          </a:p>
        </p:txBody>
      </p:sp>
      <p:sp>
        <p:nvSpPr>
          <p:cNvPr id="15" name="Oval 14"/>
          <p:cNvSpPr/>
          <p:nvPr/>
        </p:nvSpPr>
        <p:spPr>
          <a:xfrm>
            <a:off x="822959" y="5248656"/>
            <a:ext cx="82296" cy="82296"/>
          </a:xfrm>
          <a:prstGeom prst="ellipse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120640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0201F"/>
                </a:solidFill>
                <a:latin typeface="Segoe UI"/>
              </a:rPr>
              <a:t>Aucune mémoire visuelle entre deux relances de evaluate_drift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2148840"/>
            <a:ext cx="5074920" cy="3794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126479" y="2148840"/>
            <a:ext cx="5074920" cy="566928"/>
          </a:xfrm>
          <a:prstGeom prst="round2SameRect">
            <a:avLst/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799" y="2148840"/>
            <a:ext cx="4526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 spc="80">
                <a:solidFill>
                  <a:srgbClr val="2F7A53"/>
                </a:solidFill>
                <a:latin typeface="Consolas"/>
              </a:rPr>
              <a:t>DASHBOARD GRAFANA</a:t>
            </a:r>
          </a:p>
        </p:txBody>
      </p:sp>
      <p:sp>
        <p:nvSpPr>
          <p:cNvPr id="20" name="Oval 19"/>
          <p:cNvSpPr/>
          <p:nvPr/>
        </p:nvSpPr>
        <p:spPr>
          <a:xfrm>
            <a:off x="6400799" y="2999232"/>
            <a:ext cx="82296" cy="82296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399" y="2871216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0201F"/>
                </a:solidFill>
                <a:latin typeface="Segoe UI"/>
              </a:rPr>
              <a:t>Un seul écran, 6 panneaux affichés ensemble, url fixe (:3000)</a:t>
            </a:r>
          </a:p>
        </p:txBody>
      </p:sp>
      <p:sp>
        <p:nvSpPr>
          <p:cNvPr id="22" name="Oval 21"/>
          <p:cNvSpPr/>
          <p:nvPr/>
        </p:nvSpPr>
        <p:spPr>
          <a:xfrm>
            <a:off x="6400799" y="3749040"/>
            <a:ext cx="82296" cy="82296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399" y="3621024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0201F"/>
                </a:solidFill>
                <a:latin typeface="Segoe UI"/>
              </a:rPr>
              <a:t>Seuils colorés intégrés au panneau — vert / orange / rouge</a:t>
            </a:r>
          </a:p>
        </p:txBody>
      </p:sp>
      <p:sp>
        <p:nvSpPr>
          <p:cNvPr id="24" name="Oval 23"/>
          <p:cNvSpPr/>
          <p:nvPr/>
        </p:nvSpPr>
        <p:spPr>
          <a:xfrm>
            <a:off x="6400799" y="4498848"/>
            <a:ext cx="82296" cy="82296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399" y="4370832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0201F"/>
                </a:solidFill>
                <a:latin typeface="Segoe UI"/>
              </a:rPr>
              <a:t>La même vue pour l'apprenant, le formateur, le Game Day</a:t>
            </a:r>
          </a:p>
        </p:txBody>
      </p:sp>
      <p:sp>
        <p:nvSpPr>
          <p:cNvPr id="26" name="Oval 25"/>
          <p:cNvSpPr/>
          <p:nvPr/>
        </p:nvSpPr>
        <p:spPr>
          <a:xfrm>
            <a:off x="6400799" y="5248656"/>
            <a:ext cx="82296" cy="82296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399" y="5120640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0201F"/>
                </a:solidFill>
                <a:latin typeface="Segoe UI"/>
              </a:rPr>
              <a:t>Provisionné au démarrage — rien à recréer à la main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Grafana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Le problème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FONCTION N°1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0201F"/>
                </a:solidFill>
                <a:latin typeface="Bahnschrift"/>
              </a:rPr>
              <a:t>Un client, pas une base de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C6360"/>
                </a:solidFill>
                <a:latin typeface="Segoe UI"/>
              </a:rPr>
              <a:t>Chaque panneau se traduit en une requête PromQL, envoyée à Prometheus au moment de l'affichage — Grafana ne conserve aucune métrique.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63240"/>
            <a:ext cx="3017520" cy="1417320"/>
          </a:xfrm>
          <a:prstGeom prst="roundRect">
            <a:avLst>
              <a:gd name="adj" fmla="val 7000"/>
            </a:avLst>
          </a:prstGeom>
          <a:solidFill>
            <a:srgbClr val="F4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2461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 spc="60">
                <a:solidFill>
                  <a:srgbClr val="10201F"/>
                </a:solidFill>
                <a:latin typeface="Consolas"/>
              </a:rPr>
              <a:t>GRAFANA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61188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6 panneaux · port 3000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0201F"/>
                </a:solidFill>
                <a:latin typeface="Consolas"/>
              </a:rPr>
              <a:t>aucune métrique stockée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3063240"/>
            <a:ext cx="2834640" cy="1417320"/>
          </a:xfrm>
          <a:prstGeom prst="roundRect">
            <a:avLst>
              <a:gd name="adj" fmla="val 7000"/>
            </a:avLst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32461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EEF3F1"/>
                </a:solidFill>
                <a:latin typeface="Consolas"/>
              </a:rPr>
              <a:t>PROMETHEUS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61188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DE9EB"/>
                </a:solidFill>
                <a:latin typeface="Segoe UI"/>
              </a:rPr>
              <a:t>TSDB — la mémoire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0" y="3566160"/>
            <a:ext cx="1417320" cy="0"/>
          </a:xfrm>
          <a:prstGeom prst="line">
            <a:avLst/>
          </a:prstGeom>
          <a:ln w="28575">
            <a:solidFill>
              <a:srgbClr val="1F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840480" y="324612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1F6478"/>
                </a:solidFill>
                <a:latin typeface="Consolas"/>
              </a:rPr>
              <a:t>requête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3840480" y="4114800"/>
            <a:ext cx="1417320" cy="0"/>
          </a:xfrm>
          <a:prstGeom prst="line">
            <a:avLst/>
          </a:prstGeom>
          <a:ln w="28575">
            <a:solidFill>
              <a:srgbClr val="B550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40480" y="416052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7C3510"/>
                </a:solidFill>
                <a:latin typeface="Consolas"/>
              </a:rPr>
              <a:t>valeurs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2880360"/>
            <a:ext cx="3063240" cy="1783080"/>
          </a:xfrm>
          <a:prstGeom prst="roundRect">
            <a:avLst>
              <a:gd name="adj" fmla="val 4500"/>
            </a:avLst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05672" y="3085185"/>
            <a:ext cx="2551176" cy="1424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DDE9EB"/>
                </a:solidFill>
                <a:latin typeface="Consolas"/>
              </a:rPr>
              <a:t>type: prometheus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EF3F1"/>
                </a:solidFill>
                <a:latin typeface="Consolas"/>
              </a:rPr>
              <a:t>access: </a:t>
            </a:r>
            <a:r>
              <a:rPr sz="1200" b="1" i="0">
                <a:solidFill>
                  <a:srgbClr val="FFF8F3"/>
                </a:solidFill>
                <a:latin typeface="Consolas"/>
              </a:rPr>
              <a:t>proxy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EF3F1"/>
                </a:solidFill>
                <a:latin typeface="Consolas"/>
              </a:rPr>
              <a:t>url: http://prometheus:9090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475488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datasources/prometheus.yml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2120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7C3510"/>
                </a:solidFill>
                <a:latin typeface="Consolas"/>
              </a:rPr>
              <a:t>access: proxy </a:t>
            </a:r>
            <a:r>
              <a:rPr sz="1300" b="0" i="0">
                <a:solidFill>
                  <a:srgbClr val="4C6360"/>
                </a:solidFill>
                <a:latin typeface="Segoe UI"/>
              </a:rPr>
              <a:t>: c'est le navigateur de l'apprenant qui parle à Grafana, et Grafana qui relaie vers Prometheus — jamais l'inverse. Ni les identifiants ni le réseau interne ne sortent du conteneur.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Grafana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Un client, pas une 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FONCTION N°2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0201F"/>
                </a:solidFill>
                <a:latin typeface="Bahnschrift"/>
              </a:rPr>
              <a:t>Zéro clic dans l'interface, tout est fichier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4C6360"/>
                </a:solidFill>
                <a:latin typeface="Segoe UI"/>
              </a:rPr>
              <a:t>Datasource et dashboard sont déclarés en YAML/JSON, versionnés dans le dépôt — aucune configuration manuelle ne survit à un redémarrage.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41376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3413760" cy="82296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331720"/>
            <a:ext cx="3011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F6478"/>
                </a:solidFill>
                <a:latin typeface="Consolas"/>
              </a:rPr>
              <a:t>1 · datasource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97480"/>
            <a:ext cx="30114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0201F"/>
                </a:solidFill>
                <a:latin typeface="Consolas"/>
              </a:rPr>
              <a:t>monitoring/grafana/provisioning/
datasources/prometheus.yml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474720"/>
            <a:ext cx="30114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C6360"/>
                </a:solidFill>
                <a:latin typeface="Segoe UI"/>
              </a:rPr>
              <a:t>Déclare la source Prometheus, isDefault: true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89832" y="3063240"/>
            <a:ext cx="265176" cy="0"/>
          </a:xfrm>
          <a:prstGeom prst="line">
            <a:avLst/>
          </a:prstGeom>
          <a:ln w="2540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82440" y="2103120"/>
            <a:ext cx="341376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82440" y="2103120"/>
            <a:ext cx="3413760" cy="82296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3608" y="2331720"/>
            <a:ext cx="3011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F6478"/>
                </a:solidFill>
                <a:latin typeface="Consolas"/>
              </a:rPr>
              <a:t>2 · provider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3608" y="2697480"/>
            <a:ext cx="30114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0201F"/>
                </a:solidFill>
                <a:latin typeface="Consolas"/>
              </a:rPr>
              <a:t>monitoring/grafana/provisioning/
dashboards/dashboards.yml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3608" y="3474720"/>
            <a:ext cx="30114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C6360"/>
                </a:solidFill>
                <a:latin typeface="Segoe UI"/>
              </a:rPr>
              <a:t>Dit à Grafana où lire les dashboards (type: file)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23632" y="3063240"/>
            <a:ext cx="265176" cy="0"/>
          </a:xfrm>
          <a:prstGeom prst="line">
            <a:avLst/>
          </a:prstGeom>
          <a:ln w="2540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16240" y="2103120"/>
            <a:ext cx="341376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16240" y="2103120"/>
            <a:ext cx="3413760" cy="82296"/>
          </a:xfrm>
          <a:prstGeom prst="roundRect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7408" y="2331720"/>
            <a:ext cx="3011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B5501C"/>
                </a:solidFill>
                <a:latin typeface="Consolas"/>
              </a:rPr>
              <a:t>3 ·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7408" y="2697480"/>
            <a:ext cx="30114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0201F"/>
                </a:solidFill>
                <a:latin typeface="Consolas"/>
              </a:rPr>
              <a:t>monitoring/grafana/provisioning/
dashboards/indusense_drift.json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7408" y="3474720"/>
            <a:ext cx="30114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C6360"/>
                </a:solidFill>
                <a:latin typeface="Segoe UI"/>
              </a:rPr>
              <a:t>Le contenu même : 6 panneaux, requêtes, seuils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34340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4343400"/>
            <a:ext cx="82296" cy="1463040"/>
          </a:xfrm>
          <a:prstGeom prst="roundRect">
            <a:avLst/>
          </a:prstGeom>
          <a:solidFill>
            <a:srgbClr val="9A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55371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100">
                <a:solidFill>
                  <a:srgbClr val="9A6C0A"/>
                </a:solidFill>
                <a:latin typeface="Consolas"/>
              </a:rPr>
              <a:t>PIÈGE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846320"/>
            <a:ext cx="10241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10201F"/>
                </a:solidFill>
                <a:latin typeface="Segoe UI"/>
              </a:rPr>
              <a:t>« Un graphique séduisant sans unité, fenêtre ni seuil explicite peut conduire à une mauvaise décision. »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4C6360"/>
                </a:solidFill>
                <a:latin typeface="Segoe UI"/>
              </a:rPr>
              <a:t>— commentaire pédagogique de dashboards.yml, dans ce dépôt.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Grafana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Provisioning déclaratif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FONCTION N°3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0201F"/>
                </a:solidFill>
                <a:latin typeface="Bahnschrift"/>
              </a:rPr>
              <a:t>Un panneau : une requête, une visualisation, des seuils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4C6360"/>
                </a:solidFill>
                <a:latin typeface="Segoe UI"/>
              </a:rPr>
              <a:t>Exemple réel : le panneau « PSI par capteur » du dashboard InduSense.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76072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3172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0201F"/>
                </a:solidFill>
                <a:latin typeface="Segoe UI"/>
              </a:rPr>
              <a:t>PSI par capteur (vs référence choisie)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59" y="2971800"/>
            <a:ext cx="521208" cy="502920"/>
          </a:xfrm>
          <a:prstGeom prst="rect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44168" y="2971800"/>
            <a:ext cx="781812" cy="502920"/>
          </a:xfrm>
          <a:prstGeom prst="rect">
            <a:avLst/>
          </a:prstGeom>
          <a:solidFill>
            <a:srgbClr val="9A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25980" y="2971800"/>
            <a:ext cx="3909060" cy="502920"/>
          </a:xfrm>
          <a:prstGeom prst="rect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4974" y="2862072"/>
            <a:ext cx="36576" cy="722376"/>
          </a:xfrm>
          <a:prstGeom prst="roundRect">
            <a:avLst/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56616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pressure_bar = 0,025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" y="3931920"/>
            <a:ext cx="521208" cy="502920"/>
          </a:xfrm>
          <a:prstGeom prst="rect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44168" y="3931920"/>
            <a:ext cx="781812" cy="502920"/>
          </a:xfrm>
          <a:prstGeom prst="rect">
            <a:avLst/>
          </a:prstGeom>
          <a:solidFill>
            <a:srgbClr val="9A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25980" y="3931920"/>
            <a:ext cx="3909060" cy="502920"/>
          </a:xfrm>
          <a:prstGeom prst="rect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98464" y="3822191"/>
            <a:ext cx="36576" cy="722376"/>
          </a:xfrm>
          <a:prstGeom prst="roundRect">
            <a:avLst/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526279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10201F"/>
                </a:solidFill>
                <a:latin typeface="Consolas"/>
              </a:rPr>
              <a:t>temperature = 6,834 </a:t>
            </a:r>
            <a:r>
              <a:rPr sz="1050" b="0" i="0">
                <a:solidFill>
                  <a:srgbClr val="B23A2F"/>
                </a:solidFill>
                <a:latin typeface="Consolas"/>
              </a:rPr>
              <a:t>(hors échelle, &gt; seuil rouge)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2148840"/>
            <a:ext cx="48006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93992" y="2331720"/>
            <a:ext cx="256032" cy="256032"/>
          </a:xfrm>
          <a:prstGeom prst="ellipse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2221992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4C6360"/>
                </a:solidFill>
                <a:latin typeface="Consolas"/>
              </a:rPr>
              <a:t>Requête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2221992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indusense_drift_psi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2862072"/>
            <a:ext cx="48006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793992" y="3044952"/>
            <a:ext cx="256032" cy="256032"/>
          </a:xfrm>
          <a:prstGeom prst="ellipse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2935224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4C6360"/>
                </a:solidFill>
                <a:latin typeface="Consolas"/>
              </a:rPr>
              <a:t>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2935224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bargauge (min 0, max 1)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3575304"/>
            <a:ext cx="48006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93992" y="3758184"/>
            <a:ext cx="256032" cy="256032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3648456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4C6360"/>
                </a:solidFill>
                <a:latin typeface="Consolas"/>
              </a:rPr>
              <a:t>Seuil vert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648456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&lt; 0,10 — RAS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4288536"/>
            <a:ext cx="48006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793992" y="4471416"/>
            <a:ext cx="256032" cy="256032"/>
          </a:xfrm>
          <a:prstGeom prst="ellipse">
            <a:avLst/>
          </a:prstGeom>
          <a:solidFill>
            <a:srgbClr val="9A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436168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4C6360"/>
                </a:solidFill>
                <a:latin typeface="Consolas"/>
              </a:rPr>
              <a:t>Seuil orange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4361688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0,10 – 0,25 — à surveiller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29400" y="5001768"/>
            <a:ext cx="48006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93992" y="5184648"/>
            <a:ext cx="256032" cy="256032"/>
          </a:xfrm>
          <a:prstGeom prst="ellipse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78040" y="5074920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4C6360"/>
                </a:solidFill>
                <a:latin typeface="Consolas"/>
              </a:rPr>
              <a:t>Seuil rouge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5074920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≥ 0,25 — dérive forte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Grafana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Anatomie d'un panneau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LE DASHBOARD AU COMPLET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0201F"/>
                </a:solidFill>
                <a:latin typeface="Bahnschrift"/>
              </a:rPr>
              <a:t>6 panneaux, 6 requêtes PromQL, un seul écran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34442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73152" cy="1600200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30552"/>
            <a:ext cx="3032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0201F"/>
                </a:solidFill>
                <a:latin typeface="Segoe UI"/>
              </a:rPr>
              <a:t>PSI par capteur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79191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79191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4C6360"/>
                </a:solidFill>
                <a:latin typeface="Consolas"/>
              </a:rPr>
              <a:t>bargauge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44952"/>
            <a:ext cx="3032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7C3510"/>
                </a:solidFill>
                <a:latin typeface="Consolas"/>
              </a:rPr>
              <a:t>indusense_drift_psi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200" y="1965960"/>
            <a:ext cx="34442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7200" y="1965960"/>
            <a:ext cx="73152" cy="1600200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5800" y="2130552"/>
            <a:ext cx="3032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0201F"/>
                </a:solidFill>
                <a:latin typeface="Segoe UI"/>
              </a:rPr>
              <a:t>PSI dans le temps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5800" y="2679191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5800" y="2679191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4C6360"/>
                </a:solidFill>
                <a:latin typeface="Consolas"/>
              </a:rPr>
              <a:t>timeseries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5800" y="3044952"/>
            <a:ext cx="3032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7C3510"/>
                </a:solidFill>
                <a:latin typeface="Consolas"/>
              </a:rPr>
              <a:t>indusense_drift_psi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5760" y="1965960"/>
            <a:ext cx="34442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85760" y="1965960"/>
            <a:ext cx="73152" cy="1600200"/>
          </a:xfrm>
          <a:prstGeom prst="roundRect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4360" y="2130552"/>
            <a:ext cx="3032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0201F"/>
                </a:solidFill>
                <a:latin typeface="Segoe UI"/>
              </a:rPr>
              <a:t>Rappel panne (seuil gelé)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14360" y="2679191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4360" y="2679191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4C6360"/>
                </a:solidFill>
                <a:latin typeface="Consolas"/>
              </a:rPr>
              <a:t>stat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4360" y="3044952"/>
            <a:ext cx="3032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7C3510"/>
                </a:solidFill>
                <a:latin typeface="Consolas"/>
              </a:rPr>
              <a:t>indusense_drift_rappel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94760"/>
            <a:ext cx="34442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3794760"/>
            <a:ext cx="73152" cy="1600200"/>
          </a:xfrm>
          <a:prstGeom prst="roundRect">
            <a:avLst/>
          </a:prstGeom>
          <a:solidFill>
            <a:srgbClr val="9A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959352"/>
            <a:ext cx="3032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0201F"/>
                </a:solidFill>
                <a:latin typeface="Segoe UI"/>
              </a:rPr>
              <a:t>Taux d'alerte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507992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507992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4C6360"/>
                </a:solidFill>
                <a:latin typeface="Consolas"/>
              </a:rPr>
              <a:t>stat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873752"/>
            <a:ext cx="3032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7C3510"/>
                </a:solidFill>
                <a:latin typeface="Consolas"/>
              </a:rPr>
              <a:t>indusense_drift_taux_alerte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67200" y="3794760"/>
            <a:ext cx="34442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267200" y="3794760"/>
            <a:ext cx="73152" cy="1600200"/>
          </a:xfrm>
          <a:prstGeom prst="roundRect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5800" y="3959352"/>
            <a:ext cx="3032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0201F"/>
                </a:solidFill>
                <a:latin typeface="Segoe UI"/>
              </a:rPr>
              <a:t>Précision des alertes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95800" y="4507992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5800" y="4507992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4C6360"/>
                </a:solidFill>
                <a:latin typeface="Consolas"/>
              </a:rPr>
              <a:t>stat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5800" y="4873752"/>
            <a:ext cx="3032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7C3510"/>
                </a:solidFill>
                <a:latin typeface="Consolas"/>
              </a:rPr>
              <a:t>indusense_drift_precision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85760" y="3794760"/>
            <a:ext cx="34442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985760" y="3794760"/>
            <a:ext cx="73152" cy="1600200"/>
          </a:xfrm>
          <a:prstGeom prst="roundRect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4360" y="3959352"/>
            <a:ext cx="3032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0201F"/>
                </a:solidFill>
                <a:latin typeface="Segoe UI"/>
              </a:rPr>
              <a:t>ROC-AUC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14360" y="4507992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4360" y="4507992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4C6360"/>
                </a:solidFill>
                <a:latin typeface="Consolas"/>
              </a:rPr>
              <a:t>stat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4360" y="4873752"/>
            <a:ext cx="3032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7C3510"/>
                </a:solidFill>
                <a:latin typeface="Consolas"/>
              </a:rPr>
              <a:t>indusense_drift_roc_auc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Grafana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6 panneaux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DEUX FENÊTRES, DEUX LECTURES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0201F"/>
                </a:solidFill>
                <a:latin typeface="Bahnschrift"/>
              </a:rPr>
              <a:t>Le même dashboard raconte deux histoires différentes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4C6360"/>
                </a:solidFill>
                <a:latin typeface="Segoe UI"/>
              </a:rPr>
              <a:t>Valeurs réellement lues sur les 4 panneaux « stat », le même dashboard, deux fenêtres du TP drift.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0881360" cy="502920"/>
          </a:xfrm>
          <a:prstGeom prst="roundRect">
            <a:avLst>
              <a:gd name="adj" fmla="val 4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03120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4C6360"/>
                </a:solidFill>
                <a:latin typeface="Consolas"/>
              </a:rPr>
              <a:t>PANNEAU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10312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2F7A53"/>
                </a:solidFill>
                <a:latin typeface="Consolas"/>
              </a:rPr>
              <a:t>FENÊTRE 2 · capteur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10312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B23A2F"/>
                </a:solidFill>
                <a:latin typeface="Consolas"/>
              </a:rPr>
              <a:t>FENÊTRE 3 · concept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39"/>
            <a:ext cx="1088136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606039"/>
            <a:ext cx="45720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0201F"/>
                </a:solidFill>
                <a:latin typeface="Segoe UI"/>
              </a:rPr>
              <a:t>Rappel panne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606039"/>
            <a:ext cx="2560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2F7A53"/>
                </a:solidFill>
                <a:latin typeface="Consolas"/>
              </a:rPr>
              <a:t>0,738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606039"/>
            <a:ext cx="2560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B23A2F"/>
                </a:solidFill>
                <a:latin typeface="Consolas"/>
              </a:rPr>
              <a:t>0,051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27832"/>
            <a:ext cx="1088136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227832"/>
            <a:ext cx="45720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0201F"/>
                </a:solidFill>
                <a:latin typeface="Segoe UI"/>
              </a:rPr>
              <a:t>Taux d'alerte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227832"/>
            <a:ext cx="2560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2F7A53"/>
                </a:solidFill>
                <a:latin typeface="Consolas"/>
              </a:rPr>
              <a:t>32,6 %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227832"/>
            <a:ext cx="2560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9A6C0A"/>
                </a:solidFill>
                <a:latin typeface="Consolas"/>
              </a:rPr>
              <a:t>34,9 %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9624"/>
            <a:ext cx="1088136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49624"/>
            <a:ext cx="45720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0201F"/>
                </a:solidFill>
                <a:latin typeface="Segoe UI"/>
              </a:rPr>
              <a:t>Précision des alertes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849624"/>
            <a:ext cx="2560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2F7A53"/>
                </a:solidFill>
                <a:latin typeface="Consolas"/>
              </a:rPr>
              <a:t>0,118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849624"/>
            <a:ext cx="2560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B23A2F"/>
                </a:solidFill>
                <a:latin typeface="Consolas"/>
              </a:rPr>
              <a:t>0,007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471416"/>
            <a:ext cx="1088136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4471416"/>
            <a:ext cx="45720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0201F"/>
                </a:solidFill>
                <a:latin typeface="Segoe UI"/>
              </a:rPr>
              <a:t>ROC-AUC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471416"/>
            <a:ext cx="2560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2F7A53"/>
                </a:solidFill>
                <a:latin typeface="Consolas"/>
              </a:rPr>
              <a:t>0,793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471416"/>
            <a:ext cx="2560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B23A2F"/>
                </a:solidFill>
                <a:latin typeface="Consolas"/>
              </a:rPr>
              <a:t>0,209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321807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C6360"/>
                </a:solidFill>
                <a:latin typeface="Segoe UI"/>
              </a:rPr>
              <a:t>Le PSI de la fenêtre 3 reste calme (X quasi identique à la référence) — </a:t>
            </a:r>
            <a:r>
              <a:rPr sz="1300" b="1" i="0">
                <a:solidFill>
                  <a:srgbClr val="7C3510"/>
                </a:solidFill>
                <a:latin typeface="Segoe UI"/>
              </a:rPr>
              <a:t>seuls ces 4 panneaux stat révèlent l'effondrement du modèle.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Grafana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Deux fenêtres, deux lectures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PREUVE, PAS DÉCLARATION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0201F"/>
                </a:solidFill>
                <a:latin typeface="Bahnschrift"/>
              </a:rPr>
              <a:t>Vérifié sur l'instance réellement démarrée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38327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292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60">
                <a:solidFill>
                  <a:srgbClr val="4C6360"/>
                </a:solidFill>
                <a:latin typeface="Consolas"/>
              </a:rPr>
              <a:t>SANTÉ GRAFANA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2926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F7A53"/>
                </a:solidFill>
                <a:latin typeface="Bahnschrift"/>
              </a:rPr>
              <a:t>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2926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2F7A53"/>
                </a:solidFill>
                <a:latin typeface="Consolas"/>
              </a:rPr>
              <a:t>GET /api/health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926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C6360"/>
                </a:solidFill>
                <a:latin typeface="Segoe UI"/>
              </a:rPr>
              <a:t>database: ok, version 11.4.0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691640"/>
            <a:ext cx="338327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1874519"/>
            <a:ext cx="292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60">
                <a:solidFill>
                  <a:srgbClr val="4C6360"/>
                </a:solidFill>
                <a:latin typeface="Consolas"/>
              </a:rPr>
              <a:t>DASHBOARD TROUVÉ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194560"/>
            <a:ext cx="2926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F6478"/>
                </a:solidFill>
                <a:latin typeface="Bahnschrif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971800"/>
            <a:ext cx="2926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1F6478"/>
                </a:solidFill>
                <a:latin typeface="Consolas"/>
              </a:rPr>
              <a:t>GET /api/search?query=InduSense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3337560"/>
            <a:ext cx="2926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C6360"/>
                </a:solidFill>
                <a:latin typeface="Segoe UI"/>
              </a:rPr>
              <a:t>uid: indusense-drift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691640"/>
            <a:ext cx="338327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874519"/>
            <a:ext cx="292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60">
                <a:solidFill>
                  <a:srgbClr val="4C6360"/>
                </a:solidFill>
                <a:latin typeface="Consolas"/>
              </a:rPr>
              <a:t>DATASOURCE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194560"/>
            <a:ext cx="2926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48A1B"/>
                </a:solidFill>
                <a:latin typeface="Bahnschrift"/>
              </a:rPr>
              <a:t>Prometheus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971800"/>
            <a:ext cx="2926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48A1B"/>
                </a:solidFill>
                <a:latin typeface="Consolas"/>
              </a:rPr>
              <a:t>isDefault: true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3337560"/>
            <a:ext cx="2926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C6360"/>
                </a:solidFill>
                <a:latin typeface="Segoe UI"/>
              </a:rPr>
              <a:t>proxy → http://prometheus:9090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51960"/>
            <a:ext cx="10881360" cy="2011680"/>
          </a:xfrm>
          <a:prstGeom prst="roundRect">
            <a:avLst>
              <a:gd name="adj" fmla="val 4500"/>
            </a:avLst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471416"/>
            <a:ext cx="10332720" cy="1627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DDE9EB"/>
                </a:solidFill>
                <a:latin typeface="Consolas"/>
              </a:rPr>
              <a:t>$ </a:t>
            </a:r>
            <a:r>
              <a:rPr sz="1350" b="0" i="0">
                <a:solidFill>
                  <a:srgbClr val="EEF3F1"/>
                </a:solidFill>
                <a:latin typeface="Consolas"/>
              </a:rPr>
              <a:t>curl -fsS -u admin:admin http://127.0.0.1:3000/api/search?query=InduSense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C6360"/>
                </a:solidFill>
                <a:latin typeface="Consolas"/>
              </a:rPr>
              <a:t>[{"uid":"indusense-drift", "title":"InduSense — dérive &amp; métriques (TP m31)", ...}]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EEF3F1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DDE9EB"/>
                </a:solidFill>
                <a:latin typeface="Consolas"/>
              </a:rPr>
              <a:t>$ </a:t>
            </a:r>
            <a:r>
              <a:rPr sz="1350" b="0" i="0">
                <a:solidFill>
                  <a:srgbClr val="EEF3F1"/>
                </a:solidFill>
                <a:latin typeface="Consolas"/>
              </a:rPr>
              <a:t>curl -fsS -u admin:admin http://127.0.0.1:3000/api/datasources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C6360"/>
                </a:solidFill>
                <a:latin typeface="Consolas"/>
              </a:rPr>
              <a:t>[{"name":"Prometheus", "type":"prometheus", "url":"http://prometheus:9090", "isDefault":true}]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Grafana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Preuve mesurée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CE QUE ÇA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0201F"/>
                </a:solidFill>
                <a:latin typeface="Bahnschrift"/>
              </a:rPr>
              <a:t>Une jauge rouge n'est utile que si quelqu'un la regarde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25146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167128"/>
            <a:ext cx="2112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23A2F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68880"/>
            <a:ext cx="211226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0201F"/>
                </a:solidFill>
                <a:latin typeface="Segoe UI"/>
              </a:rPr>
              <a:t>Le panneau vire au rouge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108960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4C6360"/>
                </a:solidFill>
                <a:latin typeface="Consolas"/>
              </a:rPr>
              <a:t>PSI par capteur ≥ 0,25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90672" y="2834639"/>
            <a:ext cx="219456" cy="0"/>
          </a:xfrm>
          <a:prstGeom prst="line">
            <a:avLst/>
          </a:prstGeom>
          <a:ln w="2540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37560" y="1965960"/>
            <a:ext cx="25146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1F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2167128"/>
            <a:ext cx="2112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6478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468880"/>
            <a:ext cx="211226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0201F"/>
                </a:solidFill>
                <a:latin typeface="Segoe UI"/>
              </a:rPr>
              <a:t>Quelqu'un le voit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108960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4C6360"/>
                </a:solidFill>
                <a:latin typeface="Consolas"/>
              </a:rPr>
              <a:t>dashboard ouvert, url fixe :3000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79592" y="2834639"/>
            <a:ext cx="219456" cy="0"/>
          </a:xfrm>
          <a:prstGeom prst="line">
            <a:avLst/>
          </a:prstGeom>
          <a:ln w="2540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26479" y="1965960"/>
            <a:ext cx="25146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1F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7" y="2167128"/>
            <a:ext cx="2112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6478"/>
                </a:solidFill>
                <a:latin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7" y="2468880"/>
            <a:ext cx="211226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0201F"/>
                </a:solidFill>
                <a:latin typeface="Segoe UI"/>
              </a:rPr>
              <a:t>Le contexte est déjà là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7" y="3108960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4C6360"/>
                </a:solidFill>
                <a:latin typeface="Consolas"/>
              </a:rPr>
              <a:t>6 panneaux côte à côte, pas 6 requêtes à relancer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68511" y="2834639"/>
            <a:ext cx="219457" cy="0"/>
          </a:xfrm>
          <a:prstGeom prst="line">
            <a:avLst/>
          </a:prstGeom>
          <a:ln w="2540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915400" y="1965960"/>
            <a:ext cx="25146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B55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8" y="2167128"/>
            <a:ext cx="2112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5501C"/>
                </a:solidFill>
                <a:latin typeface="Consola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2468880"/>
            <a:ext cx="211226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0201F"/>
                </a:solidFill>
                <a:latin typeface="Segoe UI"/>
              </a:rPr>
              <a:t>Le runbook prend le relais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3108960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4C6360"/>
                </a:solidFill>
                <a:latin typeface="Consolas"/>
              </a:rPr>
              <a:t>docs/runbook.md — IndusenseDriftPSIEleve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233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C6360"/>
                </a:solidFill>
                <a:latin typeface="Segoe UI"/>
              </a:rPr>
              <a:t>Grafana ne décide rien et ne déclenche rien lui-même dans ce jalon : </a:t>
            </a:r>
            <a:r>
              <a:rPr sz="1350" b="1" i="0">
                <a:solidFill>
                  <a:srgbClr val="7C3510"/>
                </a:solidFill>
                <a:latin typeface="Segoe UI"/>
              </a:rPr>
              <a:t>il rend le signal visible assez tôt pour que le runbook s'applique avant l'incident, pas après.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Grafana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De la couleur au geste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PAS UN MOCKUP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0201F"/>
                </a:solidFill>
                <a:latin typeface="Bahnschrift"/>
              </a:rPr>
              <a:t>Quatre panneaux imaginés, construits pour de vrai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4C6360"/>
                </a:solidFill>
                <a:latin typeface="Segoe UI"/>
              </a:rPr>
              <a:t>Éditeur de panneau Grafana (« New dashboard » → « Edit panel »), sur la stack du jalon, avec du trafic et des erreurs réellement générés.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73152" cy="868680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14016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0201F"/>
                </a:solidFill>
                <a:latin typeface="Segoe UI"/>
              </a:rPr>
              <a:t>Trafic continu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414016"/>
            <a:ext cx="6949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C6360"/>
                </a:solidFill>
                <a:latin typeface="Consolas"/>
              </a:rPr>
              <a:t>Locust, 3 users, 10 minutes bornées, vers /predict-tabular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918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73152" cy="868680"/>
          </a:xfrm>
          <a:prstGeom prst="roundRect">
            <a:avLst/>
          </a:prstGeom>
          <a:solidFill>
            <a:srgbClr val="9A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19856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0201F"/>
                </a:solidFill>
                <a:latin typeface="Segoe UI"/>
              </a:rPr>
              <a:t>Erreurs de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419856"/>
            <a:ext cx="6949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C6360"/>
                </a:solidFill>
                <a:latin typeface="Consolas"/>
              </a:rPr>
              <a:t>4 × requête avec moins de 7 relevés → 422 (Pydantic)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9768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4297680"/>
            <a:ext cx="73152" cy="868680"/>
          </a:xfrm>
          <a:prstGeom prst="roundRect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25696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0201F"/>
                </a:solidFill>
                <a:latin typeface="Segoe UI"/>
              </a:rPr>
              <a:t>Payload surdimensionné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425696"/>
            <a:ext cx="6949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C6360"/>
                </a:solidFill>
                <a:latin typeface="Consolas"/>
              </a:rPr>
              <a:t>1 × requête à 98 439 octets (limite 65 536) → 413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0352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5303520"/>
            <a:ext cx="73152" cy="868680"/>
          </a:xfrm>
          <a:prstGeom prst="roundRect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431536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0201F"/>
                </a:solidFill>
                <a:latin typeface="Segoe UI"/>
              </a:rPr>
              <a:t>Lecture PromQL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431536"/>
            <a:ext cx="6949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C6360"/>
                </a:solidFill>
                <a:latin typeface="Consolas"/>
              </a:rPr>
              <a:t>rate(), histogram_quantile(), sum by (status) — rejouées sur 20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Grafana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Panneaux construits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PANNEAU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0201F"/>
                </a:solidFill>
                <a:latin typeface="Bahnschrift"/>
              </a:rPr>
              <a:t>Compteur brut vs rate() — la même série, deux lectures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1F6478"/>
                </a:solidFill>
                <a:latin typeface="Consolas"/>
              </a:rPr>
              <a:t>http_requests_total (brut)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737360"/>
          <a:ext cx="5257800" cy="2148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0" y="14630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B5501C"/>
                </a:solidFill>
                <a:latin typeface="Consolas"/>
              </a:rPr>
              <a:t>rate(...[2m]) — req/s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26480" y="1737360"/>
          <a:ext cx="5257800" cy="2148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160520"/>
            <a:ext cx="1088136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4160520"/>
            <a:ext cx="82296" cy="1600200"/>
          </a:xfrm>
          <a:prstGeom prst="roundRect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34340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80">
                <a:solidFill>
                  <a:srgbClr val="7C3510"/>
                </a:solidFill>
                <a:latin typeface="Consolas"/>
              </a:rPr>
              <a:t>CONSTAT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6344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0201F"/>
                </a:solidFill>
                <a:latin typeface="Segoe UI"/>
              </a:rPr>
              <a:t>Le compteur ne fait QUE monter, même à l'arrêt de Locust (palier plat à droite du pic) — illisible comme mesure de charge. </a:t>
            </a:r>
            <a:r>
              <a:rPr sz="1300" b="1" i="0">
                <a:solidFill>
                  <a:srgbClr val="B5501C"/>
                </a:solidFill>
                <a:latin typeface="Consolas"/>
              </a:rPr>
              <a:t>rate() </a:t>
            </a:r>
            <a:r>
              <a:rPr sz="1300" b="0" i="0">
                <a:solidFill>
                  <a:srgbClr val="10201F"/>
                </a:solidFill>
                <a:latin typeface="Segoe UI"/>
              </a:rPr>
              <a:t>seul répond à « combien de requêtes par seconde, maintenant ? », et retombe honnêtement à 0 dès que le trafic s'arrête.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Grafana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Compteur vs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PANNEAU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0201F"/>
                </a:solidFill>
                <a:latin typeface="Bahnschrift"/>
              </a:rPr>
              <a:t>p50, p95, p99 — presque la même valeur, pas par hasard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C6360"/>
                </a:solidFill>
                <a:latin typeface="Consolas"/>
              </a:rPr>
              <a:t>histogram_quantile(0.5|0.95|0.99, sum by (le) (rate(http_request_duration_seconds_bucket[2m])))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87168"/>
            <a:ext cx="10149840" cy="54864"/>
          </a:xfrm>
          <a:prstGeom prst="roundRect">
            <a:avLst/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281160" y="1920240"/>
            <a:ext cx="0" cy="1508760"/>
          </a:xfrm>
          <a:prstGeom prst="line">
            <a:avLst/>
          </a:prstGeom>
          <a:ln w="19050">
            <a:solidFill>
              <a:srgbClr val="B23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0" y="162763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B23A2F"/>
                </a:solidFill>
                <a:latin typeface="Consolas"/>
              </a:rPr>
              <a:t>le = 0,10 (limite du bucket)</a:t>
            </a:r>
          </a:p>
        </p:txBody>
      </p:sp>
      <p:sp>
        <p:nvSpPr>
          <p:cNvPr id="9" name="Oval 8"/>
          <p:cNvSpPr/>
          <p:nvPr/>
        </p:nvSpPr>
        <p:spPr>
          <a:xfrm>
            <a:off x="4969764" y="2432304"/>
            <a:ext cx="164592" cy="164592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6260" y="20116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2F7A53"/>
                </a:solidFill>
                <a:latin typeface="Consolas"/>
              </a:rPr>
              <a:t>p50 = 0,050</a:t>
            </a:r>
          </a:p>
        </p:txBody>
      </p:sp>
      <p:sp>
        <p:nvSpPr>
          <p:cNvPr id="11" name="Oval 10"/>
          <p:cNvSpPr/>
          <p:nvPr/>
        </p:nvSpPr>
        <p:spPr>
          <a:xfrm>
            <a:off x="8785098" y="2441448"/>
            <a:ext cx="146304" cy="146304"/>
          </a:xfrm>
          <a:prstGeom prst="ellipse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23426" y="2441448"/>
            <a:ext cx="146304" cy="146304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027414" y="2624328"/>
            <a:ext cx="0" cy="621792"/>
          </a:xfrm>
          <a:prstGeom prst="line">
            <a:avLst/>
          </a:prstGeom>
          <a:ln w="12700">
            <a:solidFill>
              <a:srgbClr val="4C63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838694" y="3310128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F6478"/>
                </a:solidFill>
                <a:latin typeface="Consolas"/>
              </a:rPr>
              <a:t>p95 = 0,095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01C"/>
                </a:solidFill>
                <a:latin typeface="Consolas"/>
              </a:rPr>
              <a:t>p99 = 0,099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157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7157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0,12 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51960"/>
            <a:ext cx="108813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4251960"/>
            <a:ext cx="82296" cy="1737360"/>
          </a:xfrm>
          <a:prstGeom prst="roundRect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41655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60">
                <a:solidFill>
                  <a:srgbClr val="B23A2F"/>
                </a:solidFill>
                <a:latin typeface="Consolas"/>
              </a:rPr>
              <a:t>SURPRISE N°1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36592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Pas un trafic parfaitement régulier : toutes les requêtes tombent sous le premier bucket (0,1 s). Prometheus ne sait pas OÙ dans ce bucket — il suppose une répartition uniforme et interpole : p50/p95/p99 = 50/95/99 % de 0,1 s. </a:t>
            </a:r>
            <a:r>
              <a:rPr sz="1250" b="1" i="0">
                <a:solidFill>
                  <a:srgbClr val="B23A2F"/>
                </a:solidFill>
                <a:latin typeface="Segoe UI"/>
              </a:rPr>
              <a:t>Des valeurs devinées, pas mesurées</a:t>
            </a:r>
            <a:r>
              <a:rPr sz="1250" b="0" i="0">
                <a:solidFill>
                  <a:srgbClr val="10201F"/>
                </a:solidFill>
                <a:latin typeface="Segoe UI"/>
              </a:rPr>
              <a:t> — la résolution d'un histogramme s'arrête à ses propres seuils.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Grafana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p50 / p95 / p99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PANNEAU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0201F"/>
                </a:solidFill>
                <a:latin typeface="Bahnschrift"/>
              </a:rPr>
              <a:t>Répartition 2xx / 4xx — un incident sans seuil configuré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C6360"/>
                </a:solidFill>
                <a:latin typeface="Consolas"/>
              </a:rPr>
              <a:t>sum by (status) (rate(http_requests_total{handler="/predict-tabular"}[3m])), pendant l'injection des 422.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783080"/>
          <a:ext cx="10881360" cy="2423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389120"/>
            <a:ext cx="1088136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4389120"/>
            <a:ext cx="82296" cy="1645920"/>
          </a:xfrm>
          <a:prstGeom prst="roundRect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55371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60">
                <a:solidFill>
                  <a:srgbClr val="B23A2F"/>
                </a:solidFill>
                <a:latin typeface="Consolas"/>
              </a:rPr>
              <a:t>SURPRISE N°2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73752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Ce graphique ne montre QUE le 422. La requête surdimensionnée (413) n'apparaît nulle part dans /metrics : son middleware anti-payload-géant (</a:t>
            </a:r>
            <a:r>
              <a:rPr sz="1150" b="0" i="0">
                <a:solidFill>
                  <a:srgbClr val="7C3510"/>
                </a:solidFill>
                <a:latin typeface="Consolas"/>
              </a:rPr>
              <a:t>MAX_BODY_BYTES, src/indusense/api/security.py</a:t>
            </a:r>
            <a:r>
              <a:rPr sz="1250" b="0" i="0">
                <a:solidFill>
                  <a:srgbClr val="10201F"/>
                </a:solidFill>
                <a:latin typeface="Segoe UI"/>
              </a:rPr>
              <a:t>) coupe la requête avant le middleware d'instrumentation Prometheus — une protection de sécurité réelle (module 26) reste un angle mort total pour ce dashboard (module 33).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Grafana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Répartition HTTP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CONTRE-VÉRIFICATION INDÉPENDANTE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0201F"/>
                </a:solidFill>
                <a:latin typeface="Bahnschrift"/>
              </a:rPr>
              <a:t>Un deuxième outil, la même conclusion — et le même angle mort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C6360"/>
                </a:solidFill>
                <a:latin typeface="Consolas"/>
              </a:rPr>
              <a:t>src/indusense/monitoring/drift.py (ligne 191) : </a:t>
            </a:r>
            <a:r>
              <a:rPr sz="1250" b="0" i="0">
                <a:solidFill>
                  <a:srgbClr val="4C6360"/>
                </a:solidFill>
                <a:latin typeface="Segoe UI"/>
              </a:rPr>
              <a:t>« Evidently est l'alternative outillée » — déclaré en dépendance, jamais appelé. Testé ici pour de vrai.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0881360" cy="457200"/>
          </a:xfrm>
          <a:prstGeom prst="roundRect">
            <a:avLst>
              <a:gd name="adj" fmla="val 4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4C6360"/>
                </a:solidFill>
                <a:latin typeface="Consolas"/>
              </a:rPr>
              <a:t>FENÊTRE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96596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4C6360"/>
                </a:solidFill>
                <a:latin typeface="Consolas"/>
              </a:rPr>
              <a:t>PSI MAISON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965960"/>
            <a:ext cx="24688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4C6360"/>
                </a:solidFill>
                <a:latin typeface="Consolas"/>
              </a:rPr>
              <a:t>EVIDENTLY (WASSERSTEIN)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96596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4C6360"/>
                </a:solidFill>
                <a:latin typeface="Consolas"/>
              </a:rPr>
              <a:t>COLONNES EN DÉRIVE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196596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4C6360"/>
                </a:solidFill>
                <a:latin typeface="Consolas"/>
              </a:rPr>
              <a:t>RAPPEL MODÈLE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23160"/>
            <a:ext cx="108813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2316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0201F"/>
                </a:solidFill>
                <a:latin typeface="Consolas"/>
              </a:rPr>
              <a:t>1 · témoin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423160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F7A53"/>
                </a:solidFill>
                <a:latin typeface="Consolas"/>
              </a:rPr>
              <a:t>0,002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423160"/>
            <a:ext cx="24688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F7A53"/>
                </a:solidFill>
                <a:latin typeface="Consolas"/>
              </a:rPr>
              <a:t>0,026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423160"/>
            <a:ext cx="1828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0201F"/>
                </a:solidFill>
                <a:latin typeface="Consolas"/>
              </a:rPr>
              <a:t>0 /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2423160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F7A53"/>
                </a:solidFill>
                <a:latin typeface="Consolas"/>
              </a:rPr>
              <a:t>0,753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990088"/>
            <a:ext cx="108813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990088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0201F"/>
                </a:solidFill>
                <a:latin typeface="Consolas"/>
              </a:rPr>
              <a:t>2 · capteur +8°C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990088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B23A2F"/>
                </a:solidFill>
                <a:latin typeface="Consolas"/>
              </a:rPr>
              <a:t>6,834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990088"/>
            <a:ext cx="24688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B23A2F"/>
                </a:solidFill>
                <a:latin typeface="Consolas"/>
              </a:rPr>
              <a:t>2,036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990088"/>
            <a:ext cx="1828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0201F"/>
                </a:solidFill>
                <a:latin typeface="Consolas"/>
              </a:rPr>
              <a:t>1 /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990088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F7A53"/>
                </a:solidFill>
                <a:latin typeface="Consolas"/>
              </a:rPr>
              <a:t>0,738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557016"/>
            <a:ext cx="108813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557016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0201F"/>
                </a:solidFill>
                <a:latin typeface="Consolas"/>
              </a:rPr>
              <a:t>3 · concept drift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3557016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F7A53"/>
                </a:solidFill>
                <a:latin typeface="Consolas"/>
              </a:rPr>
              <a:t>0,002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3557016"/>
            <a:ext cx="24688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F7A53"/>
                </a:solidFill>
                <a:latin typeface="Consolas"/>
              </a:rPr>
              <a:t>0,026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557016"/>
            <a:ext cx="1828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0201F"/>
                </a:solidFill>
                <a:latin typeface="Consolas"/>
              </a:rPr>
              <a:t>0 /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3557016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B23A2F"/>
                </a:solidFill>
                <a:latin typeface="Consolas"/>
              </a:rPr>
              <a:t>0,051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352544"/>
            <a:ext cx="108813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4352544"/>
            <a:ext cx="82296" cy="1737360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517136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60">
                <a:solidFill>
                  <a:srgbClr val="1F6478"/>
                </a:solidFill>
                <a:latin typeface="Consolas"/>
              </a:rPr>
              <a:t>CE QUE ÇA APPORTE EN PLUS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837176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0201F"/>
                </a:solidFill>
                <a:latin typeface="Segoe UI"/>
              </a:rPr>
              <a:t>1. </a:t>
            </a:r>
            <a:r>
              <a:rPr sz="1250" b="0" i="0">
                <a:solidFill>
                  <a:srgbClr val="10201F"/>
                </a:solidFill>
                <a:latin typeface="Segoe UI"/>
              </a:rPr>
              <a:t>Confirmation indépendante, méthode différente (distance de Wasserstein, pas PSI) → même diagnostic capteur sur la fenêtre 2, sans partager de code avec drift.py.</a:t>
            </a:r>
          </a:p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0201F"/>
                </a:solidFill>
                <a:latin typeface="Segoe UI"/>
              </a:rPr>
              <a:t>2. </a:t>
            </a:r>
            <a:r>
              <a:rPr sz="1250" b="0" i="0">
                <a:solidFill>
                  <a:srgbClr val="10201F"/>
                </a:solidFill>
                <a:latin typeface="Segoe UI"/>
              </a:rPr>
              <a:t>Un rapport HTML interactif généré sans écrire de visualisation — utile à partager avec quelqu'un hors du repo.</a:t>
            </a:r>
          </a:p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0201F"/>
                </a:solidFill>
                <a:latin typeface="Segoe UI"/>
              </a:rPr>
              <a:t>3. </a:t>
            </a:r>
            <a:r>
              <a:rPr sz="1250" b="1" i="0">
                <a:solidFill>
                  <a:srgbClr val="B23A2F"/>
                </a:solidFill>
                <a:latin typeface="Segoe UI"/>
              </a:rPr>
              <a:t>Et une confirmation gênante : sur la fenêtre 3, Evidently renvoie EXACTEMENT les mêmes chiffres qu'en témoin (0/2, Wasserstein identique) — la limite n'est pas propre au PSI maison, elle touche toute méthode qui ne regarde que la distribution d'entrée.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Grafana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Evidently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82296"/>
          </a:xfrm>
          <a:prstGeom prst="roundRect">
            <a:avLst/>
          </a:prstGeom>
          <a:solidFill>
            <a:srgbClr val="F4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180">
                <a:solidFill>
                  <a:srgbClr val="DDE9EB"/>
                </a:solidFill>
                <a:latin typeface="Consolas"/>
              </a:rPr>
              <a:t>À RETENIR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EEF3F1"/>
                </a:solidFill>
                <a:latin typeface="Bahnschrift"/>
              </a:rPr>
              <a:t>Grafana, en une phrase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DDE9EB"/>
                </a:solidFill>
                <a:latin typeface="Segoe UI"/>
              </a:rPr>
              <a:t>Il ne mesure rien et ne stocke rien : il interroge Prometheus à la demande et transforme des requêtes PromQL en un dashboard permanent, seuillé et partagé.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916936"/>
            <a:ext cx="128016" cy="128016"/>
          </a:xfrm>
          <a:prstGeom prst="ellipse">
            <a:avLst/>
          </a:prstGeom>
          <a:solidFill>
            <a:srgbClr val="F4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0720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EF3F1"/>
                </a:solidFill>
                <a:latin typeface="Segoe UI"/>
              </a:rPr>
              <a:t>Client, pas base : access: proxy — la donnée reste dans Prometheus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38728"/>
            <a:ext cx="128016" cy="128016"/>
          </a:xfrm>
          <a:prstGeom prst="ellipse">
            <a:avLst/>
          </a:prstGeom>
          <a:solidFill>
            <a:srgbClr val="F4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EF3F1"/>
                </a:solidFill>
                <a:latin typeface="Segoe UI"/>
              </a:rPr>
              <a:t>Provisioning déclaratif : datasource + dashboard en fichiers versionnés, zéro clic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160520"/>
            <a:ext cx="128016" cy="128016"/>
          </a:xfrm>
          <a:prstGeom prst="ellipse">
            <a:avLst/>
          </a:prstGeom>
          <a:solidFill>
            <a:srgbClr val="F4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50791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EF3F1"/>
                </a:solidFill>
                <a:latin typeface="Segoe UI"/>
              </a:rPr>
              <a:t>Un panneau = une requête + une visualisation + des seuils explicites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782312"/>
            <a:ext cx="128016" cy="128016"/>
          </a:xfrm>
          <a:prstGeom prst="ellipse">
            <a:avLst/>
          </a:prstGeom>
          <a:solidFill>
            <a:srgbClr val="F4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72583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EF3F1"/>
                </a:solidFill>
                <a:latin typeface="Segoe UI"/>
              </a:rPr>
              <a:t>6 panneaux dans ce jalon : PSI, PSI dans le temps, rappel, alerte, précision, ROC-AUC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04103"/>
            <a:ext cx="128016" cy="128016"/>
          </a:xfrm>
          <a:prstGeom prst="ellipse">
            <a:avLst/>
          </a:prstGeom>
          <a:solidFill>
            <a:srgbClr val="F4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294375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EF3F1"/>
                </a:solidFill>
                <a:latin typeface="Segoe UI"/>
              </a:rPr>
              <a:t>Il rend visible ce que le runbook doit ensuite traiter — jamais l'inverse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Jalon 10 · M33–M34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5375" y="635508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monitoring/grafana/provisioning/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