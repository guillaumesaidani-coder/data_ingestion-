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 spc="100">
                <a:solidFill>
                  <a:srgbClr val="4C6360"/>
                </a:solidFill>
                <a:latin typeface="Consolas"/>
              </a:rPr>
              <a:t>JALON 10 · GITHUB.COM/EVIDENTLYAI/EVIDENTLY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800" b="1" i="0">
                <a:solidFill>
                  <a:srgbClr val="10201F"/>
                </a:solidFill>
                <a:latin typeface="Bahnschrift"/>
              </a:rPr>
              <a:t>Evidently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8892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4C6360"/>
                </a:solidFill>
                <a:latin typeface="Segoe UI"/>
              </a:rPr>
              <a:t>La bibliothèque open-source d'observabilité ML — et ce qu'elle couvre vraiment de la brique « Surveiller le Drift » de la feuille de route.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69080"/>
            <a:ext cx="3383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22452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498848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Rapports de dérive, qualité de données, tests automatisés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069080"/>
            <a:ext cx="3383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22452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VERSION VÉRIFIÉE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498848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evidently==0.7.21 (pyproject.toml, jamais appelé en code)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4069080"/>
            <a:ext cx="3383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22452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DANS CE JALON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498848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Contre-vérification PSI (m31) + mécanisme d'alerte (Tests)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Parcours CISIA — 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Evidently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LA PROMESSE, TELLE QU'ANNONCÉE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Une carte, une phrase, deux choses à vérifier</a:t>
            </a:r>
          </a:p>
        </p:txBody>
      </p:sp>
      <p:pic>
        <p:nvPicPr>
          <p:cNvPr id="5" name="Picture 4" descr="Capture d’écran 2026-09-04 1428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4174435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7" y="1664208"/>
            <a:ext cx="4229299" cy="3346704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1691640"/>
            <a:ext cx="6583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82880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AFFIRMATION 1 — « dérive de données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148840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0201F"/>
                </a:solidFill>
                <a:latin typeface="Segoe UI"/>
              </a:rPr>
              <a:t>Evidently sait-il vraiment mesurer une dérive, sur nos données à nous ?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2F7A53"/>
                </a:solidFill>
                <a:latin typeface="Segoe UI"/>
              </a:rPr>
              <a:t>→ Vérifié : oui (slide 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291840"/>
            <a:ext cx="6583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42900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AFFIRMATION 2 — « mettre en place des alertes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749039"/>
            <a:ext cx="6035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0201F"/>
                </a:solidFill>
                <a:latin typeface="Segoe UI"/>
              </a:rPr>
              <a:t>Evidently déclenche-t-il vraiment une alerte, ou juste un chiffre dans un rapport ?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7C3510"/>
                </a:solidFill>
                <a:latin typeface="Segoe UI"/>
              </a:rPr>
              <a:t>→ Partiellement vrai : il a le mécanisme (Tests), pas la livraison (slides 4-5).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C6360"/>
                </a:solidFill>
                <a:latin typeface="Segoe UI"/>
              </a:rPr>
              <a:t>Chaque affirmation est testée avec le vrai code Evidently, sur les vraies données du TP drift (m31) — pas relue dans la documentation.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Evidently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La brique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AFFIRMATION 1 — VÉRIFIÉE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DataDriftPreset : un deuxième outil, la même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9305"/>
            <a:ext cx="10369296" cy="1196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EF3F1"/>
                </a:solidFill>
                <a:latin typeface="Consolas"/>
              </a:rPr>
              <a:t>from evidently import Dataset, DataDefinition, Report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EF3F1"/>
                </a:solidFill>
                <a:latin typeface="Consolas"/>
              </a:rPr>
              <a:t>from evidently.presets import </a:t>
            </a:r>
            <a:r>
              <a:rPr sz="1350" b="1" i="0">
                <a:solidFill>
                  <a:srgbClr val="FFF8F3"/>
                </a:solidFill>
                <a:latin typeface="Consolas"/>
              </a:rPr>
              <a:t>DataDriftPreset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EF3F1"/>
                </a:solidFill>
                <a:latin typeface="Consolas"/>
              </a:rPr>
              <a:t>report = Report(metrics=[DataDriftPreset(columns=[</a:t>
            </a:r>
            <a:r>
              <a:rPr sz="1350" b="0" i="0">
                <a:solidFill>
                  <a:srgbClr val="E08A52"/>
                </a:solidFill>
                <a:latin typeface="Consolas"/>
              </a:rPr>
              <a:t>"temperature", "pressure_bar"</a:t>
            </a:r>
            <a:r>
              <a:rPr sz="1350" b="0" i="0">
                <a:solidFill>
                  <a:srgbClr val="EEF3F1"/>
                </a:solidFill>
                <a:latin typeface="Consolas"/>
              </a:rPr>
              <a:t>])])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EF3F1"/>
                </a:solidFill>
                <a:latin typeface="Consolas"/>
              </a:rPr>
              <a:t>snapshot = report.run(current_data=cur_ds, reference_data=ref_ds)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468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4C6360"/>
                </a:solidFill>
                <a:latin typeface="Consolas"/>
              </a:rPr>
              <a:t>FENÊTRE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33375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4C6360"/>
                </a:solidFill>
                <a:latin typeface="Consolas"/>
              </a:rPr>
              <a:t>PSI MAISON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333756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4C6360"/>
                </a:solidFill>
                <a:latin typeface="Consolas"/>
              </a:rPr>
              <a:t>EVIDENTLY (WASSERSTEIN)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337560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4C6360"/>
                </a:solidFill>
                <a:latin typeface="Consolas"/>
              </a:rPr>
              <a:t>COLONNES EN DÉRIVE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0201F"/>
                </a:solidFill>
                <a:latin typeface="Consolas"/>
              </a:rPr>
              <a:t>1 · témoin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79476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F7A53"/>
                </a:solidFill>
                <a:latin typeface="Consolas"/>
              </a:rPr>
              <a:t>0,002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79476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F7A53"/>
                </a:solidFill>
                <a:latin typeface="Consolas"/>
              </a:rPr>
              <a:t>0,026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794760"/>
            <a:ext cx="23774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Consolas"/>
              </a:rPr>
              <a:t>0 /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61688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61688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0201F"/>
                </a:solidFill>
                <a:latin typeface="Consolas"/>
              </a:rPr>
              <a:t>2 · capteur +8°C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36168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B23A2F"/>
                </a:solidFill>
                <a:latin typeface="Consolas"/>
              </a:rPr>
              <a:t>6,834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361688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B23A2F"/>
                </a:solidFill>
                <a:latin typeface="Consolas"/>
              </a:rPr>
              <a:t>2,036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361688"/>
            <a:ext cx="23774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Consolas"/>
              </a:rPr>
              <a:t>1 /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28616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28616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0201F"/>
                </a:solidFill>
                <a:latin typeface="Consolas"/>
              </a:rPr>
              <a:t>3 · concept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92861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F7A53"/>
                </a:solidFill>
                <a:latin typeface="Consolas"/>
              </a:rPr>
              <a:t>0,002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928616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F7A53"/>
                </a:solidFill>
                <a:latin typeface="Consolas"/>
              </a:rPr>
              <a:t>0,026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928616"/>
            <a:ext cx="23774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Consolas"/>
              </a:rPr>
              <a:t>0 /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7842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C6360"/>
                </a:solidFill>
                <a:latin typeface="Segoe UI"/>
              </a:rPr>
              <a:t>Méthode auto-choisie par Evidently pour ces colonnes numériques : </a:t>
            </a:r>
            <a:r>
              <a:rPr sz="1250" b="1" i="0">
                <a:solidFill>
                  <a:srgbClr val="7C3510"/>
                </a:solidFill>
                <a:latin typeface="Segoe UI"/>
              </a:rPr>
              <a:t>distance de Wasserstein normalisée</a:t>
            </a:r>
            <a:r>
              <a:rPr sz="1250" b="0" i="0">
                <a:solidFill>
                  <a:srgbClr val="4C6360"/>
                </a:solidFill>
                <a:latin typeface="Segoe UI"/>
              </a:rPr>
              <a:t> (pas PSI, pas KS) — même verdict que le PSI maison sans partager une ligne de code.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Evidently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Ce qui est mesuré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AFFIRMATION 2 — LE MÉCANISME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Un Metric devient une alerte grâce à un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evidently.tests fournit des conditions (gt, lt, eq…) qui transforment un chiffre en verdict PASS/FAIL, avec une sévérité — c'est la brique alerte de la bibliothèque.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0881360" cy="141732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62225"/>
            <a:ext cx="10369296" cy="1058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EF3F1"/>
                </a:solidFill>
                <a:latin typeface="Consolas"/>
              </a:rPr>
              <a:t>import evidently.tests as t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EF3F1"/>
                </a:solidFill>
                <a:latin typeface="Consolas"/>
              </a:rPr>
              <a:t>ValueDrift(column=</a:t>
            </a:r>
            <a:r>
              <a:rPr sz="1350" b="0" i="0">
                <a:solidFill>
                  <a:srgbClr val="E08A52"/>
                </a:solidFill>
                <a:latin typeface="Consolas"/>
              </a:rPr>
              <a:t>"temperature"</a:t>
            </a:r>
            <a:r>
              <a:rPr sz="1350" b="0" i="0">
                <a:solidFill>
                  <a:srgbClr val="EEF3F1"/>
                </a:solidFill>
                <a:latin typeface="Consolas"/>
              </a:rPr>
              <a:t>, tests=[t.lt(0.1)])   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# alerte si drift &gt;= 0,1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2578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822191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B23A2F"/>
                </a:solidFill>
                <a:latin typeface="Bahnschrift"/>
              </a:rPr>
              <a:t>2,036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484632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84632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846320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Actual value 2.036 &gt;= 0.100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2578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2F7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22191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pressure_bar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20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2F7A53"/>
                </a:solidFill>
                <a:latin typeface="Bahnschrift"/>
              </a:rPr>
              <a:t>0,022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84632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84632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846320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Actual value 0.022 &lt; 0.100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Evidently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mécanisme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NUANCE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Un verdict FAIL n'est pas encore une alerte reçue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Le Report Evidently, seul, ne notifie personne — il produit un statut. La chaîne de livraison reste à construire, comme pour n'importe quel détecteur de dérive.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48031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480310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114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Bahnschrift"/>
              </a:rPr>
              <a:t>Evidently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ValueDrift +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statut FAIL/SUCCESS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56382" y="308610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48990" y="2286000"/>
            <a:ext cx="2480310" cy="1600200"/>
          </a:xfrm>
          <a:prstGeom prst="roundRect">
            <a:avLst>
              <a:gd name="adj" fmla="val 7000"/>
            </a:avLst>
          </a:prstGeom>
          <a:solidFill>
            <a:srgbClr val="E2EAE6"/>
          </a:solidFill>
          <a:ln w="1905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48990" y="2286000"/>
            <a:ext cx="2480310" cy="82296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1870" y="2542032"/>
            <a:ext cx="2114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Bahnschrift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870" y="3063240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export vers Prometheus,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1870" y="3355848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Evidently UI, ou webhook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6732" y="308610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49340" y="2286000"/>
            <a:ext cx="248031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49340" y="2286000"/>
            <a:ext cx="2480310" cy="82296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2542032"/>
            <a:ext cx="2114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Bahnschrift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3063240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Grafana 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2220" y="3355848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Evidently UI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57082" y="308610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49690" y="2286000"/>
            <a:ext cx="248031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49690" y="2286000"/>
            <a:ext cx="2480310" cy="82296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2570" y="2542032"/>
            <a:ext cx="2114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Bahnschrift"/>
              </a:rPr>
              <a:t>Runbook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063240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diagnostic,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355848"/>
            <a:ext cx="21145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action réversible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97680"/>
            <a:ext cx="108813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297680"/>
            <a:ext cx="82296" cy="173736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4622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9A6C0A"/>
                </a:solidFill>
                <a:latin typeface="Consolas"/>
              </a:rPr>
              <a:t>LE PARALLÈLE AVEC CE JALON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82312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C'est exactement le trou qu'on a comblé avec </a:t>
            </a:r>
            <a:r>
              <a:rPr sz="1250" b="0" i="0">
                <a:solidFill>
                  <a:srgbClr val="7C3510"/>
                </a:solidFill>
                <a:latin typeface="Consolas"/>
              </a:rPr>
              <a:t>scripts/export_drift_metrics.py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 + Prometheus + Grafana + </a:t>
            </a:r>
            <a:r>
              <a:rPr sz="1250" b="0" i="0">
                <a:solidFill>
                  <a:srgbClr val="7C3510"/>
                </a:solidFill>
                <a:latin typeface="Consolas"/>
              </a:rPr>
              <a:t>docs/runbook.md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. Evidently pourrait remplacer le calcul PSI/KS maison à l'entrée de cette chaîne, mais la chaîne elle-même (mesure → dashboard → seuil → action) reste indispensable quel que soit l'outil de détection.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Evidently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Ce qui manque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CONCRÈTEMENT, DANS CE DÉPÔT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Deux façons de brancher Evidently, sans tout réécrire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0749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074920" cy="566928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617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EF3F1"/>
                </a:solidFill>
                <a:latin typeface="Consolas"/>
              </a:rPr>
              <a:t>OPTION A — remplacer le calcul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6478"/>
                </a:solidFill>
                <a:latin typeface="Consolas"/>
              </a:rPr>
              <a:t>src/indusense/monitoring/drift.py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07208"/>
            <a:ext cx="73152" cy="73152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97480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Garder scripts/export_drift_metrics.py, Prometheus, Grafana, le runbook — tout le reste ne change pas.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03320"/>
            <a:ext cx="73152" cy="73152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593592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Remplacer seulement psi()/ks() par un Report Evidently, exporter la même métrique indusense_drift_psi.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599432"/>
            <a:ext cx="73152" cy="73152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489704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Risque : dépendance à une API encore jeune (0.7.x a déjà cassé la compatibilité avec les versions 0.4.x).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691640"/>
            <a:ext cx="50749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79" y="1691640"/>
            <a:ext cx="5074920" cy="566928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691640"/>
            <a:ext cx="4617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EF3F1"/>
                </a:solidFill>
                <a:latin typeface="Consolas"/>
              </a:rPr>
              <a:t>OPTION B — service séparé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239572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5501C"/>
                </a:solidFill>
                <a:latin typeface="Consolas"/>
              </a:rPr>
              <a:t>evidently ui / Workspace</a:t>
            </a:r>
          </a:p>
        </p:txBody>
      </p:sp>
      <p:sp>
        <p:nvSpPr>
          <p:cNvPr id="19" name="Oval 18"/>
          <p:cNvSpPr/>
          <p:nvPr/>
        </p:nvSpPr>
        <p:spPr>
          <a:xfrm>
            <a:off x="6355079" y="2807208"/>
            <a:ext cx="73152" cy="73152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697480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Lancer le service de monitoring auto-hébergé d'Evidently, qui garde l'historique des rapports dans le temps.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79" y="3703320"/>
            <a:ext cx="73152" cy="73152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593592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Dashboard et tests différents de Grafana — deux systèmes de vérité à maintenir en parallèle.</a:t>
            </a:r>
          </a:p>
        </p:txBody>
      </p:sp>
      <p:sp>
        <p:nvSpPr>
          <p:cNvPr id="23" name="Oval 22"/>
          <p:cNvSpPr/>
          <p:nvPr/>
        </p:nvSpPr>
        <p:spPr>
          <a:xfrm>
            <a:off x="6355079" y="4599432"/>
            <a:ext cx="73152" cy="73152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489704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Utile si l'équipe compare beaucoup de modèles/versions ; overkill pour un seul flux comme celui du TP.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Evidently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Options d'intégration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PREUVE, PAS DÉCLARATION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Tout ce qui précède, rejoué sur cette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0881360" cy="3977639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9305"/>
            <a:ext cx="10369296" cy="3619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from evidently import Dataset, DataDefinition, Report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from evidently.metrics import ValueDrift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import evidently.tests as 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dd = DataDefinition(numerical_columns=[</a:t>
            </a:r>
            <a:r>
              <a:rPr sz="1250" b="0" i="0">
                <a:solidFill>
                  <a:srgbClr val="E08A52"/>
                </a:solidFill>
                <a:latin typeface="Consolas"/>
              </a:rPr>
              <a:t>"temperature", "pressure_bar"</a:t>
            </a:r>
            <a:r>
              <a:rPr sz="1250" b="0" i="0">
                <a:solidFill>
                  <a:srgbClr val="EEF3F1"/>
                </a:solidFill>
                <a:latin typeface="Consolas"/>
              </a:rPr>
              <a:t>])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ref_ds = Dataset.from_pandas(reference_normale_df, data_definition=dd)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cur_ds = Dataset.from_pandas(fenetre_2_df, data_definition=dd)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report = Report(metrics=[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    ValueDrift(column=</a:t>
            </a:r>
            <a:r>
              <a:rPr sz="1250" b="0" i="0">
                <a:solidFill>
                  <a:srgbClr val="E08A52"/>
                </a:solidFill>
                <a:latin typeface="Consolas"/>
              </a:rPr>
              <a:t>"temperature"</a:t>
            </a:r>
            <a:r>
              <a:rPr sz="1250" b="0" i="0">
                <a:solidFill>
                  <a:srgbClr val="EEF3F1"/>
                </a:solidFill>
                <a:latin typeface="Consolas"/>
              </a:rPr>
              <a:t>, tests=[t.lt(0.1)]),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    ValueDrift(column=</a:t>
            </a:r>
            <a:r>
              <a:rPr sz="1250" b="0" i="0">
                <a:solidFill>
                  <a:srgbClr val="E08A52"/>
                </a:solidFill>
                <a:latin typeface="Consolas"/>
              </a:rPr>
              <a:t>"pressure_bar"</a:t>
            </a:r>
            <a:r>
              <a:rPr sz="1250" b="0" i="0">
                <a:solidFill>
                  <a:srgbClr val="EEF3F1"/>
                </a:solidFill>
                <a:latin typeface="Consolas"/>
              </a:rPr>
              <a:t>, tests=[t.lt(0.1)]),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], include_tests=True)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snapshot = report.run(current_data=cur_ds, reference_data=ref_ds)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EF3F1"/>
                </a:solidFill>
                <a:latin typeface="Consolas"/>
              </a:rPr>
              <a:t>snapshot.save_html(</a:t>
            </a:r>
            <a:r>
              <a:rPr sz="1250" b="0" i="0">
                <a:solidFill>
                  <a:srgbClr val="E08A52"/>
                </a:solidFill>
                <a:latin typeface="Consolas"/>
              </a:rPr>
              <a:t>"evidently-rapport-fenetre2.html"</a:t>
            </a:r>
            <a:r>
              <a:rPr sz="1250" b="0" i="0">
                <a:solidFill>
                  <a:srgbClr val="EEF3F1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C3510"/>
                </a:solidFill>
                <a:latin typeface="Consolas"/>
              </a:rPr>
              <a:t>→ commit 85baaa0</a:t>
            </a:r>
            <a:r>
              <a:rPr sz="1300" b="0" i="0">
                <a:solidFill>
                  <a:srgbClr val="4C6360"/>
                </a:solidFill>
                <a:latin typeface="Segoe UI"/>
              </a:rPr>
              <a:t>  docs(jalon10): rapport Evidently généré sur la fenêtre 2 (contre-vérification PSI)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Evidently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 rejouable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DDE9EB"/>
                </a:solidFill>
                <a:latin typeface="Consola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EEF3F1"/>
                </a:solidFill>
                <a:latin typeface="Bahnschrift"/>
              </a:rPr>
              <a:t>Evidently AI,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DDE9EB"/>
                </a:solidFill>
                <a:latin typeface="Segoe UI"/>
              </a:rPr>
              <a:t>Une bibliothèque qui mesure la dérive et peut la juger (Tests) — mais qui ne livre pas l'alerte toute seule : la chaîne détection → dashboard → seuil → action reste à construire.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71215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EF3F1"/>
                </a:solidFill>
                <a:latin typeface="Segoe UI"/>
              </a:rPr>
              <a:t>Vérifié : github.com/evidentlyai/evidently, package evidently==0.7.21, jamais appelé en code avant ce test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93008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EF3F1"/>
                </a:solidFill>
                <a:latin typeface="Segoe UI"/>
              </a:rPr>
              <a:t>DataDriftPreset confirme le PSI maison sur la fenêtre 2 avec une méthode indépendante (Wasserstein)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0507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EF3F1"/>
                </a:solidFill>
                <a:latin typeface="Segoe UI"/>
              </a:rPr>
              <a:t>evidently.tests (gt/lt/eq) transforme un chiffre en verdict PASS/FAIL — c'est le mécanisme d'alerte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36592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2686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EF3F1"/>
                </a:solidFill>
                <a:latin typeface="Segoe UI"/>
              </a:rPr>
              <a:t>Ce que la brique de la feuille de route ne dit pas : Evidently seul ne notifie personne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358383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48655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EF3F1"/>
                </a:solidFill>
                <a:latin typeface="Segoe UI"/>
              </a:rPr>
              <a:t>Le schéma détection → export → dashboard → runbook reste nécessaire, avec ou sans Evidently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Jalon 10 · Evidently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evidently-rapport-fenetre2.html · commit 85baaa0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