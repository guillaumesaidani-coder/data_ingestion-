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841248"/>
            <a:ext cx="109728" cy="109728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60">
                <a:solidFill>
                  <a:srgbClr val="4C6360"/>
                </a:solidFill>
                <a:latin typeface="Consolas"/>
              </a:rPr>
              <a:t>JALON 10 · MODULES 33–34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200" b="1" i="0">
                <a:solidFill>
                  <a:srgbClr val="10201F"/>
                </a:solidFill>
                <a:latin typeface="Bahnschrift"/>
              </a:rPr>
              <a:t>Prometheus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06324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4C6360"/>
                </a:solidFill>
                <a:latin typeface="Segoe UI"/>
              </a:rPr>
              <a:t>Le collecteur de métriques qui rend la dérive InduSense visible — de l'aiguille du capteur jusqu'au runbook.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4340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49884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RÔLE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773168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Base de données de séries temporelles, modèle pull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34340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449884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DANS CE JALON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4773168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2 cibles scrapées : API InduSense + exporteur dérive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4343400"/>
            <a:ext cx="3383279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49884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00">
                <a:solidFill>
                  <a:srgbClr val="1F6478"/>
                </a:solidFill>
                <a:latin typeface="Consolas"/>
              </a:rPr>
              <a:t>EN AVAL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4773168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0201F"/>
                </a:solidFill>
                <a:latin typeface="Segoe UI"/>
              </a:rPr>
              <a:t>Dashboard Grafana, seuils d'alerte, runbook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Parcours CISIA — Sprint 3 — J5 après-midi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Prometheus &amp; Observabilité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POURQUOI PROMETHEUS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0201F"/>
                </a:solidFill>
                <a:latin typeface="Bahnschrift"/>
              </a:rPr>
              <a:t>Un modèle qui dérive en silence coûte 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4C6360"/>
                </a:solidFill>
                <a:latin typeface="Segoe UI"/>
              </a:rPr>
              <a:t>Le TP drift (m31–32) sait calculer le PSI. Sans Prometheus, ce calcul reste une commande qu'on pense à relancer — pas un signal qui existe en continu.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5074920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548640" y="2148840"/>
            <a:ext cx="5074920" cy="566928"/>
          </a:xfrm>
          <a:prstGeom prst="round2SameRect">
            <a:avLst/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4526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 spc="80">
                <a:solidFill>
                  <a:srgbClr val="B23A2F"/>
                </a:solidFill>
                <a:latin typeface="Consolas"/>
              </a:rPr>
              <a:t>SANS OBSERVABILITÉ</a:t>
            </a:r>
          </a:p>
        </p:txBody>
      </p:sp>
      <p:sp>
        <p:nvSpPr>
          <p:cNvPr id="9" name="Oval 8"/>
          <p:cNvSpPr/>
          <p:nvPr/>
        </p:nvSpPr>
        <p:spPr>
          <a:xfrm>
            <a:off x="822959" y="2999232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871216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Le PSI se calcule à la main, à intervalles oubliés</a:t>
            </a:r>
          </a:p>
        </p:txBody>
      </p:sp>
      <p:sp>
        <p:nvSpPr>
          <p:cNvPr id="11" name="Oval 10"/>
          <p:cNvSpPr/>
          <p:nvPr/>
        </p:nvSpPr>
        <p:spPr>
          <a:xfrm>
            <a:off x="822959" y="3749040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21024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Un capteur qui dérive (fenêtre 2 : PSI 6,8) passe inaperçu des jours</a:t>
            </a:r>
          </a:p>
        </p:txBody>
      </p:sp>
      <p:sp>
        <p:nvSpPr>
          <p:cNvPr id="13" name="Oval 12"/>
          <p:cNvSpPr/>
          <p:nvPr/>
        </p:nvSpPr>
        <p:spPr>
          <a:xfrm>
            <a:off x="822959" y="4498848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370832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L'incident se découvre à la panne réelle, pas à la dérive</a:t>
            </a:r>
          </a:p>
        </p:txBody>
      </p:sp>
      <p:sp>
        <p:nvSpPr>
          <p:cNvPr id="15" name="Oval 14"/>
          <p:cNvSpPr/>
          <p:nvPr/>
        </p:nvSpPr>
        <p:spPr>
          <a:xfrm>
            <a:off x="822959" y="5248656"/>
            <a:ext cx="82296" cy="82296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20640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Aucune preuve horodatée à montrer en runbook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2148840"/>
            <a:ext cx="5074920" cy="3794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6126479" y="2148840"/>
            <a:ext cx="5074920" cy="566928"/>
          </a:xfrm>
          <a:prstGeom prst="round2SameRect">
            <a:avLst/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799" y="2148840"/>
            <a:ext cx="4526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 spc="80">
                <a:solidFill>
                  <a:srgbClr val="2F7A53"/>
                </a:solidFill>
                <a:latin typeface="Consolas"/>
              </a:rPr>
              <a:t>AVEC PROMETHEUS</a:t>
            </a:r>
          </a:p>
        </p:txBody>
      </p:sp>
      <p:sp>
        <p:nvSpPr>
          <p:cNvPr id="20" name="Oval 19"/>
          <p:cNvSpPr/>
          <p:nvPr/>
        </p:nvSpPr>
        <p:spPr>
          <a:xfrm>
            <a:off x="6400799" y="2999232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399" y="2871216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L'exporteur publie le PSI en continu sur /metrics</a:t>
            </a:r>
          </a:p>
        </p:txBody>
      </p:sp>
      <p:sp>
        <p:nvSpPr>
          <p:cNvPr id="22" name="Oval 21"/>
          <p:cNvSpPr/>
          <p:nvPr/>
        </p:nvSpPr>
        <p:spPr>
          <a:xfrm>
            <a:off x="6400799" y="3749040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399" y="3621024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Prometheus l'échantillonne toutes les 15 s, sans intervention</a:t>
            </a:r>
          </a:p>
        </p:txBody>
      </p:sp>
      <p:sp>
        <p:nvSpPr>
          <p:cNvPr id="24" name="Oval 23"/>
          <p:cNvSpPr/>
          <p:nvPr/>
        </p:nvSpPr>
        <p:spPr>
          <a:xfrm>
            <a:off x="6400799" y="4498848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399" y="4370832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Un seuil (PSI &gt; 0,25) devient une alerte, pas une relecture manuelle</a:t>
            </a:r>
          </a:p>
        </p:txBody>
      </p:sp>
      <p:sp>
        <p:nvSpPr>
          <p:cNvPr id="26" name="Oval 25"/>
          <p:cNvSpPr/>
          <p:nvPr/>
        </p:nvSpPr>
        <p:spPr>
          <a:xfrm>
            <a:off x="6400799" y="5248656"/>
            <a:ext cx="82296" cy="82296"/>
          </a:xfrm>
          <a:prstGeom prst="ellipse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399" y="5120640"/>
            <a:ext cx="4297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0201F"/>
                </a:solidFill>
                <a:latin typeface="Segoe UI"/>
              </a:rPr>
              <a:t>Chaque valeur est horodatée et interrogeable après coup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Prometheus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Le problème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FONCTION N°1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Il va chercher la donnée — elle ne lui est pas envoyée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4C6360"/>
                </a:solidFill>
                <a:latin typeface="Segoe UI"/>
              </a:rPr>
              <a:t>Modèle PULL : à intervalle fixe, Prometheus interroge lui-même chaque cible sur un endpoint HTTP texte, /metrics.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0201F"/>
                </a:solidFill>
                <a:latin typeface="Consolas"/>
              </a:rPr>
              <a:t>indusense-api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C6360"/>
                </a:solidFill>
                <a:latin typeface="Consolas"/>
              </a:rPr>
              <a:t>api:8000/metrics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39"/>
            <a:ext cx="2834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1148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0201F"/>
                </a:solidFill>
                <a:latin typeface="Consolas"/>
              </a:rPr>
              <a:t>indusense-drift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43484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C6360"/>
                </a:solidFill>
                <a:latin typeface="Consolas"/>
              </a:rPr>
              <a:t>host.docker.internal:9109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063240"/>
            <a:ext cx="3200400" cy="1417320"/>
          </a:xfrm>
          <a:prstGeom prst="roundRect">
            <a:avLst>
              <a:gd name="adj" fmla="val 70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3246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 spc="60">
                <a:solidFill>
                  <a:srgbClr val="EEF3F1"/>
                </a:solidFill>
                <a:latin typeface="Consolas"/>
              </a:rPr>
              <a:t>PROMETHEUS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3611880"/>
            <a:ext cx="2743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DE9EB"/>
                </a:solidFill>
                <a:latin typeface="Segoe UI"/>
              </a:rPr>
              <a:t>scrape 15 s → TSDB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C6360"/>
                </a:solidFill>
                <a:latin typeface="Consolas"/>
              </a:rPr>
              <a:t>port 9090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2990088"/>
            <a:ext cx="1737360" cy="576072"/>
          </a:xfrm>
          <a:prstGeom prst="line">
            <a:avLst/>
          </a:prstGeom>
          <a:ln w="28575">
            <a:solidFill>
              <a:srgbClr val="1F64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657600" y="3931920"/>
            <a:ext cx="1737360" cy="566928"/>
          </a:xfrm>
          <a:prstGeom prst="line">
            <a:avLst/>
          </a:prstGeom>
          <a:ln w="28575">
            <a:solidFill>
              <a:srgbClr val="B550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3063240"/>
            <a:ext cx="24688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3246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0201F"/>
                </a:solidFill>
                <a:latin typeface="Bahnschrift"/>
              </a:rPr>
              <a:t>Grafana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3611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C6360"/>
                </a:solidFill>
                <a:latin typeface="Segoe UI"/>
              </a:rPr>
              <a:t>lit via PromQL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0" y="3767328"/>
            <a:ext cx="548640" cy="0"/>
          </a:xfrm>
          <a:prstGeom prst="line">
            <a:avLst/>
          </a:prstGeom>
          <a:ln w="25400">
            <a:solidFill>
              <a:srgbClr val="1020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5623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7C3510"/>
                </a:solidFill>
                <a:latin typeface="Segoe UI"/>
              </a:rPr>
              <a:t>Pourquoi pas du push ? </a:t>
            </a:r>
            <a:r>
              <a:rPr sz="1300" b="0" i="0">
                <a:solidFill>
                  <a:srgbClr val="4C6360"/>
                </a:solidFill>
                <a:latin typeface="Segoe UI"/>
              </a:rPr>
              <a:t>Prometheus sait tout de suite qu'une cible ne répond plus (scrape en échec) — avec du push, un exportateur silencieux ressemble à un exportateur sans problème.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Prometheus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Modèle pull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FONCTION N°2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Une métrique : un nom, des labels, une valeur, une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881360" cy="118872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96465"/>
            <a:ext cx="10369296" cy="8302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DDE9EB"/>
                </a:solidFill>
                <a:latin typeface="Consolas"/>
              </a:rPr>
              <a:t>indusense_drift_psi</a:t>
            </a:r>
            <a:r>
              <a:rPr sz="2200" b="0" i="0">
                <a:solidFill>
                  <a:srgbClr val="EEF3F1"/>
                </a:solidFill>
                <a:latin typeface="Consolas"/>
              </a:rPr>
              <a:t>{</a:t>
            </a:r>
            <a:r>
              <a:rPr sz="2200" b="0" i="0">
                <a:solidFill>
                  <a:srgbClr val="FFF8F3"/>
                </a:solidFill>
                <a:latin typeface="Consolas"/>
              </a:rPr>
              <a:t>feature="temperature"</a:t>
            </a:r>
            <a:r>
              <a:rPr sz="2200" b="0" i="0">
                <a:solidFill>
                  <a:srgbClr val="EEF3F1"/>
                </a:solidFill>
                <a:latin typeface="Consolas"/>
              </a:rPr>
              <a:t>, </a:t>
            </a:r>
            <a:r>
              <a:rPr sz="2200" b="0" i="0">
                <a:solidFill>
                  <a:srgbClr val="FFF8F3"/>
                </a:solidFill>
                <a:latin typeface="Consolas"/>
              </a:rPr>
              <a:t>fenetre="2"</a:t>
            </a:r>
            <a:r>
              <a:rPr sz="2200" b="0" i="0">
                <a:solidFill>
                  <a:srgbClr val="EEF3F1"/>
                </a:solidFill>
                <a:latin typeface="Consolas"/>
              </a:rPr>
              <a:t>} </a:t>
            </a:r>
            <a:r>
              <a:rPr sz="2200" b="1" i="0">
                <a:solidFill>
                  <a:srgbClr val="E08A52"/>
                </a:solidFill>
                <a:latin typeface="Consolas"/>
              </a:rPr>
              <a:t>6.834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46120"/>
            <a:ext cx="128016" cy="128016"/>
          </a:xfrm>
          <a:prstGeom prst="ellipse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1363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0201F"/>
                </a:solidFill>
                <a:latin typeface="Consolas"/>
              </a:rPr>
              <a:t>nom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136391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4C6360"/>
                </a:solidFill>
                <a:latin typeface="Segoe UI"/>
              </a:rPr>
              <a:t>quoi : le PSI de la fenêtre courante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03320"/>
            <a:ext cx="128016" cy="128016"/>
          </a:xfrm>
          <a:prstGeom prst="ellipse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5935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0201F"/>
                </a:solidFill>
                <a:latin typeface="Consolas"/>
              </a:rPr>
              <a:t>labels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593591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4C6360"/>
                </a:solidFill>
                <a:latin typeface="Segoe UI"/>
              </a:rPr>
              <a:t>qui / où : capteur température, fenêtre 2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160520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050791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0201F"/>
                </a:solidFill>
                <a:latin typeface="Consolas"/>
              </a:rPr>
              <a:t>valeur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050791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4C6360"/>
                </a:solidFill>
                <a:latin typeface="Segoe UI"/>
              </a:rPr>
              <a:t>combien : très au-dessus du seuil (0,25)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100">
                <a:solidFill>
                  <a:srgbClr val="1F6478"/>
                </a:solidFill>
                <a:latin typeface="Consolas"/>
              </a:rPr>
              <a:t>QUATRE TYPES, DEUX UTILISÉS DANS CE JALON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16636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" y="5303520"/>
            <a:ext cx="2185416" cy="256032"/>
          </a:xfrm>
          <a:prstGeom prst="roundRect">
            <a:avLst>
              <a:gd name="adj" fmla="val 300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303520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F7A53"/>
                </a:solidFill>
                <a:latin typeface="Consolas"/>
              </a:rPr>
              <a:t>counter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623560"/>
            <a:ext cx="2185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0201F"/>
                </a:solidFill>
                <a:latin typeface="Segoe UI"/>
              </a:rPr>
              <a:t>ne fait qu'augmenter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989320"/>
            <a:ext cx="2185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4C6360"/>
                </a:solidFill>
                <a:latin typeface="Consolas"/>
              </a:rPr>
              <a:t>http_requests_total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516636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02152" y="5303520"/>
            <a:ext cx="2185416" cy="256032"/>
          </a:xfrm>
          <a:prstGeom prst="roundRect">
            <a:avLst>
              <a:gd name="adj" fmla="val 300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2152" y="5303520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2F7A53"/>
                </a:solidFill>
                <a:latin typeface="Consolas"/>
              </a:rPr>
              <a:t>gauge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2152" y="5623560"/>
            <a:ext cx="2185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0201F"/>
                </a:solidFill>
                <a:latin typeface="Segoe UI"/>
              </a:rPr>
              <a:t>monte et descend librement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2152" y="5989320"/>
            <a:ext cx="2185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4C6360"/>
                </a:solidFill>
                <a:latin typeface="Consolas"/>
              </a:rPr>
              <a:t>indusense_drift_psi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79" y="516636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91071" y="5303520"/>
            <a:ext cx="2185416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91071" y="5303520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histogram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91071" y="5623560"/>
            <a:ext cx="2185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0201F"/>
                </a:solidFill>
                <a:latin typeface="Segoe UI"/>
              </a:rPr>
              <a:t>répartit en buckets de latence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1" y="5989320"/>
            <a:ext cx="2185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4C6360"/>
                </a:solidFill>
                <a:latin typeface="Consolas"/>
              </a:rPr>
              <a:t>…duration_seconds_bucket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5399" y="5166360"/>
            <a:ext cx="25146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79991" y="5303520"/>
            <a:ext cx="2185416" cy="256032"/>
          </a:xfrm>
          <a:prstGeom prst="roundRect">
            <a:avLst>
              <a:gd name="adj" fmla="val 30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9991" y="5303520"/>
            <a:ext cx="218541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4C6360"/>
                </a:solidFill>
                <a:latin typeface="Consolas"/>
              </a:rPr>
              <a:t>summary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1" y="5623560"/>
            <a:ext cx="218541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0201F"/>
                </a:solidFill>
                <a:latin typeface="Segoe UI"/>
              </a:rPr>
              <a:t>quantiles côté client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1" y="5989320"/>
            <a:ext cx="2185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4C6360"/>
                </a:solidFill>
                <a:latin typeface="Consolas"/>
              </a:rPr>
              <a:t>(non utilisé ici)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Prometheus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Anatomie d'une métrique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FONCTION N°3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PromQL : interroger l'historique, pas relire un fichier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4C6360"/>
                </a:solidFill>
                <a:latin typeface="Segoe UI"/>
              </a:rPr>
              <a:t>Les trois requêtes du SLO M33 (docs/slo.md), testées en réel sur la stack du jalon.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82296" cy="123444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Disponibilité /predict-*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9966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C3510"/>
                </a:solidFill>
                <a:latin typeface="Consolas"/>
              </a:rPr>
              <a:t>sum(rate(http_requests_total{status!~"5.."}[30d]))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C3510"/>
                </a:solidFill>
                <a:latin typeface="Consolas"/>
              </a:rPr>
              <a:t>  / sum(rate(http_requests_total[30d]))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566160"/>
            <a:ext cx="82296" cy="123444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Latence p95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9966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C3510"/>
                </a:solidFill>
                <a:latin typeface="Consolas"/>
              </a:rPr>
              <a:t>histogram_quantile(0.95,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C3510"/>
                </a:solidFill>
                <a:latin typeface="Consolas"/>
              </a:rPr>
              <a:t>  rate(http_request_duration_seconds_bucket[5m]))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8348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4983480"/>
            <a:ext cx="82296" cy="123444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0201F"/>
                </a:solidFill>
                <a:latin typeface="Segoe UI"/>
              </a:rPr>
              <a:t>Dérive température (jalon 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86400"/>
            <a:ext cx="9966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C3510"/>
                </a:solidFill>
                <a:latin typeface="Consolas"/>
              </a:rPr>
              <a:t>indusense_drift_psi{feature="temperature"}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7C3510"/>
                </a:solidFill>
                <a:latin typeface="Consolas"/>
              </a:rPr>
              <a:t>  &gt; 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Prometheus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PromQL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0201F"/>
                </a:solidFill>
                <a:latin typeface="Bahnschrift"/>
              </a:rPr>
              <a:t>De la cible scrapée à l'alerte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9202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1920240" cy="82296"/>
          </a:xfrm>
          <a:prstGeom prst="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0201F"/>
                </a:solidFill>
                <a:latin typeface="Bahnschrift"/>
              </a:rPr>
              <a:t>Cibles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api:8000/metrics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host.docker.internal:9109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96312" y="3337560"/>
            <a:ext cx="26517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88920" y="2377440"/>
            <a:ext cx="1920240" cy="1920240"/>
          </a:xfrm>
          <a:prstGeom prst="roundRect">
            <a:avLst>
              <a:gd name="adj" fmla="val 70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2377440"/>
            <a:ext cx="1920240" cy="82296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6517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EF3F1"/>
                </a:solidFill>
                <a:latin typeface="Bahnschrift"/>
              </a:rPr>
              <a:t>Prometheus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15468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DE9EB"/>
                </a:solidFill>
                <a:latin typeface="Consolas"/>
              </a:rPr>
              <a:t>scrape 15s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52044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DE9EB"/>
                </a:solidFill>
                <a:latin typeface="Consolas"/>
              </a:rPr>
              <a:t>TSDB + règles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36592" y="3337560"/>
            <a:ext cx="26517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0" y="2377440"/>
            <a:ext cx="19202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2377440"/>
            <a:ext cx="1920240" cy="82296"/>
          </a:xfrm>
          <a:prstGeom prst="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6517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0201F"/>
                </a:solidFill>
                <a:latin typeface="Bahnschrift"/>
              </a:rPr>
              <a:t>PromQL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5468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agrégation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52044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seuils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76872" y="3337560"/>
            <a:ext cx="265175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69480" y="2377440"/>
            <a:ext cx="19202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69480" y="2377440"/>
            <a:ext cx="1920240" cy="82296"/>
          </a:xfrm>
          <a:prstGeom prst="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26517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0201F"/>
                </a:solidFill>
                <a:latin typeface="Bahnschrift"/>
              </a:rPr>
              <a:t>Grafana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15468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6 panneaux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52044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dashboard dérive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17152" y="3337560"/>
            <a:ext cx="26517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09760" y="2377440"/>
            <a:ext cx="19202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09760" y="2377440"/>
            <a:ext cx="1920240" cy="82296"/>
          </a:xfrm>
          <a:prstGeom prst="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0" y="2651760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0201F"/>
                </a:solidFill>
                <a:latin typeface="Bahnschrift"/>
              </a:rPr>
              <a:t>Runbook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15468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diagnostic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52044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C6360"/>
                </a:solidFill>
                <a:latin typeface="Consolas"/>
              </a:rPr>
              <a:t>action réversible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709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7C3510"/>
                </a:solidFill>
                <a:latin typeface="Consolas"/>
              </a:rPr>
              <a:t>monitoring/prometheus.yml</a:t>
            </a:r>
            <a:r>
              <a:rPr sz="1350" b="0" i="0">
                <a:solidFill>
                  <a:srgbClr val="4C6360"/>
                </a:solidFill>
                <a:latin typeface="Segoe UI"/>
              </a:rPr>
              <a:t>  déclare les deux jobs ci-dessus ; </a:t>
            </a:r>
            <a:r>
              <a:rPr sz="1350" b="1" i="0">
                <a:solidFill>
                  <a:srgbClr val="7C3510"/>
                </a:solidFill>
                <a:latin typeface="Consolas"/>
              </a:rPr>
              <a:t>monitoring/grafana/provisioning/</a:t>
            </a:r>
            <a:r>
              <a:rPr sz="1350" b="0" i="0">
                <a:solidFill>
                  <a:srgbClr val="4C6360"/>
                </a:solidFill>
                <a:latin typeface="Segoe UI"/>
              </a:rPr>
              <a:t> provisionne le dashboard sans clic manuel.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Prometheus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CONCRÈTEMENT, DANS CE DÉPÔT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monitoring/prometheus.yml — deux jobs, deux origines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881360" cy="265176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96465"/>
            <a:ext cx="10369296" cy="2293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DDE9EB"/>
                </a:solidFill>
                <a:latin typeface="Consolas"/>
              </a:rPr>
              <a:t>scrape_configs: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EEF3F1"/>
                </a:solidFill>
                <a:latin typeface="Consolas"/>
              </a:rPr>
              <a:t>  - job_name: </a:t>
            </a:r>
            <a:r>
              <a:rPr sz="1600" b="1" i="0">
                <a:solidFill>
                  <a:srgbClr val="FFF8F3"/>
                </a:solidFill>
                <a:latin typeface="Consolas"/>
              </a:rPr>
              <a:t>indusense-api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EEF3F1"/>
                </a:solidFill>
                <a:latin typeface="Consolas"/>
              </a:rPr>
              <a:t>    static_configs: [targets: </a:t>
            </a:r>
            <a:r>
              <a:rPr sz="1600" b="0" i="0">
                <a:solidFill>
                  <a:srgbClr val="E08A52"/>
                </a:solidFill>
                <a:latin typeface="Consolas"/>
              </a:rPr>
              <a:t>["api:8000"]</a:t>
            </a:r>
            <a:r>
              <a:rPr sz="1600" b="0" i="0">
                <a:solidFill>
                  <a:srgbClr val="EEF3F1"/>
                </a:solidFill>
                <a:latin typeface="Consolas"/>
              </a:rPr>
              <a:t>]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EEF3F1"/>
                </a:solidFill>
                <a:latin typeface="Consolas"/>
              </a:rPr>
              <a:t>  - job_name: </a:t>
            </a:r>
            <a:r>
              <a:rPr sz="1600" b="1" i="0">
                <a:solidFill>
                  <a:srgbClr val="FFF8F3"/>
                </a:solidFill>
                <a:latin typeface="Consolas"/>
              </a:rPr>
              <a:t>indusense-drift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EEF3F1"/>
                </a:solidFill>
                <a:latin typeface="Consolas"/>
              </a:rPr>
              <a:t>    static_configs: [targets: </a:t>
            </a:r>
            <a:r>
              <a:rPr sz="1600" b="0" i="0">
                <a:solidFill>
                  <a:srgbClr val="E08A52"/>
                </a:solidFill>
                <a:latin typeface="Consolas"/>
              </a:rPr>
              <a:t>["host.docker.internal:9109"]</a:t>
            </a:r>
            <a:r>
              <a:rPr sz="1600" b="0" i="0">
                <a:solidFill>
                  <a:srgbClr val="EEF3F1"/>
                </a:solidFill>
                <a:latin typeface="Consolas"/>
              </a:rPr>
              <a:t>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50749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82296" cy="169164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773168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0201F"/>
                </a:solidFill>
                <a:latin typeface="Consolas"/>
              </a:rPr>
              <a:t>indusense-api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07492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1F6478"/>
                </a:solidFill>
                <a:latin typeface="Consolas"/>
              </a:rPr>
              <a:t>M28 · dans le réseau Compose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53949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C6360"/>
                </a:solidFill>
                <a:latin typeface="Segoe UI"/>
              </a:rPr>
              <a:t>Exposée par prometheus-fastapi-instrumentator, déjà branchée sur l'API. Cible jointe par son nom de service Docker : api:8000.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4617720"/>
            <a:ext cx="507492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79" y="4617720"/>
            <a:ext cx="82296" cy="1691640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99" y="4773168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0201F"/>
                </a:solidFill>
                <a:latin typeface="Consolas"/>
              </a:rPr>
              <a:t>indusense-drift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507492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B5501C"/>
                </a:solidFill>
                <a:latin typeface="Consolas"/>
              </a:rPr>
              <a:t>M31–33 · sur l'hôte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539496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C6360"/>
                </a:solidFill>
                <a:latin typeface="Segoe UI"/>
              </a:rPr>
              <a:t>L'exporteur du TP (scripts/export_drift_metrics.py) tourne hors conteneur. host.docker.internal + extra_hosts (compose.yaml) l'exposent depuis Prometheus.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Prometheus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Config réelle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PREUVE, PAS DÉCLARATION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10201F"/>
                </a:solidFill>
                <a:latin typeface="Bahnschrift"/>
              </a:rPr>
              <a:t>Vérifié sur la stack réellement lancée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38327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60">
                <a:solidFill>
                  <a:srgbClr val="4C6360"/>
                </a:solidFill>
                <a:latin typeface="Consolas"/>
              </a:rPr>
              <a:t>CIBLES PROMETHEUS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2F7A53"/>
                </a:solidFill>
                <a:latin typeface="Bahnschrift"/>
              </a:rPr>
              <a:t>2 /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indusense-api et indusense-drift, GET /api/v1/targets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91640"/>
            <a:ext cx="338327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874519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60">
                <a:solidFill>
                  <a:srgbClr val="4C6360"/>
                </a:solidFill>
                <a:latin typeface="Consolas"/>
              </a:rPr>
              <a:t>PSI TEMPÉRATURE · F.2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19456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B5501C"/>
                </a:solidFill>
                <a:latin typeface="Bahnschrift"/>
              </a:rPr>
              <a:t>6,834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97180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01C"/>
                </a:solidFill>
                <a:latin typeface="Consolas"/>
              </a:rPr>
              <a:t>&gt; seuil 0,25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33756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vs référence normale — capteur, pas modèle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691640"/>
            <a:ext cx="338327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874519"/>
            <a:ext cx="29260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60">
                <a:solidFill>
                  <a:srgbClr val="4C6360"/>
                </a:solidFill>
                <a:latin typeface="Consolas"/>
              </a:rPr>
              <a:t>PANNEAUX GRAFANA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194560"/>
            <a:ext cx="29260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 i="0">
                <a:solidFill>
                  <a:srgbClr val="1F6478"/>
                </a:solidFill>
                <a:latin typeface="Bahnschrift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971800"/>
            <a:ext cx="2926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provisionnés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337560"/>
            <a:ext cx="2926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dashboard InduSense — dérive &amp; métriques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51960"/>
            <a:ext cx="10881360" cy="201168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4471416"/>
            <a:ext cx="1033272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DDE9EB"/>
                </a:solidFill>
                <a:latin typeface="Consolas"/>
              </a:rPr>
              <a:t>$ </a:t>
            </a:r>
            <a:r>
              <a:rPr sz="1400" b="0" i="0">
                <a:solidFill>
                  <a:srgbClr val="EEF3F1"/>
                </a:solidFill>
                <a:latin typeface="Consolas"/>
              </a:rPr>
              <a:t>curl -fsS http://127.0.0.1:9090/api/v1/query --data-urlencode 'query=indusense_drift_psi'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C6360"/>
                </a:solidFill>
                <a:latin typeface="Consolas"/>
              </a:rPr>
              <a:t>{feature="temperature", fenetre="2", reference="normale"} </a:t>
            </a:r>
            <a:r>
              <a:rPr sz="1400" b="1" i="0">
                <a:solidFill>
                  <a:srgbClr val="E08A52"/>
                </a:solidFill>
                <a:latin typeface="Consolas"/>
              </a:rPr>
              <a:t>6.834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DDE9EB"/>
                </a:solidFill>
                <a:latin typeface="Consolas"/>
              </a:rPr>
              <a:t>$ </a:t>
            </a:r>
            <a:r>
              <a:rPr sz="1400" b="0" i="0">
                <a:solidFill>
                  <a:srgbClr val="EEF3F1"/>
                </a:solidFill>
                <a:latin typeface="Consolas"/>
              </a:rPr>
              <a:t>uv run pytest tests/test_drift_monitoring.py -q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E3F1E7"/>
                </a:solidFill>
                <a:latin typeface="Consolas"/>
              </a:rPr>
              <a:t>8 passed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Prometheus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Preuve mesurée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INTERROGÉ EN DIRECT, CE JOUR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Une table de chiffres — qu'est-ce que ça apporte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4C6360"/>
                </a:solidFill>
                <a:latin typeface="Segoe UI"/>
              </a:rPr>
              <a:t>Résultat réel de indusense_drift_psi dans l'UI Prometheus (Table, 12 séries) — trois lignes suffisent à voir ce que ce chiffre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623560" cy="3063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5623560" cy="457200"/>
          </a:xfrm>
          <a:prstGeom prst="roundRect">
            <a:avLst/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200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01F"/>
                </a:solidFill>
                <a:latin typeface="Consolas"/>
              </a:rPr>
              <a:t>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103120"/>
            <a:ext cx="2148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Result series: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5623560" cy="18288"/>
          </a:xfrm>
          <a:prstGeom prst="rect">
            <a:avLst/>
          </a:prstGeom>
          <a:solidFill>
            <a:srgbClr val="C3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88336"/>
            <a:ext cx="3886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0201F"/>
                </a:solidFill>
                <a:latin typeface="Consolas"/>
              </a:rPr>
              <a:t>feature="temperature", fenetre="2", reference="normale"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60320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700" b="1" i="0">
                <a:solidFill>
                  <a:srgbClr val="B23A2F"/>
                </a:solidFill>
                <a:latin typeface="Consolas"/>
              </a:rPr>
              <a:t>6.8338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5623560" cy="18288"/>
          </a:xfrm>
          <a:prstGeom prst="rect">
            <a:avLst/>
          </a:prstGeom>
          <a:solidFill>
            <a:srgbClr val="C3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57016"/>
            <a:ext cx="3886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0201F"/>
                </a:solidFill>
                <a:latin typeface="Consolas"/>
              </a:rPr>
              <a:t>feature="pressure_bar", fenetre="2", reference="normale"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429000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700" b="1" i="0">
                <a:solidFill>
                  <a:srgbClr val="2F7A53"/>
                </a:solidFill>
                <a:latin typeface="Consolas"/>
              </a:rPr>
              <a:t>0.0252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5623560" cy="18288"/>
          </a:xfrm>
          <a:prstGeom prst="rect">
            <a:avLst/>
          </a:prstGeom>
          <a:solidFill>
            <a:srgbClr val="C3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425696"/>
            <a:ext cx="3886200" cy="6126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0201F"/>
                </a:solidFill>
                <a:latin typeface="Consolas"/>
              </a:rPr>
              <a:t>feature="temperature", fenetre="1", reference="normale"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297680"/>
            <a:ext cx="1188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700" b="1" i="0">
                <a:solidFill>
                  <a:srgbClr val="2F7A53"/>
                </a:solidFill>
                <a:latin typeface="Consolas"/>
              </a:rPr>
              <a:t>0.0022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103120"/>
            <a:ext cx="49834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103120"/>
            <a:ext cx="73152" cy="987552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2221991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Un signal continu, pas une commande ponctuelle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2532887"/>
            <a:ext cx="45262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Segoe UI"/>
              </a:rPr>
              <a:t>Chaque valeur est horodatée dans Prometheus dès que l'exporteur tourne — plus besoin de relancer evaluate_drift.py et de rouvrir un CSV pour savoir où on en est.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3209544"/>
            <a:ext cx="49834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46520" y="3209544"/>
            <a:ext cx="73152" cy="987552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3328415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Le diagnostic capteur vs modèle, d'un coup d'œil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3639311"/>
            <a:ext cx="45262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Segoe UI"/>
              </a:rPr>
              <a:t>temperature à 6,83 (bien au-dessus du seuil 0,25) alors que pressure_bar reste à 0,025 : seul le capteur dérive — exactement le cas « capteur menteur » du runbook.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4315968"/>
            <a:ext cx="4983480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46520" y="4315968"/>
            <a:ext cx="73152" cy="987552"/>
          </a:xfrm>
          <a:prstGeom prst="roundRect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4434840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0201F"/>
                </a:solidFill>
                <a:latin typeface="Segoe UI"/>
              </a:rPr>
              <a:t>La même série alimente dashboard et alerte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4745736"/>
            <a:ext cx="452628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4C6360"/>
                </a:solidFill>
                <a:latin typeface="Segoe UI"/>
              </a:rPr>
              <a:t>indusense_drift_psi est ce que lit le panneau Grafana « PSI par capteur » et ce sur quoi se déclenche IndusenseDriftPSIEleve (docs/runbook.md).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Prometheus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Ce que ça apporte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CE QUE ÇA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Une métrique ne vaut que par le geste qu'elle déclenche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6888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0201F"/>
                </a:solidFill>
                <a:latin typeface="Segoe UI"/>
              </a:rPr>
              <a:t>Prometheus mesure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1752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Consolas"/>
              </a:rPr>
              <a:t>indusense_drift_psi = 6,83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90672" y="2834639"/>
            <a:ext cx="21945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F6478"/>
                </a:solidFill>
                <a:latin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46888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0201F"/>
                </a:solidFill>
                <a:latin typeface="Segoe UI"/>
              </a:rPr>
              <a:t>Grafana affiche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01752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Consolas"/>
              </a:rPr>
              <a:t>panneau « PSI par capteur 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79592" y="2834639"/>
            <a:ext cx="219456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26479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7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01C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7" y="246888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0201F"/>
                </a:solidFill>
                <a:latin typeface="Segoe UI"/>
              </a:rPr>
              <a:t>Le seuil alerte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7" y="301752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Consolas"/>
              </a:rPr>
              <a:t>PSI &gt; 0,25 → IndusenseDriftPSIEleve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68511" y="2834639"/>
            <a:ext cx="219457" cy="0"/>
          </a:xfrm>
          <a:prstGeom prst="line">
            <a:avLst/>
          </a:prstGeom>
          <a:ln w="2540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15400" y="1965960"/>
            <a:ext cx="2514600" cy="17373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2167128"/>
            <a:ext cx="2112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5501C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468880"/>
            <a:ext cx="211226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0201F"/>
                </a:solidFill>
                <a:latin typeface="Segoe UI"/>
              </a:rPr>
              <a:t>Le runbook agit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3017520"/>
            <a:ext cx="211226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C6360"/>
                </a:solidFill>
                <a:latin typeface="Consolas"/>
              </a:rPr>
              <a:t>étalonnage physique avant tout réentraînement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0520"/>
            <a:ext cx="10881360" cy="1783080"/>
          </a:xfrm>
          <a:prstGeom prst="roundRect">
            <a:avLst>
              <a:gd name="adj" fmla="val 5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389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7C3510"/>
                </a:solidFill>
                <a:latin typeface="Consolas"/>
              </a:rPr>
              <a:t>docs/runbook.md — IndusenseDriftPSIEleve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54880"/>
            <a:ext cx="10241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1.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Isoler le capteur — seul temperature dérive, pressure_bar reste OK.</a:t>
            </a:r>
          </a:p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2.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Exclure un changement de régime — rejouer contre la référence haute charge.</a:t>
            </a:r>
          </a:p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3.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Confirmer la cause physique, étalonner avant toute action sur le modèle.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Prometheus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De la mesure au geste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80">
                <a:solidFill>
                  <a:srgbClr val="DDE9EB"/>
                </a:solidFill>
                <a:latin typeface="Consolas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EEF3F1"/>
                </a:solidFill>
                <a:latin typeface="Bahnschrift"/>
              </a:rPr>
              <a:t>Prometheus,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0" i="0">
                <a:solidFill>
                  <a:srgbClr val="DDE9EB"/>
                </a:solidFill>
                <a:latin typeface="Segoe UI"/>
              </a:rPr>
              <a:t>Il va chercher lui-même, toutes les 15 secondes, l'état de chaque cible — et transforme un calcul ponctuel de dérive en signal continu, interrogeable et alertable.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916936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07208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Modèle PULL : la panne d'une cible est elle-même visible (scrape en échec)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38728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Métrique = nom + labels + valeur + horodatage — jamais une ligne de log brute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60520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50791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PromQL agrège dans le temps ce qu'une lecture ponctuelle ne peut pas voir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82312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72583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2 cibles dans ce jalon : l'API (M28) et l'exporteur dérive du TP (M31–33)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04103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94375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EF3F1"/>
                </a:solidFill>
                <a:latin typeface="Segoe UI"/>
              </a:rPr>
              <a:t>La chaîne ne s'arrête pas au graphique : seuil → alerte → runbook joué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Jalon 10 · M33–M34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5455" y="63550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monitoring_proof.md · reports/drift/drift_spec.md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