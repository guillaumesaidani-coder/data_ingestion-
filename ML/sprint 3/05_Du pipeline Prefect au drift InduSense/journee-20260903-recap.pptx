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F6FED"/>
                </a:solidFill>
                <a:latin typeface="Calibri"/>
              </a:rPr>
              <a:t>SEANCE J5 - RATTRAPAGE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Du pipeline Prefect au drift InduSense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7D2E3"/>
                </a:solidFill>
                <a:latin typeface="Calibri"/>
              </a:rPr>
              <a:t>Diagnostic du jalon courant, preuve Prefect M29-M30, TP drift M31-M32 et publication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677"/>
                </a:solidFill>
                <a:latin typeface="Calibri"/>
              </a:rPr>
              <a:t>InduSense - jalons 07 a 09 - rattrapage/04/20260825-160030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FED"/>
                </a:solidFill>
                <a:latin typeface="Calibri"/>
              </a:rPr>
              <a:t>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A2B"/>
                </a:solidFill>
                <a:latin typeface="Calibri"/>
              </a:rPr>
              <a:t>Ou en est le depot de rattrapage 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64"/>
              </a:spcAft>
            </a:pPr>
            <a:r>
              <a:rPr sz="1500" b="1">
                <a:solidFill>
                  <a:srgbClr val="111A2B"/>
                </a:solidFill>
                <a:latin typeface="Calibri"/>
              </a:rPr>
              <a:t>▸ FORMATION/JALON_ACTUEL.md affichait « 05 - J3 matin M27 »</a:t>
            </a:r>
          </a:p>
          <a:p>
            <a:pPr>
              <a:spcAft>
                <a:spcPts val="864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– Fichier non regenere automatiquement depuis les checkpoints M27 a M30</a:t>
            </a:r>
          </a:p>
          <a:p>
            <a:pPr>
              <a:spcAft>
                <a:spcPts val="864"/>
              </a:spcAft>
            </a:pPr>
            <a:r>
              <a:rPr sz="1500" b="1">
                <a:solidFill>
                  <a:srgbClr val="111A2B"/>
                </a:solidFill>
                <a:latin typeface="Calibri"/>
              </a:rPr>
              <a:t>▸ Historique reel des commits</a:t>
            </a:r>
          </a:p>
          <a:p>
            <a:pPr>
              <a:spcAft>
                <a:spcPts val="864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– M27 Docker durci, M28 Compose api/prometheus/grafana</a:t>
            </a:r>
          </a:p>
          <a:p>
            <a:pPr>
              <a:spcAft>
                <a:spcPts val="864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– M29 pipeline Prefect, M30 flow empaquete + Postgres/SQLite</a:t>
            </a:r>
          </a:p>
          <a:p>
            <a:pPr>
              <a:spcAft>
                <a:spcPts val="864"/>
              </a:spcAft>
            </a:pPr>
            <a:r>
              <a:rPr sz="1500" b="1">
                <a:solidFill>
                  <a:srgbClr val="111A2B"/>
                </a:solidFill>
                <a:latin typeface="Calibri"/>
              </a:rPr>
              <a:t>▸ Diagnostic retenu</a:t>
            </a:r>
          </a:p>
          <a:p>
            <a:pPr>
              <a:spcAft>
                <a:spcPts val="864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– Contenu reel du depot = jalon 07 (« Stack M28, orchestration Prefect M29-M30 »)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1828800"/>
            <a:ext cx="4709160" cy="201168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78040" y="20116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FED"/>
                </a:solidFill>
                <a:latin typeface="Calibri"/>
              </a:rPr>
              <a:t>A retenir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2423160"/>
            <a:ext cx="425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A2B"/>
                </a:solidFill>
                <a:latin typeface="Calibri"/>
              </a:rPr>
              <a:t>Le marqueur pedagogique ne se met pas a jour tout seul : il faut le lire avec l'historique git, jamais seul.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677"/>
                </a:solidFill>
                <a:latin typeface="Calibri"/>
              </a:rPr>
              <a:t>Seance J5 - Rattrapage - jalons 07 a 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677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FED"/>
                </a:solidFill>
                <a:latin typeface="Calibri"/>
              </a:rPr>
              <a:t>JALON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A2B"/>
                </a:solidFill>
                <a:latin typeface="Calibri"/>
              </a:rPr>
              <a:t>Lancer le pipeline Prefect en local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64"/>
              </a:spcAft>
            </a:pPr>
            <a:r>
              <a:rPr sz="1500" b="1">
                <a:solidFill>
                  <a:srgbClr val="111A2B"/>
                </a:solidFill>
                <a:latin typeface="Calibri"/>
              </a:rPr>
              <a:t>▸ Commande de preuve</a:t>
            </a:r>
          </a:p>
          <a:p>
            <a:pPr>
              <a:spcAft>
                <a:spcPts val="864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– uv run --frozen python flows/pipeline.py</a:t>
            </a:r>
          </a:p>
          <a:p>
            <a:pPr>
              <a:spcAft>
                <a:spcPts val="864"/>
              </a:spcAft>
            </a:pPr>
            <a:r>
              <a:rPr sz="1500" b="1">
                <a:solidFill>
                  <a:srgbClr val="111A2B"/>
                </a:solidFill>
                <a:latin typeface="Calibri"/>
              </a:rPr>
              <a:t>▸ Deroule observe</a:t>
            </a:r>
          </a:p>
          <a:p>
            <a:pPr>
              <a:spcAft>
                <a:spcPts val="864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– build-gold-dataset -&gt; Cached(COMPLETED)</a:t>
            </a:r>
          </a:p>
          <a:p>
            <a:pPr>
              <a:spcAft>
                <a:spcPts val="864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– ensure-model -&gt; reprise, modele existant reutilise</a:t>
            </a:r>
          </a:p>
          <a:p>
            <a:pPr>
              <a:spcAft>
                <a:spcPts val="864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– store-predictions -&gt; 4 lignes ecrites, 4 lignes totales</a:t>
            </a:r>
          </a:p>
          <a:p>
            <a:pPr>
              <a:spcAft>
                <a:spcPts val="864"/>
              </a:spcAft>
            </a:pPr>
            <a:r>
              <a:rPr sz="1500" b="1">
                <a:solidFill>
                  <a:srgbClr val="111A2B"/>
                </a:solidFill>
                <a:latin typeface="Calibri"/>
              </a:rPr>
              <a:t>▸ Resultat retourne par le flow</a:t>
            </a:r>
          </a:p>
          <a:p>
            <a:pPr>
              <a:spcAft>
                <a:spcPts val="864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– rows_scored=4, rows_in_db=4</a:t>
            </a:r>
          </a:p>
          <a:p>
            <a:pPr>
              <a:spcAft>
                <a:spcPts val="864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– db_url=sqlite:///artifacts/predictions.db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1828800"/>
            <a:ext cx="4709160" cy="402336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78040" y="2011680"/>
            <a:ext cx="4251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FED"/>
                </a:solidFill>
                <a:latin typeface="Calibri"/>
              </a:rPr>
              <a:t>Extrait - logs du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2423160"/>
            <a:ext cx="4251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11A2B"/>
                </a:solidFill>
                <a:latin typeface="Consolas"/>
              </a:rPr>
              <a:t>Flow run 'indusense-pipeline-...'</a:t>
            </a:r>
          </a:p>
          <a:p>
            <a:r>
              <a:rPr sz="1150">
                <a:solidFill>
                  <a:srgbClr val="111A2B"/>
                </a:solidFill>
                <a:latin typeface="Consolas"/>
              </a:rPr>
              <a:t>- Beginning flow run</a:t>
            </a:r>
          </a:p>
          <a:p>
            <a:r>
              <a:rPr sz="1150">
                <a:solidFill>
                  <a:srgbClr val="111A2B"/>
                </a:solidFill>
                <a:latin typeface="Consolas"/>
              </a:rPr>
              <a:t>Task run 'build-gold-dataset-001'</a:t>
            </a:r>
          </a:p>
          <a:p>
            <a:r>
              <a:rPr sz="1150">
                <a:solidFill>
                  <a:srgbClr val="111A2B"/>
                </a:solidFill>
                <a:latin typeface="Consolas"/>
              </a:rPr>
              <a:t>- Finished in state Cached(COMPLETED)</a:t>
            </a:r>
          </a:p>
          <a:p>
            <a:r>
              <a:rPr sz="1150">
                <a:solidFill>
                  <a:srgbClr val="111A2B"/>
                </a:solidFill>
                <a:latin typeface="Consolas"/>
              </a:rPr>
              <a:t>Task run 'ensure-model-c97'</a:t>
            </a:r>
          </a:p>
          <a:p>
            <a:r>
              <a:rPr sz="1150">
                <a:solidFill>
                  <a:srgbClr val="111A2B"/>
                </a:solidFill>
                <a:latin typeface="Consolas"/>
              </a:rPr>
              <a:t>- Reprise : modele existant reutilise</a:t>
            </a:r>
          </a:p>
          <a:p>
            <a:r>
              <a:rPr sz="1150">
                <a:solidFill>
                  <a:srgbClr val="111A2B"/>
                </a:solidFill>
                <a:latin typeface="Consolas"/>
              </a:rPr>
              <a:t>Task run 'store-predictions-edb'</a:t>
            </a:r>
          </a:p>
          <a:p>
            <a:r>
              <a:rPr sz="1150">
                <a:solidFill>
                  <a:srgbClr val="111A2B"/>
                </a:solidFill>
                <a:latin typeface="Consolas"/>
              </a:rPr>
              <a:t>- Predictions upsertees : 4 lignes ecrites,</a:t>
            </a:r>
          </a:p>
          <a:p>
            <a:r>
              <a:rPr sz="1150">
                <a:solidFill>
                  <a:srgbClr val="111A2B"/>
                </a:solidFill>
                <a:latin typeface="Consolas"/>
              </a:rPr>
              <a:t>  4 lignes totales en base</a:t>
            </a:r>
          </a:p>
          <a:p>
            <a:r>
              <a:rPr sz="1150">
                <a:solidFill>
                  <a:srgbClr val="111A2B"/>
                </a:solidFill>
                <a:latin typeface="Consolas"/>
              </a:rPr>
              <a:t>Flow run '...' - Finished in state Completed()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677"/>
                </a:solidFill>
                <a:latin typeface="Calibri"/>
              </a:rPr>
              <a:t>Seance J5 - Rattrapage - jalons 07 a 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677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FED"/>
                </a:solidFill>
                <a:latin typeface="Calibri"/>
              </a:rPr>
              <a:t>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A2B"/>
                </a:solidFill>
                <a:latin typeface="Calibri"/>
              </a:rPr>
              <a:t>Un profil « ephemeral » branche sur Prefect Cloud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88136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64"/>
              </a:spcAft>
            </a:pPr>
            <a:r>
              <a:rPr sz="1500" b="1">
                <a:solidFill>
                  <a:srgbClr val="111A2B"/>
                </a:solidFill>
                <a:latin typeface="Calibri"/>
              </a:rPr>
              <a:t>▸ Constat</a:t>
            </a:r>
          </a:p>
          <a:p>
            <a:pPr>
              <a:spcAft>
                <a:spcPts val="864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– Le lien affiche dans les logs pointait vers app.prefect.cloud, pas un simple template</a:t>
            </a:r>
          </a:p>
          <a:p>
            <a:pPr>
              <a:spcAft>
                <a:spcPts val="864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– uv run prefect config view confirme : PREFECT_API_KEY et PREFECT_API_URL Cloud sont bien actifs, sous le nom de profil ephemeral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703320"/>
            <a:ext cx="10881360" cy="1600200"/>
          </a:xfrm>
          <a:prstGeom prst="rect">
            <a:avLst/>
          </a:prstGeom>
          <a:solidFill>
            <a:srgbClr val="F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703320"/>
            <a:ext cx="73152" cy="1600200"/>
          </a:xfrm>
          <a:prstGeom prst="rect">
            <a:avLst/>
          </a:prstGeom>
          <a:solidFill>
            <a:srgbClr val="D3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8404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33B3B"/>
                </a:solidFill>
                <a:latin typeface="Calibri"/>
              </a:rPr>
              <a:t>Piege rencontre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20624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A2B"/>
                </a:solidFill>
                <a:latin typeface="Calibri"/>
              </a:rPr>
              <a:t>~/.prefect/profiles.toml embarque une vraie cle Prefect Cloud dans le profil nomme « ephemeral ». Le flow s'execute bien localement, mais l'etat est rapporte au Cloud : ouvrir le lien echoue si le navigateur n'est pas authentifie sur ce workspace precis.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4864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64"/>
              </a:spcAft>
            </a:pPr>
            <a:r>
              <a:rPr sz="1500" b="1">
                <a:solidFill>
                  <a:srgbClr val="111A2B"/>
                </a:solidFill>
                <a:latin typeface="Calibri"/>
              </a:rPr>
              <a:t>▸ Deux options : se logger sur ce workspace Cloud, ou retirer la cle du profil pour revenir a une execution 100% locale (conforme a la preuve « hors reseau » du jalon 07)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677"/>
                </a:solidFill>
                <a:latin typeface="Calibri"/>
              </a:rPr>
              <a:t>Seance J5 - Rattrapage - jalons 07 a 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677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FED"/>
                </a:solidFill>
                <a:latin typeface="Calibri"/>
              </a:rPr>
              <a:t>JALON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A2B"/>
                </a:solidFill>
                <a:latin typeface="Calibri"/>
              </a:rPr>
              <a:t>TP autonome drift InduSense (M31-M32)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2651760" cy="27432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2651760" cy="6400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A2B"/>
                </a:solidFill>
                <a:latin typeface="Calibri"/>
              </a:rPr>
              <a:t>1. train_model.py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8036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B6677"/>
                </a:solidFill>
                <a:latin typeface="Calibri"/>
              </a:rPr>
              <a:t>Split temporel, seuil gele par le cout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977640"/>
            <a:ext cx="2377440" cy="59436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04168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11A2B"/>
                </a:solidFill>
                <a:latin typeface="Calibri"/>
              </a:rPr>
              <a:t>Modele + seuil geles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31820" y="3246120"/>
            <a:ext cx="274320" cy="274320"/>
          </a:xfrm>
          <a:prstGeom prst="rightArrow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2011680"/>
            <a:ext cx="2651760" cy="27432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2011680"/>
            <a:ext cx="2651760" cy="6400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A2B"/>
                </a:solidFill>
                <a:latin typeface="Calibri"/>
              </a:rPr>
              <a:t>2. drift_lab.py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88036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B6677"/>
                </a:solidFill>
                <a:latin typeface="Calibri"/>
              </a:rPr>
              <a:t>PSI + KS par feature, fenetre et reference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20440" y="3977640"/>
            <a:ext cx="2377440" cy="59436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80" y="404168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11A2B"/>
                </a:solidFill>
                <a:latin typeface="Calibri"/>
              </a:rPr>
              <a:t>4 fenetres testees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057900" y="3246120"/>
            <a:ext cx="274320" cy="274320"/>
          </a:xfrm>
          <a:prstGeom prst="rightArrow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2011680"/>
            <a:ext cx="2651760" cy="27432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2011680"/>
            <a:ext cx="2651760" cy="6400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A2B"/>
                </a:solidFill>
                <a:latin typeface="Calibri"/>
              </a:rPr>
              <a:t>3. evaluate_fenetre.py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88036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B6677"/>
                </a:solidFill>
                <a:latin typeface="Calibri"/>
              </a:rPr>
              <a:t>Rappel, precision, taux d'alerte par fenetre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3977640"/>
            <a:ext cx="2377440" cy="59436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404168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11A2B"/>
                </a:solidFill>
                <a:latin typeface="Calibri"/>
              </a:rPr>
              <a:t>Perf vs drift separes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983980" y="3246120"/>
            <a:ext cx="274320" cy="274320"/>
          </a:xfrm>
          <a:prstGeom prst="rightArrow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35440" y="2011680"/>
            <a:ext cx="2651760" cy="27432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35440" y="2011680"/>
            <a:ext cx="2651760" cy="6400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72600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A2B"/>
                </a:solidFill>
                <a:latin typeface="Calibri"/>
              </a:rPr>
              <a:t>4. alerting_demo.py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288036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B6677"/>
                </a:solidFill>
                <a:latin typeface="Calibri"/>
              </a:rPr>
              <a:t>Sequence d'alerte + cooldown + rapport JSON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72600" y="3977640"/>
            <a:ext cx="2377440" cy="594360"/>
          </a:xfrm>
          <a:prstGeom prst="rect">
            <a:avLst/>
          </a:prstGeom>
          <a:solidFill>
            <a:srgbClr val="EE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64040" y="404168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11A2B"/>
                </a:solidFill>
                <a:latin typeface="Calibri"/>
              </a:rPr>
              <a:t>Anti-spam M32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1206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64"/>
              </a:spcAft>
            </a:pPr>
            <a:r>
              <a:rPr sz="1500" b="1">
                <a:solidFill>
                  <a:srgbClr val="111A2B"/>
                </a:solidFill>
                <a:latin typeface="Calibri"/>
              </a:rPr>
              <a:t>▸ Miroir autonome PACK_APPRENANTS/.../tp_drift_indusense : pyproject.toml, uv.lock et .python-version propres, aucune dependance au depot GitHub principal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677"/>
                </a:solidFill>
                <a:latin typeface="Calibri"/>
              </a:rPr>
              <a:t>Seance J5 - Rattrapage - jalons 07 a 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677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FED"/>
                </a:solidFill>
                <a:latin typeface="Calibri"/>
              </a:rPr>
              <a:t>RESULTATS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A2B"/>
                </a:solidFill>
                <a:latin typeface="Calibri"/>
              </a:rPr>
              <a:t>Quatre fenetres, quatre lectures differentes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469515"/>
                <a:gridCol w="1600000"/>
                <a:gridCol w="1600000"/>
                <a:gridCol w="2834405"/>
              </a:tblGrid>
              <a:tr h="51206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Fenetre</a:t>
                      </a:r>
                    </a:p>
                  </a:txBody>
                  <a:tcPr anchor="ctr">
                    <a:solidFill>
                      <a:srgbClr val="2F6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PSI temperature</a:t>
                      </a:r>
                    </a:p>
                  </a:txBody>
                  <a:tcPr anchor="ctr">
                    <a:solidFill>
                      <a:srgbClr val="2F6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Rappel</a:t>
                      </a:r>
                    </a:p>
                  </a:txBody>
                  <a:tcPr anchor="ctr">
                    <a:solidFill>
                      <a:srgbClr val="2F6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 anchor="ctr">
                    <a:solidFill>
                      <a:srgbClr val="2F6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Lecture</a:t>
                      </a:r>
                    </a:p>
                  </a:txBody>
                  <a:tcPr anchor="ctr">
                    <a:solidFill>
                      <a:srgbClr val="2F6FE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A2B"/>
                          </a:solidFill>
                          <a:latin typeface="Calibri"/>
                        </a:rPr>
                        <a:t>1 - temoin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A2B"/>
                          </a:solidFill>
                          <a:latin typeface="Calibri"/>
                        </a:rPr>
                        <a:t>0.002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A2B"/>
                          </a:solidFill>
                          <a:latin typeface="Calibri"/>
                        </a:rPr>
                        <a:t>0.771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A2B"/>
                          </a:solidFill>
                          <a:latin typeface="Calibri"/>
                        </a:rPr>
                        <a:t>0.826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A2B"/>
                          </a:solidFill>
                          <a:latin typeface="Calibri"/>
                        </a:rPr>
                        <a:t>OK, pas de derive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A2B"/>
                          </a:solidFill>
                          <a:latin typeface="Calibri"/>
                        </a:rPr>
                        <a:t>2 - capteur +8 C</a:t>
                      </a:r>
                    </a:p>
                  </a:txBody>
                  <a:tcPr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A2B"/>
                          </a:solidFill>
                          <a:latin typeface="Calibri"/>
                        </a:rPr>
                        <a:t>6.845 (forte)</a:t>
                      </a:r>
                    </a:p>
                  </a:txBody>
                  <a:tcPr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A2B"/>
                          </a:solidFill>
                          <a:latin typeface="Calibri"/>
                        </a:rPr>
                        <a:t>0.784</a:t>
                      </a:r>
                    </a:p>
                  </a:txBody>
                  <a:tcPr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A2B"/>
                          </a:solidFill>
                          <a:latin typeface="Calibri"/>
                        </a:rPr>
                        <a:t>0.821</a:t>
                      </a:r>
                    </a:p>
                  </a:txBody>
                  <a:tcPr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A2B"/>
                          </a:solidFill>
                          <a:latin typeface="Calibri"/>
                        </a:rPr>
                        <a:t>Derive de donnees, modele robuste</a:t>
                      </a:r>
                    </a:p>
                  </a:txBody>
                  <a:tcPr anchor="ctr">
                    <a:solidFill>
                      <a:srgbClr val="F7F8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A2B"/>
                          </a:solidFill>
                          <a:latin typeface="Calibri"/>
                        </a:rPr>
                        <a:t>3 - concept drift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A2B"/>
                          </a:solidFill>
                          <a:latin typeface="Calibri"/>
                        </a:rPr>
                        <a:t>0.002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A2B"/>
                          </a:solidFill>
                          <a:latin typeface="Calibri"/>
                        </a:rPr>
                        <a:t>0.053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A2B"/>
                          </a:solidFill>
                          <a:latin typeface="Calibri"/>
                        </a:rPr>
                        <a:t>0.205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A2B"/>
                          </a:solidFill>
                          <a:latin typeface="Calibri"/>
                        </a:rPr>
                        <a:t>Pas de derive visible, modele effondre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A2B"/>
                          </a:solidFill>
                          <a:latin typeface="Calibri"/>
                        </a:rPr>
                        <a:t>janvier - haute charge</a:t>
                      </a:r>
                    </a:p>
                  </a:txBody>
                  <a:tcPr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A2B"/>
                          </a:solidFill>
                          <a:latin typeface="Calibri"/>
                        </a:rPr>
                        <a:t>6.213 (forte)</a:t>
                      </a:r>
                    </a:p>
                  </a:txBody>
                  <a:tcPr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A2B"/>
                          </a:solidFill>
                          <a:latin typeface="Calibri"/>
                        </a:rPr>
                        <a:t>0.728</a:t>
                      </a:r>
                    </a:p>
                  </a:txBody>
                  <a:tcPr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A2B"/>
                          </a:solidFill>
                          <a:latin typeface="Calibri"/>
                        </a:rPr>
                        <a:t>0.806</a:t>
                      </a:r>
                    </a:p>
                  </a:txBody>
                  <a:tcPr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A2B"/>
                          </a:solidFill>
                          <a:latin typeface="Calibri"/>
                        </a:rPr>
                        <a:t>Derive de donnees, perf tenue</a:t>
                      </a:r>
                    </a:p>
                  </a:txBody>
                  <a:tcPr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4663440"/>
            <a:ext cx="10881360" cy="100584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8463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A2B"/>
                </a:solidFill>
                <a:latin typeface="Calibri"/>
              </a:rPr>
              <a:t>Un PSI eleve ne prouve pas que le modele est degrade (fenetres 2 et janvier). Un PSI faible ne prouve pas l'inverse (fenetre 3).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677"/>
                </a:solidFill>
                <a:latin typeface="Calibri"/>
              </a:rPr>
              <a:t>Seance J5 - Rattrapage - jalons 07 a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677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FED"/>
                </a:solidFill>
                <a:latin typeface="Calibri"/>
              </a:rPr>
              <a:t>CONTRE-EPREUVE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A2B"/>
                </a:solidFill>
                <a:latin typeface="Calibri"/>
              </a:rPr>
              <a:t>Le choix de la reference change tout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303520" cy="2560320"/>
          </a:xfrm>
          <a:prstGeom prst="rect">
            <a:avLst/>
          </a:prstGeom>
          <a:solidFill>
            <a:srgbClr val="F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33B3B"/>
                </a:solidFill>
                <a:latin typeface="Calibri"/>
              </a:rPr>
              <a:t>Janvier vs reference normale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64"/>
              </a:spcAft>
            </a:pPr>
            <a:r>
              <a:rPr sz="1500" b="1">
                <a:solidFill>
                  <a:srgbClr val="111A2B"/>
                </a:solidFill>
                <a:latin typeface="Calibri"/>
              </a:rPr>
              <a:t>▸ PSI temperature = 6.213 (derive forte)</a:t>
            </a:r>
          </a:p>
          <a:p>
            <a:pPr>
              <a:spcAft>
                <a:spcPts val="864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– Une reference figee declenche une alerte sur un simple changement de regime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828800"/>
            <a:ext cx="5303520" cy="2560320"/>
          </a:xfrm>
          <a:prstGeom prst="rect">
            <a:avLst/>
          </a:prstGeom>
          <a:solidFill>
            <a:srgbClr val="EE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9D55"/>
                </a:solidFill>
                <a:latin typeface="Calibri"/>
              </a:rPr>
              <a:t>Janvier vs reference haute charge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146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64"/>
              </a:spcAft>
            </a:pPr>
            <a:r>
              <a:rPr sz="1500" b="1">
                <a:solidFill>
                  <a:srgbClr val="111A2B"/>
                </a:solidFill>
                <a:latin typeface="Calibri"/>
              </a:rPr>
              <a:t>▸ PSI temperature = 0.001 (RAS)</a:t>
            </a:r>
          </a:p>
          <a:p>
            <a:pPr>
              <a:spcAft>
                <a:spcPts val="864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– Une reference par regime absorbe le changement attendu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63440"/>
            <a:ext cx="108813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64"/>
              </a:spcAft>
            </a:pPr>
            <a:r>
              <a:rPr sz="1500" b="1">
                <a:solidFill>
                  <a:srgbClr val="111A2B"/>
                </a:solidFill>
                <a:latin typeface="Calibri"/>
              </a:rPr>
              <a:t>▸ Contre-verification par machine (fenetre 2, MACH-03 seule)</a:t>
            </a:r>
          </a:p>
          <a:p>
            <a:pPr>
              <a:spcAft>
                <a:spcPts val="864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– PSI temperature = 19.469, plus fort que l'agregat parc (6.845)</a:t>
            </a:r>
          </a:p>
          <a:p>
            <a:pPr>
              <a:spcAft>
                <a:spcPts val="864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– Une reference par regime reduit les fausses alertes sans masquer une derive de capteur reelle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677"/>
                </a:solidFill>
                <a:latin typeface="Calibri"/>
              </a:rPr>
              <a:t>Seance J5 - Rattrapage - jalons 07 a 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677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FED"/>
                </a:solidFill>
                <a:latin typeface="Calibri"/>
              </a:rPr>
              <a:t>PREUVE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A2B"/>
                </a:solidFill>
                <a:latin typeface="Calibri"/>
              </a:rPr>
              <a:t>Rapport JSON et anti-spam (cooldown M32)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64"/>
              </a:spcAft>
            </a:pPr>
            <a:r>
              <a:rPr sz="1500" b="1">
                <a:solidFill>
                  <a:srgbClr val="111A2B"/>
                </a:solidFill>
                <a:latin typeface="Calibri"/>
              </a:rPr>
              <a:t>▸ Commande</a:t>
            </a:r>
          </a:p>
          <a:p>
            <a:pPr>
              <a:spcAft>
                <a:spcPts val="864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– uv run python scripts/alerting_demo.py --report-out reports/drift_report_f2.json</a:t>
            </a:r>
          </a:p>
          <a:p>
            <a:pPr>
              <a:spcAft>
                <a:spcPts val="864"/>
              </a:spcAft>
            </a:pPr>
            <a:r>
              <a:rPr sz="1500" b="1">
                <a:solidFill>
                  <a:srgbClr val="111A2B"/>
                </a:solidFill>
                <a:latin typeface="Calibri"/>
              </a:rPr>
              <a:t>▸ Protocole</a:t>
            </a:r>
          </a:p>
          <a:p>
            <a:pPr>
              <a:spcAft>
                <a:spcPts val="864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– 3 executions successives sur la meme fenetre en derive</a:t>
            </a:r>
          </a:p>
          <a:p>
            <a:pPr>
              <a:spcAft>
                <a:spcPts val="864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– Verdict attendu : sequence 0 -&gt; 1 -&gt; 0</a:t>
            </a:r>
          </a:p>
          <a:p>
            <a:pPr>
              <a:spcAft>
                <a:spcPts val="864"/>
              </a:spcAft>
            </a:pPr>
            <a:r>
              <a:rPr sz="1500" b="1">
                <a:solidFill>
                  <a:srgbClr val="111A2B"/>
                </a:solidFill>
                <a:latin typeface="Calibri"/>
              </a:rPr>
              <a:t>▸ Tests</a:t>
            </a:r>
          </a:p>
          <a:p>
            <a:pPr>
              <a:spcAft>
                <a:spcPts val="864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– uv run python -m pytest tests/test_alerting_demo.py -q -&gt; 3 passed</a:t>
            </a:r>
          </a:p>
          <a:p>
            <a:pPr>
              <a:spcAft>
                <a:spcPts val="864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– uv run python -m pytest tests -q -&gt; 11 passed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1828800"/>
            <a:ext cx="4709160" cy="2286000"/>
          </a:xfrm>
          <a:prstGeom prst="rect">
            <a:avLst/>
          </a:prstGeom>
          <a:solidFill>
            <a:srgbClr val="EE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78040" y="2011680"/>
            <a:ext cx="4251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9D55"/>
                </a:solidFill>
                <a:latin typeface="Calibri"/>
              </a:rPr>
              <a:t>Sortie obtenue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2423160"/>
            <a:ext cx="4251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11A2B"/>
                </a:solidFill>
                <a:latin typeface="Consolas"/>
              </a:rPr>
              <a:t>sequence=0 -&gt; 1 -&gt; 0</a:t>
            </a:r>
          </a:p>
          <a:p>
            <a:r>
              <a:rPr sz="1150">
                <a:solidFill>
                  <a:srgbClr val="111A2B"/>
                </a:solidFill>
                <a:latin typeface="Consolas"/>
              </a:rPr>
              <a:t>drift_events=1</a:t>
            </a:r>
          </a:p>
          <a:p>
            <a:r>
              <a:rPr sz="1150">
                <a:solidFill>
                  <a:srgbClr val="111A2B"/>
                </a:solidFill>
                <a:latin typeface="Consolas"/>
              </a:rPr>
              <a:t>event_feature=temperature</a:t>
            </a:r>
          </a:p>
          <a:p>
            <a:r>
              <a:rPr sz="1150">
                <a:solidFill>
                  <a:srgbClr val="111A2B"/>
                </a:solidFill>
                <a:latin typeface="Consolas"/>
              </a:rPr>
              <a:t>event_psi=6.845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4300000"/>
            <a:ext cx="4709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B6677"/>
                </a:solidFill>
                <a:latin typeface="Calibri"/>
              </a:rPr>
              <a:t>Une seule ligne drift_events malgre 3 executions : le cooldown supprime le spam d'alertes sur une meme derive deja signalee.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677"/>
                </a:solidFill>
                <a:latin typeface="Calibri"/>
              </a:rPr>
              <a:t>Seance J5 - Rattrapage - jalons 07 a 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677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FED"/>
                </a:solidFill>
                <a:latin typeface="Calibri"/>
              </a:rPr>
              <a:t>LIVRABLE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A2B"/>
                </a:solidFill>
                <a:latin typeface="Calibri"/>
              </a:rPr>
              <a:t>Drift spec structuree (reports/drift_spec.md)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64"/>
              </a:spcAft>
            </a:pPr>
            <a:r>
              <a:rPr sz="1500" b="1">
                <a:solidFill>
                  <a:srgbClr val="111A2B"/>
                </a:solidFill>
                <a:latin typeface="Calibri"/>
              </a:rPr>
              <a:t>▸ 1. References et regimes</a:t>
            </a:r>
          </a:p>
          <a:p>
            <a:pPr>
              <a:spcAft>
                <a:spcPts val="864"/>
              </a:spcAft>
            </a:pPr>
            <a:r>
              <a:rPr sz="1500" b="1">
                <a:solidFill>
                  <a:srgbClr val="111A2B"/>
                </a:solidFill>
                <a:latin typeface="Calibri"/>
              </a:rPr>
              <a:t>▸ 2. Fenetre et frequence</a:t>
            </a:r>
          </a:p>
          <a:p>
            <a:pPr>
              <a:spcAft>
                <a:spcPts val="864"/>
              </a:spcAft>
            </a:pPr>
            <a:r>
              <a:rPr sz="1500" b="1">
                <a:solidFill>
                  <a:srgbClr val="111A2B"/>
                </a:solidFill>
                <a:latin typeface="Calibri"/>
              </a:rPr>
              <a:t>▸ 3. Features et tests statistiques</a:t>
            </a:r>
          </a:p>
          <a:p>
            <a:pPr>
              <a:spcAft>
                <a:spcPts val="864"/>
              </a:spcAft>
            </a:pPr>
            <a:r>
              <a:rPr sz="1500" b="1">
                <a:solidFill>
                  <a:srgbClr val="111A2B"/>
                </a:solidFill>
                <a:latin typeface="Calibri"/>
              </a:rPr>
              <a:t>▸ 4. Seuils (modele + PSI)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64"/>
              </a:spcAft>
            </a:pPr>
            <a:r>
              <a:rPr sz="1500" b="1">
                <a:solidFill>
                  <a:srgbClr val="111A2B"/>
                </a:solidFill>
                <a:latin typeface="Calibri"/>
              </a:rPr>
              <a:t>▸ 5. Cooldown</a:t>
            </a:r>
          </a:p>
          <a:p>
            <a:pPr>
              <a:spcAft>
                <a:spcPts val="864"/>
              </a:spcAft>
            </a:pPr>
            <a:r>
              <a:rPr sz="1500" b="1">
                <a:solidFill>
                  <a:srgbClr val="111A2B"/>
                </a:solidFill>
                <a:latin typeface="Calibri"/>
              </a:rPr>
              <a:t>▸ 6. KPI metier</a:t>
            </a:r>
          </a:p>
          <a:p>
            <a:pPr>
              <a:spcAft>
                <a:spcPts val="864"/>
              </a:spcAft>
            </a:pPr>
            <a:r>
              <a:rPr sz="1500" b="1">
                <a:solidFill>
                  <a:srgbClr val="111A2B"/>
                </a:solidFill>
                <a:latin typeface="Calibri"/>
              </a:rPr>
              <a:t>▸ 7. Reaction humaine (jamais automatique)</a:t>
            </a:r>
          </a:p>
          <a:p>
            <a:pPr>
              <a:spcAft>
                <a:spcPts val="864"/>
              </a:spcAft>
            </a:pPr>
            <a:r>
              <a:rPr sz="1500" b="1">
                <a:solidFill>
                  <a:srgbClr val="111A2B"/>
                </a:solidFill>
                <a:latin typeface="Calibri"/>
              </a:rPr>
              <a:t>▸ 8. Limites (concept drift, agregation, reference)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486400"/>
            <a:ext cx="10881360" cy="82296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6235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A2B"/>
                </a:solidFill>
                <a:latin typeface="Calibri"/>
              </a:rPr>
              <a:t>Regle centrale : un PSI + une baisse de performance ensemble justifient une reaction humaine, jamais l'un des deux signaux seul.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677"/>
                </a:solidFill>
                <a:latin typeface="Calibri"/>
              </a:rPr>
              <a:t>Seance J5 - Rattrapage - jalons 07 a 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677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FED"/>
                </a:solidFill>
                <a:latin typeface="Calibri"/>
              </a:rPr>
              <a:t>PUBLICATION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A2B"/>
                </a:solidFill>
                <a:latin typeface="Calibri"/>
              </a:rPr>
              <a:t>Push vers le depot industrialisation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88136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64"/>
              </a:spcAft>
            </a:pPr>
            <a:r>
              <a:rPr sz="1500" b="1">
                <a:solidFill>
                  <a:srgbClr val="111A2B"/>
                </a:solidFill>
                <a:latin typeface="Calibri"/>
              </a:rPr>
              <a:t>▸ Remote industrialisation deja configure vers github.com/guillaumesaidani-coder/industrialisation</a:t>
            </a:r>
          </a:p>
          <a:p>
            <a:pPr>
              <a:spcAft>
                <a:spcPts val="864"/>
              </a:spcAft>
            </a:pPr>
            <a:r>
              <a:rPr sz="1500" b="1">
                <a:solidFill>
                  <a:srgbClr val="111A2B"/>
                </a:solidFill>
                <a:latin typeface="Calibri"/>
              </a:rPr>
              <a:t>▸ Fichiers ajoutes au commit</a:t>
            </a:r>
          </a:p>
          <a:p>
            <a:pPr>
              <a:spcAft>
                <a:spcPts val="864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– .gitleaks.toml (allowlist ciblee des exemples AWS publics, M24)</a:t>
            </a:r>
          </a:p>
          <a:p>
            <a:pPr>
              <a:spcAft>
                <a:spcPts val="864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– FORMATION/DECK/ et recaps HTML/PPTX par module</a:t>
            </a:r>
          </a:p>
          <a:p>
            <a:pPr>
              <a:spcAft>
                <a:spcPts val="864"/>
              </a:spcAft>
            </a:pPr>
            <a:r>
              <a:rPr sz="1500" b="1">
                <a:solidFill>
                  <a:srgbClr val="111A2B"/>
                </a:solidFill>
                <a:latin typeface="Calibri"/>
              </a:rPr>
              <a:t>▸ Fichiers exclus</a:t>
            </a:r>
          </a:p>
          <a:p>
            <a:pPr>
              <a:spcAft>
                <a:spcPts val="864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– .dvc/ : uniquement des verrous temporaires, aucun .dvc/config reel</a:t>
            </a:r>
          </a:p>
          <a:p>
            <a:pPr>
              <a:spcAft>
                <a:spcPts val="864"/>
              </a:spcAft>
            </a:pPr>
            <a:r>
              <a:rPr sz="1500" b="1">
                <a:solidFill>
                  <a:srgbClr val="111A2B"/>
                </a:solidFill>
                <a:latin typeface="Calibri"/>
              </a:rPr>
              <a:t>▸ Resultat</a:t>
            </a:r>
          </a:p>
          <a:p>
            <a:pPr>
              <a:spcAft>
                <a:spcPts val="864"/>
              </a:spcAft>
            </a:pPr>
            <a:r>
              <a:rPr sz="1300" b="0">
                <a:solidFill>
                  <a:srgbClr val="5B6677"/>
                </a:solidFill>
                <a:latin typeface="Calibri"/>
              </a:rPr>
              <a:t>– Commit 8a415b6 pousse sur rattrapage/04/20260825-160030 (9d5cb2f..8a415b6)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677"/>
                </a:solidFill>
                <a:latin typeface="Calibri"/>
              </a:rPr>
              <a:t>Seance J5 - Rattrapage - jalons 07 a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677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F6FED"/>
                </a:solidFill>
                <a:latin typeface="Calibri"/>
              </a:rPr>
              <a:t>A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33272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▸ Le marqueur de jalon ne remplace pas la lecture de l'historique git</a:t>
            </a:r>
          </a:p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▸ Un profil Prefect nomme « ephemeral » peut pointer vers le Cloud si mal configure : verifier prefect config view</a:t>
            </a:r>
          </a:p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▸ PSI et performance du modele sont deux signaux independants : jamais de decision automatique sur un seul</a:t>
            </a:r>
          </a:p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▸ La reference de comparaison doit etre documentee par regime, sinon elle masque ou fabrique une alerte</a:t>
            </a:r>
          </a:p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▸ Publier regulierement (commit cible + push) securise le travail de rattrapage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677"/>
                </a:solidFill>
                <a:latin typeface="Calibri"/>
              </a:rPr>
              <a:t>Seance J5 - Rattrapage - jalons 07 a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677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