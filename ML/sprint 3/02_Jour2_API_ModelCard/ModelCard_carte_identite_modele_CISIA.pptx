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148840"/>
            <a:ext cx="1463040" cy="508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FFFFFF"/>
                </a:solidFill>
                <a:latin typeface="Calibri"/>
              </a:rPr>
              <a:t>Model Card — La carte d'identité du modèle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9CED6"/>
                </a:solidFill>
                <a:latin typeface="Calibri"/>
              </a:rPr>
              <a:t>docs/model_card.md à trois niveaux, sans preuve inventée — module 25, CISIA_24082026_Parcours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A636E"/>
                </a:solidFill>
                <a:latin typeface="Calibri"/>
              </a:rPr>
              <a:t>Support pédagogique — Sprint 3 CISIA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E85D2B"/>
                </a:solidFill>
                <a:latin typeface="Calibri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B1F24"/>
                </a:solidFill>
                <a:latin typeface="Calibri"/>
              </a:rPr>
              <a:t>Pourquoi une carte d'identité 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0" i="0">
                <a:solidFill>
                  <a:srgbClr val="1B1F24"/>
                </a:solidFill>
                <a:latin typeface="Calibri"/>
              </a:rPr>
              <a:t>▸  Un modèle en production est regardé par des publics très différents — métier, technique, conformité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1B1F24"/>
                </a:solidFill>
                <a:latin typeface="Calibri"/>
              </a:rPr>
              <a:t>▸  Sans document unique, chacun réinvente sa propre lecture du modèle, avec des chiffres qui divergent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1B1F24"/>
                </a:solidFill>
                <a:latin typeface="Calibri"/>
              </a:rPr>
              <a:t>▸  La Model Card fixe une source de vérité unique, structurée pour ces trois lecteurs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1B1F24"/>
                </a:solidFill>
                <a:latin typeface="Calibri"/>
              </a:rPr>
              <a:t>▸  Livrable du module 25 : docs/model_card.md, contrôlé par une porte automatisée (validate_model_card.py)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A636E"/>
                </a:solidFill>
                <a:latin typeface="Calibri"/>
              </a:rPr>
              <a:t>Model Card — concept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E85D2B"/>
                </a:solidFill>
                <a:latin typeface="Calibri"/>
              </a:rPr>
              <a:t>STRUCTURE · NIVEAU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B1F24"/>
                </a:solidFill>
                <a:latin typeface="Calibri"/>
              </a:rPr>
              <a:t>Niveau métier : à qui parle-t-on 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 b="0" i="0">
                <a:solidFill>
                  <a:srgbClr val="1B1F24"/>
                </a:solidFill>
                <a:latin typeface="Calibri"/>
              </a:rPr>
              <a:t>▸  Finalité et utilisateurs — anticiper une panne sur les presses InduPress (référentiel machine.sql, lignes Ligne-A/B) à 24h grâce aux capteurs température/pression ; utilisateurs = équipes de maintenance et responsables de ligne via /predict-tabular</a:t>
            </a:r>
          </a:p>
          <a:p>
            <a:pPr>
              <a:spcAft>
                <a:spcPts val="1400"/>
              </a:spcAft>
            </a:pPr>
            <a:r>
              <a:rPr sz="1400" b="0" i="0">
                <a:solidFill>
                  <a:srgbClr val="1B1F24"/>
                </a:solidFill>
                <a:latin typeface="Calibri"/>
              </a:rPr>
              <a:t>▸  Décision assistée — le modèle renvoie une probabilité P(panne), jamais un ordre d'arrêt : il déclenche une inspection humaine, pas une action automatique</a:t>
            </a:r>
          </a:p>
          <a:p>
            <a:pPr>
              <a:spcAft>
                <a:spcPts val="1400"/>
              </a:spcAft>
            </a:pPr>
            <a:r>
              <a:rPr sz="1400" b="0" i="0">
                <a:solidFill>
                  <a:srgbClr val="1B1F24"/>
                </a:solidFill>
                <a:latin typeface="Calibri"/>
              </a:rPr>
              <a:t>▸  Hors périmètre — ne décide jamais seul l'arrêt d'une machine, ne couvre pas un arrêt d'urgence (severity 4 dans releves_incidents.csv), qui reste une procédure humaine immédiate</a:t>
            </a:r>
          </a:p>
          <a:p>
            <a:pPr>
              <a:spcAft>
                <a:spcPts val="1400"/>
              </a:spcAft>
            </a:pPr>
            <a:r>
              <a:rPr sz="1400" b="0" i="0">
                <a:solidFill>
                  <a:srgbClr val="1B1F24"/>
                </a:solidFill>
                <a:latin typeface="Calibri"/>
              </a:rPr>
              <a:t>▸  Supervision humaine — le responsable de ligne reste décisionnaire final, en particulier sur les machines criticality=HIGH (ex. MACH-03)</a:t>
            </a:r>
          </a:p>
          <a:p>
            <a:pPr>
              <a:spcAft>
                <a:spcPts val="1400"/>
              </a:spcAft>
            </a:pPr>
            <a:r>
              <a:rPr sz="1400" b="0" i="0">
                <a:solidFill>
                  <a:srgbClr val="1B1F24"/>
                </a:solidFill>
                <a:latin typeface="Calibri"/>
              </a:rPr>
              <a:t>–  Coût des erreurs — faux négatif = panne manquée, plus coûteux sur une machine HIGH (arrêt non planifié, max_daily_capacity perdue) ; faux positif = inspection mobilisée pour rien ; aujourd'hui, au seuil mesuré 0,975, precision=recall=f1=0 : toute panne réelle serait actuellement un faux négatif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A636E"/>
                </a:solidFill>
                <a:latin typeface="Calibri"/>
              </a:rPr>
              <a:t>Model Card — niveau métier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E85D2B"/>
                </a:solidFill>
                <a:latin typeface="Calibri"/>
              </a:rPr>
              <a:t>STRUCTURE · NIVEAU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B1F24"/>
                </a:solidFill>
                <a:latin typeface="Calibri"/>
              </a:rPr>
              <a:t>Niveau technique : peut-on lui faire confiance 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 b="0" i="0">
                <a:solidFill>
                  <a:srgbClr val="1B1F24"/>
                </a:solidFill>
                <a:latin typeface="Calibri"/>
              </a:rPr>
              <a:t>▸  Artefact et version — rf.joblib (RandomForest, models/tabular.py), package_version 0.1.0, produit par `indusense train` — [mesuré] preuve=artifacts/models/model_metadata.json</a:t>
            </a:r>
          </a:p>
          <a:p>
            <a:pPr>
              <a:spcAft>
                <a:spcPts val="1400"/>
              </a:spcAft>
            </a:pPr>
            <a:r>
              <a:rPr sz="1400" b="0" i="0">
                <a:solidFill>
                  <a:srgbClr val="1B1F24"/>
                </a:solidFill>
                <a:latin typeface="Calibri"/>
              </a:rPr>
              <a:t>▸  Données, split temporel et empreinte — data/gold/gold_dataset.csv, 1896 lignes, panne_rate 0,1055, split temporel/machine (1516 train / 380 test) ; empreinte gold_md5 connue côté MLflow mais absente du fichier déployé</a:t>
            </a:r>
          </a:p>
          <a:p>
            <a:pPr>
              <a:spcAft>
                <a:spcPts val="1400"/>
              </a:spcAft>
            </a:pPr>
            <a:r>
              <a:rPr sz="1400" b="0" i="0">
                <a:solidFill>
                  <a:srgbClr val="1B1F24"/>
                </a:solidFill>
                <a:latin typeface="Calibri"/>
              </a:rPr>
              <a:t>▸  Métriques et seuil — seuil retenu 0,975, PR-AUC 0,1036, ROC-AUC 0,2475, precision=recall=f1=0 — mesurés dans mlflow.db, pas encore recopiés dans l'artefact déployé</a:t>
            </a:r>
          </a:p>
          <a:p>
            <a:pPr>
              <a:spcAft>
                <a:spcPts val="1400"/>
              </a:spcAft>
            </a:pPr>
            <a:r>
              <a:rPr sz="1400" b="0" i="0">
                <a:solidFill>
                  <a:srgbClr val="1B1F24"/>
                </a:solidFill>
                <a:latin typeface="Calibri"/>
              </a:rPr>
              <a:t>▸  MLflow run_id — deux runs réels existent (indusense-rf v1/v2, expérience indusense-maintenance) mais aucun n'est cité dans model_metadata.json déployé</a:t>
            </a:r>
          </a:p>
          <a:p>
            <a:pPr>
              <a:spcAft>
                <a:spcPts val="1400"/>
              </a:spcAft>
            </a:pPr>
            <a:r>
              <a:rPr sz="1400" b="0" i="0">
                <a:solidFill>
                  <a:srgbClr val="1B1F24"/>
                </a:solidFill>
                <a:latin typeface="Calibri"/>
              </a:rPr>
              <a:t>▸  Signature I/O — 12 features (température/pression + lags/rolling) → P(panne) — [mesuré] preuve=artifacts/models/model_metadata.json</a:t>
            </a:r>
          </a:p>
          <a:p>
            <a:pPr>
              <a:spcAft>
                <a:spcPts val="1400"/>
              </a:spcAft>
            </a:pPr>
            <a:r>
              <a:rPr sz="1400" b="0" i="0">
                <a:solidFill>
                  <a:srgbClr val="1B1F24"/>
                </a:solidFill>
                <a:latin typeface="Calibri"/>
              </a:rPr>
              <a:t>▸  Coût comparé CPU, RAM, GPU, durée, latence et taille — seule la durée d'entraînement (~5-7 s) est observable via les timestamps des runs ; aucun benchmark formel — [non mesuré]</a:t>
            </a:r>
          </a:p>
          <a:p>
            <a:pPr>
              <a:spcAft>
                <a:spcPts val="1400"/>
              </a:spcAft>
            </a:pPr>
            <a:r>
              <a:rPr sz="1400" b="0" i="0">
                <a:solidFill>
                  <a:srgbClr val="1B1F24"/>
                </a:solidFill>
                <a:latin typeface="Calibri"/>
              </a:rPr>
              <a:t>–  Limites, drift, réévaluation et responsable — non documentés : docs/versioning_strategy.md et docs/threat_model.md restent « à compléter » — [à produire]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A636E"/>
                </a:solidFill>
                <a:latin typeface="Calibri"/>
              </a:rPr>
              <a:t>Model Card — niveau technique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E85D2B"/>
                </a:solidFill>
                <a:latin typeface="Calibri"/>
              </a:rPr>
              <a:t>CAS RÉEL — INDUSENSE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B1F24"/>
                </a:solidFill>
                <a:latin typeface="Calibri"/>
              </a:rPr>
              <a:t>Ce que le fichier déployé prouve aujourd'hui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50000"/>
          <a:ext cx="10698479" cy="38999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3513"/>
                <a:gridCol w="1925726"/>
                <a:gridCol w="5349240"/>
              </a:tblGrid>
              <a:tr h="557142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Champ</a:t>
                      </a:r>
                    </a:p>
                  </a:txBody>
                  <a:tcPr marL="114300" marR="114300" marT="68580" marB="68580" anchor="ctr">
                    <a:solidFill>
                      <a:srgbClr val="1B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Statut</a:t>
                      </a:r>
                    </a:p>
                  </a:txBody>
                  <a:tcPr marL="114300" marR="114300" marT="68580" marB="68580" anchor="ctr">
                    <a:solidFill>
                      <a:srgbClr val="1B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Preuve</a:t>
                      </a:r>
                    </a:p>
                  </a:txBody>
                  <a:tcPr marL="114300" marR="114300" marT="68580" marB="68580" anchor="ctr">
                    <a:solidFill>
                      <a:srgbClr val="1B1F24"/>
                    </a:solidFill>
                  </a:tcPr>
                </a:tc>
              </a:tr>
              <a:tr h="557142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B1F24"/>
                          </a:solidFill>
                          <a:latin typeface="Calibri"/>
                        </a:rPr>
                        <a:t>Artefact et version</a:t>
                      </a:r>
                    </a:p>
                  </a:txBody>
                  <a:tcPr marL="114300" marR="114300" marT="68580" marB="6858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1F24"/>
                          </a:solidFill>
                          <a:latin typeface="Calibri"/>
                        </a:rPr>
                        <a:t>[mesuré]</a:t>
                      </a:r>
                    </a:p>
                  </a:txBody>
                  <a:tcPr marL="114300" marR="114300" marT="68580" marB="6858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1F24"/>
                          </a:solidFill>
                          <a:latin typeface="Calibri"/>
                        </a:rPr>
                        <a:t>rf.joblib, package_version 0.1.0</a:t>
                      </a:r>
                    </a:p>
                  </a:txBody>
                  <a:tcPr marL="114300" marR="114300" marT="68580" marB="68580" anchor="ctr">
                    <a:solidFill>
                      <a:srgbClr val="FFFFFF"/>
                    </a:solidFill>
                  </a:tcPr>
                </a:tc>
              </a:tr>
              <a:tr h="557142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B1F24"/>
                          </a:solidFill>
                          <a:latin typeface="Calibri"/>
                        </a:rPr>
                        <a:t>Données (volume, taux panne)</a:t>
                      </a:r>
                    </a:p>
                  </a:txBody>
                  <a:tcPr marL="114300" marR="114300" marT="68580" marB="6858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1F24"/>
                          </a:solidFill>
                          <a:latin typeface="Calibri"/>
                        </a:rPr>
                        <a:t>[mesuré]</a:t>
                      </a:r>
                    </a:p>
                  </a:txBody>
                  <a:tcPr marL="114300" marR="114300" marT="68580" marB="6858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1F24"/>
                          </a:solidFill>
                          <a:latin typeface="Calibri"/>
                        </a:rPr>
                        <a:t>n_train_rows=1896, panne_rate=0.1055</a:t>
                      </a:r>
                    </a:p>
                  </a:txBody>
                  <a:tcPr marL="114300" marR="114300" marT="68580" marB="68580" anchor="ctr">
                    <a:solidFill>
                      <a:srgbClr val="F4F5F7"/>
                    </a:solidFill>
                  </a:tcPr>
                </a:tc>
              </a:tr>
              <a:tr h="557142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B1F24"/>
                          </a:solidFill>
                          <a:latin typeface="Calibri"/>
                        </a:rPr>
                        <a:t>Signature I/O</a:t>
                      </a:r>
                    </a:p>
                  </a:txBody>
                  <a:tcPr marL="114300" marR="114300" marT="68580" marB="6858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1F24"/>
                          </a:solidFill>
                          <a:latin typeface="Calibri"/>
                        </a:rPr>
                        <a:t>[mesuré]</a:t>
                      </a:r>
                    </a:p>
                  </a:txBody>
                  <a:tcPr marL="114300" marR="114300" marT="68580" marB="6858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1F24"/>
                          </a:solidFill>
                          <a:latin typeface="Calibri"/>
                        </a:rPr>
                        <a:t>12 features (température/pression + dérivées) → panne</a:t>
                      </a:r>
                    </a:p>
                  </a:txBody>
                  <a:tcPr marL="114300" marR="114300" marT="68580" marB="68580" anchor="ctr">
                    <a:solidFill>
                      <a:srgbClr val="FFFFFF"/>
                    </a:solidFill>
                  </a:tcPr>
                </a:tc>
              </a:tr>
              <a:tr h="557142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B1F24"/>
                          </a:solidFill>
                          <a:latin typeface="Calibri"/>
                        </a:rPr>
                        <a:t>Empreinte / hash du dataset</a:t>
                      </a:r>
                    </a:p>
                  </a:txBody>
                  <a:tcPr marL="114300" marR="114300" marT="68580" marB="6858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1F24"/>
                          </a:solidFill>
                          <a:latin typeface="Calibri"/>
                        </a:rPr>
                        <a:t>[non mesuré]</a:t>
                      </a:r>
                    </a:p>
                  </a:txBody>
                  <a:tcPr marL="114300" marR="114300" marT="68580" marB="6858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1F24"/>
                          </a:solidFill>
                          <a:latin typeface="Calibri"/>
                        </a:rPr>
                        <a:t>aucun hash ni suivi DVC dans ce fichier</a:t>
                      </a:r>
                    </a:p>
                  </a:txBody>
                  <a:tcPr marL="114300" marR="114300" marT="68580" marB="68580" anchor="ctr">
                    <a:solidFill>
                      <a:srgbClr val="F4F5F7"/>
                    </a:solidFill>
                  </a:tcPr>
                </a:tc>
              </a:tr>
              <a:tr h="557142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B1F24"/>
                          </a:solidFill>
                          <a:latin typeface="Calibri"/>
                        </a:rPr>
                        <a:t>MLflow run_id</a:t>
                      </a:r>
                    </a:p>
                  </a:txBody>
                  <a:tcPr marL="114300" marR="114300" marT="68580" marB="6858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1F24"/>
                          </a:solidFill>
                          <a:latin typeface="Calibri"/>
                        </a:rPr>
                        <a:t>[à produire]</a:t>
                      </a:r>
                    </a:p>
                  </a:txBody>
                  <a:tcPr marL="114300" marR="114300" marT="68580" marB="6858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1F24"/>
                          </a:solidFill>
                          <a:latin typeface="Calibri"/>
                        </a:rPr>
                        <a:t>le champ n'existe pas dans le schéma écrit par indusense train</a:t>
                      </a:r>
                    </a:p>
                  </a:txBody>
                  <a:tcPr marL="114300" marR="114300" marT="68580" marB="68580" anchor="ctr">
                    <a:solidFill>
                      <a:srgbClr val="FFFFFF"/>
                    </a:solidFill>
                  </a:tcPr>
                </a:tc>
              </a:tr>
              <a:tr h="557142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B1F24"/>
                          </a:solidFill>
                          <a:latin typeface="Calibri"/>
                        </a:rPr>
                        <a:t>Métriques et seuil</a:t>
                      </a:r>
                    </a:p>
                  </a:txBody>
                  <a:tcPr marL="114300" marR="114300" marT="68580" marB="6858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1F24"/>
                          </a:solidFill>
                          <a:latin typeface="Calibri"/>
                        </a:rPr>
                        <a:t>[à produire]</a:t>
                      </a:r>
                    </a:p>
                  </a:txBody>
                  <a:tcPr marL="114300" marR="114300" marT="68580" marB="6858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1F24"/>
                          </a:solidFill>
                          <a:latin typeface="Calibri"/>
                        </a:rPr>
                        <a:t>aucune métrique de performance dans l'artefact chargé par l'API</a:t>
                      </a:r>
                    </a:p>
                  </a:txBody>
                  <a:tcPr marL="114300" marR="114300" marT="68580" marB="68580" anchor="ctr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649994"/>
            <a:ext cx="1069848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5A636E"/>
                </a:solidFill>
                <a:latin typeface="Calibri"/>
              </a:rPr>
              <a:t>Fichier réellement chargé par l'API : artifacts/models/model_metadata.json (src/indusense/api/model_store.py)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A636E"/>
                </a:solidFill>
                <a:latin typeface="Calibri"/>
              </a:rPr>
              <a:t>Model Card — cas réel — état mesuré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E85D2B"/>
                </a:solidFill>
                <a:latin typeface="Calibri"/>
              </a:rPr>
              <a:t>CAS RÉEL — INDUSENSE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B1F24"/>
                </a:solidFill>
                <a:latin typeface="Calibri"/>
              </a:rPr>
              <a:t>Un run MLflow mesuré existe, mais il n'est pas relié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00" b="0" i="0">
                <a:solidFill>
                  <a:srgbClr val="1B1F24"/>
                </a:solidFill>
                <a:latin typeface="Calibri"/>
              </a:rPr>
              <a:t>▸  Deux runs réels sont enregistrés dans mlflow.db — modèle indusense-rf v1 et v2, expérience indusense-maintenance (scripts/demo_versioning.py)</a:t>
            </a:r>
          </a:p>
          <a:p>
            <a:pPr>
              <a:spcAft>
                <a:spcPts val="1400"/>
              </a:spcAft>
            </a:pPr>
            <a:r>
              <a:rPr sz="1500" b="0" i="0">
                <a:solidFill>
                  <a:srgbClr val="1B1F24"/>
                </a:solidFill>
                <a:latin typeface="Calibri"/>
              </a:rPr>
              <a:t>▸  Ils portent les mêmes n_train_rows / panne_rate (1896 / 0,1055) que l'artefact déployé — vraisemblablement la même donnée d'entrée</a:t>
            </a:r>
          </a:p>
          <a:p>
            <a:pPr>
              <a:spcAft>
                <a:spcPts val="1400"/>
              </a:spcAft>
            </a:pPr>
            <a:r>
              <a:rPr sz="1500" b="0" i="0">
                <a:solidFill>
                  <a:srgbClr val="1B1F24"/>
                </a:solidFill>
                <a:latin typeface="Calibri"/>
              </a:rPr>
              <a:t>▸  Ils portent aussi de vraies métriques : seuil 0,975 · PR-AUC 0,1036 · ROC-AUC 0,2475 · precision = recall = f1 = 0,0</a:t>
            </a:r>
          </a:p>
          <a:p>
            <a:pPr>
              <a:spcAft>
                <a:spcPts val="1400"/>
              </a:spcAft>
            </a:pPr>
            <a:r>
              <a:rPr sz="1500" b="0" i="0">
                <a:solidFill>
                  <a:srgbClr val="1B1F24"/>
                </a:solidFill>
                <a:latin typeface="Calibri"/>
              </a:rPr>
              <a:t>–  Mais model_metadata.json (le fichier que l'API charge réellement) ne cite aucun run_id : rien ne prouve formellement que ces métriques décrivent le modèle en production</a:t>
            </a:r>
          </a:p>
          <a:p>
            <a:pPr>
              <a:spcAft>
                <a:spcPts val="1400"/>
              </a:spcAft>
            </a:pPr>
            <a:r>
              <a:rPr sz="1500" b="0" i="0">
                <a:solidFill>
                  <a:srgbClr val="1B1F24"/>
                </a:solidFill>
                <a:latin typeface="Calibri"/>
              </a:rPr>
              <a:t>–  C'est exactement le trou que la Model Card doit rendre visible, pas masquer : deux preuves réelles existent, le chemin qui les relie est [à produire]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A636E"/>
                </a:solidFill>
                <a:latin typeface="Calibri"/>
              </a:rPr>
              <a:t>Model Card — cas réel — le lien manquant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E85D2B"/>
                </a:solidFill>
                <a:latin typeface="Calibri"/>
              </a:rPr>
              <a:t>ARCHITECTURE · MODULE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B1F24"/>
                </a:solidFill>
                <a:latin typeface="Calibri"/>
              </a:rPr>
              <a:t>Le modèle enveloppé dans un contrat HTTP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0" i="0">
                <a:solidFill>
                  <a:srgbClr val="1B1F24"/>
                </a:solidFill>
                <a:latin typeface="Calibri"/>
              </a:rPr>
              <a:t>▸  Module 25 enveloppe le modèle déjà entraîné (rf.joblib) dans un contrat HTTP : schemas.py (formes Pydantic), model_store.py (chargement du modèle), main.py (routes + sécurité)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1B1F24"/>
                </a:solidFill>
                <a:latin typeface="Calibri"/>
              </a:rPr>
              <a:t>▸  Trois routes fixent le contrat avant la logique métier — /health (liveness), /ready (503 si le modèle n'est pas encore chargé), /predict-tabular (prédiction, protégée par X-API-Key)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1B1F24"/>
                </a:solidFill>
                <a:latin typeface="Calibri"/>
              </a:rPr>
              <a:t>▸  Le modèle est chargé une seule fois au démarrage du serveur (lifespan), jamais à chaque requête — sinon la latence exploserait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1B1F24"/>
                </a:solidFill>
                <a:latin typeface="Calibri"/>
              </a:rPr>
              <a:t>–  /docs (Swagger UI) est généré depuis schemas.py : la documentation ne peut pas mentir sur le contrat réel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A636E"/>
                </a:solidFill>
                <a:latin typeface="Calibri"/>
              </a:rPr>
              <a:t>Model Card — architecture API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E85D2B"/>
                </a:solidFill>
                <a:latin typeface="Calibri"/>
              </a:rPr>
              <a:t>ARCHITECTURE · MODULE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B1F24"/>
                </a:solidFill>
                <a:latin typeface="Calibri"/>
              </a:rPr>
              <a:t>Un middleware request-id, indépendant du métier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0" i="0">
                <a:solidFill>
                  <a:srgbClr val="1B1F24"/>
                </a:solidFill>
                <a:latin typeface="Calibri"/>
              </a:rPr>
              <a:t>▸  Un middleware est ajouté à main.py, appelé pour chaque requête avant même l'authentification — indépendant de la logique métier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1B1F24"/>
                </a:solidFill>
                <a:latin typeface="Calibri"/>
              </a:rPr>
              <a:t>▸  Le client peut fournir X-Request-ID ; à défaut, l'API génère un uuid4, et la valeur revient toujours dans l'en-tête de la réponse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1B1F24"/>
                </a:solidFill>
                <a:latin typeface="Calibri"/>
              </a:rPr>
              <a:t>▸  Ce mécanisme corrèle les requêtes dans les logs — ce n'est pas de l'audit logging, qui reste planifié pour le module 26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1B1F24"/>
                </a:solidFill>
                <a:latin typeface="Calibri"/>
              </a:rPr>
              <a:t>–  Séparé des routes /health, /ready, /predict-tabular, ce middleware peut évoluer sans jamais toucher à la logique métier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A636E"/>
                </a:solidFill>
                <a:latin typeface="Calibri"/>
              </a:rPr>
              <a:t>Model Card — middleware request-id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E85D2B"/>
                </a:solidFill>
                <a:latin typeface="Calibri"/>
              </a:rPr>
              <a:t>STRUCTURE · NIVEAU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B1F24"/>
                </a:solidFill>
                <a:latin typeface="Calibri"/>
              </a:rPr>
              <a:t>Niveau conformité : le modèle est-il gouvernable 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0" i="0">
                <a:solidFill>
                  <a:srgbClr val="1B1F24"/>
                </a:solidFill>
                <a:latin typeface="Calibri"/>
              </a:rPr>
              <a:t>▸  Finalité, personnes affectées et données utilisées — la lecture AI Act de l'usage réel, pas une reformulation du niveau métier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1B1F24"/>
                </a:solidFill>
                <a:latin typeface="Calibri"/>
              </a:rPr>
              <a:t>▸  Risques, transparence, journalisation et supervision — les garde-fous en place pour surveiller et expliquer une décision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1B1F24"/>
                </a:solidFill>
                <a:latin typeface="Calibri"/>
              </a:rPr>
              <a:t>▸  Classification réglementaire — le niveau de risque AI Act, jamais tranché seul : toujours « à confirmer avec le référent conformité »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1B1F24"/>
                </a:solidFill>
                <a:latin typeface="Calibri"/>
              </a:rPr>
              <a:t>–  Ce niveau reste souvent le moins renseigné : il dépend d'un référent externe, pas seulement de l'équipe technique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A636E"/>
                </a:solidFill>
                <a:latin typeface="Calibri"/>
              </a:rPr>
              <a:t>Model Card — niveau conformité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E85D2B"/>
                </a:solidFill>
                <a:latin typeface="Calibri"/>
              </a:rPr>
              <a:t>STRUCTURE · SECTION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B1F24"/>
                </a:solidFill>
                <a:latin typeface="Calibri"/>
              </a:rPr>
              <a:t>Benchmark externe : ce qui n'est pas ton modèle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0" i="0">
                <a:solidFill>
                  <a:srgbClr val="1B1F24"/>
                </a:solidFill>
                <a:latin typeface="Calibri"/>
              </a:rPr>
              <a:t>▸  Une référence externe (ex. Marine — XGBoost, seuil 0,41, PR-AUC 0,62) peut éclairer, jamais remplacer tes propres preuves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1B1F24"/>
                </a:solidFill>
                <a:latin typeface="Calibri"/>
              </a:rPr>
              <a:t>▸  Elle reste isolée dans une section dédiée — la porte automatisée bloque tout chiffre externe mêlé aux niveaux 1 à 3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1B1F24"/>
                </a:solidFill>
                <a:latin typeface="Calibri"/>
              </a:rPr>
              <a:t>▸  Un coût externe (durée, gCO2e) suit la même règle : comparaison utile, jamais attribuée à ton propre modèle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1B1F24"/>
                </a:solidFill>
                <a:latin typeface="Calibri"/>
              </a:rPr>
              <a:t>–  Piège fréquent : recopier un chiffre de référence comme s'il s'agissait d'une preuve mesurée sur son propre modèle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A636E"/>
                </a:solidFill>
                <a:latin typeface="Calibri"/>
              </a:rPr>
              <a:t>Model Card — benchmark externe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E85D2B"/>
                </a:solidFill>
                <a:latin typeface="Calibri"/>
              </a:rPr>
              <a:t>LIEN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B1F24"/>
                </a:solidFill>
                <a:latin typeface="Calibri"/>
              </a:rPr>
              <a:t>Patch note et Model Card : même version, deux rôles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0" i="0">
                <a:solidFill>
                  <a:srgbClr val="1B1F24"/>
                </a:solidFill>
                <a:latin typeface="Calibri"/>
              </a:rPr>
              <a:t>▸  Champ « Artefact et version » (package_version) — la Model Card documente le résultat, jamais la décision qui y mène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1B1F24"/>
                </a:solidFill>
                <a:latin typeface="Calibri"/>
              </a:rPr>
              <a:t>▸  Le patch note justifie ce même package_version : pourquoi ce numéro, quelle amélioration par rapport au précédent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1B1F24"/>
                </a:solidFill>
                <a:latin typeface="Calibri"/>
              </a:rPr>
              <a:t>▸  Si une métrique change (ex. PR-AUC 0,1036 → une autre valeur), le patch note capitalise la décision ; la Model Card absorbe le nouveau chiffre comme preuve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1B1F24"/>
                </a:solidFill>
                <a:latin typeface="Calibri"/>
              </a:rPr>
              <a:t>–  Les deux documents se réfèrent toujours à la même version — jamais deux versions racontées séparément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A636E"/>
                </a:solidFill>
                <a:latin typeface="Calibri"/>
              </a:rPr>
              <a:t>Model Card — lien patch note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E85D2B"/>
                </a:solidFill>
                <a:latin typeface="Calibri"/>
              </a:rPr>
              <a:t>GOUVERNANCE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B1F24"/>
                </a:solidFill>
                <a:latin typeface="Calibri"/>
              </a:rPr>
              <a:t>Qui décide, et où est-ce tracé 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00" b="0" i="0">
                <a:solidFill>
                  <a:srgbClr val="1B1F24"/>
                </a:solidFill>
                <a:latin typeface="Calibri"/>
              </a:rPr>
              <a:t>▸  Aucun document ne trace une décision finale dans ce dépôt : ni PR approuvée (aucun upstream configuré), ni ADR, ni sign-off</a:t>
            </a:r>
          </a:p>
          <a:p>
            <a:pPr>
              <a:spcAft>
                <a:spcPts val="1400"/>
              </a:spcAft>
            </a:pPr>
            <a:r>
              <a:rPr sz="1500" b="0" i="0">
                <a:solidFill>
                  <a:srgbClr val="1B1F24"/>
                </a:solidFill>
                <a:latin typeface="Calibri"/>
              </a:rPr>
              <a:t>▸  « Classification réglementaire : [à confirmer] » est un slot prévu pour une décision, pas un document — rien ne dit qui tranche, quand, ni pourquoi</a:t>
            </a:r>
          </a:p>
          <a:p>
            <a:pPr>
              <a:spcAft>
                <a:spcPts val="1400"/>
              </a:spcAft>
            </a:pPr>
            <a:r>
              <a:rPr sz="1500" b="0" i="0">
                <a:solidFill>
                  <a:srgbClr val="1B1F24"/>
                </a:solidFill>
                <a:latin typeface="Calibri"/>
              </a:rPr>
              <a:t>▸  Bonne pratique : un ADR (docs/adr/) par décision structurante — statut, décideur, date, alternatives écartées — jamais réécrit, seulement supersédé</a:t>
            </a:r>
          </a:p>
          <a:p>
            <a:pPr>
              <a:spcAft>
                <a:spcPts val="1400"/>
              </a:spcAft>
            </a:pPr>
            <a:r>
              <a:rPr sz="1500" b="0" i="0">
                <a:solidFill>
                  <a:srgbClr val="1B1F24"/>
                </a:solidFill>
                <a:latin typeface="Calibri"/>
              </a:rPr>
              <a:t>▸  La PR vers main devient le geste institutionnel réel si la revue est obligatoire (branch protection, CODEOWNERS) et référence l'ADR</a:t>
            </a:r>
          </a:p>
          <a:p>
            <a:pPr>
              <a:spcAft>
                <a:spcPts val="1400"/>
              </a:spcAft>
            </a:pPr>
            <a:r>
              <a:rPr sz="1500" b="0" i="0">
                <a:solidFill>
                  <a:srgbClr val="1B1F24"/>
                </a:solidFill>
                <a:latin typeface="Calibri"/>
              </a:rPr>
              <a:t>–  Tant qu'aucun ADR ni PR approuvée n'existe, [à confirmer] reste le seul statut honnête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A636E"/>
                </a:solidFill>
                <a:latin typeface="Calibri"/>
              </a:rPr>
              <a:t>Model Card — gouvernance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E85D2B"/>
                </a:solidFill>
                <a:latin typeface="Calibri"/>
              </a:rPr>
              <a:t>RÈGLE D'OR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B1F24"/>
                </a:solidFill>
                <a:latin typeface="Calibri"/>
              </a:rPr>
              <a:t>Sans preuve inventée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0" i="0">
                <a:solidFill>
                  <a:srgbClr val="1B1F24"/>
                </a:solidFill>
                <a:latin typeface="Calibri"/>
              </a:rPr>
              <a:t>▸  Jamais de chiffre, de run_id ou de classe de conformité fabriqués pour combler un manque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1B1F24"/>
                </a:solidFill>
                <a:latin typeface="Calibri"/>
              </a:rPr>
              <a:t>▸  Sans run MLflow existant : écrire exactement « à produire », pas une valeur plausible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1B1F24"/>
                </a:solidFill>
                <a:latin typeface="Calibri"/>
              </a:rPr>
              <a:t>▸  Sans qualification de conformité établie : « à confirmer avec le référent conformité »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1B1F24"/>
                </a:solidFill>
                <a:latin typeface="Calibri"/>
              </a:rPr>
              <a:t>▸  Un benchmark externe (ex. Marine) reste un encadré distinct — jamais présenté comme ton propre résultat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1B1F24"/>
                </a:solidFill>
                <a:latin typeface="Calibri"/>
              </a:rPr>
              <a:t>▸  Plan B hors ligne : produire la carte, marquer les champs manquants, noter l'action de rattachement future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A636E"/>
                </a:solidFill>
                <a:latin typeface="Calibri"/>
              </a:rPr>
              <a:t>Model Card — règle d'or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E85D2B"/>
                </a:solidFill>
                <a:latin typeface="Calibri"/>
              </a:rPr>
              <a:t>PREUVE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B1F24"/>
                </a:solidFill>
                <a:latin typeface="Calibri"/>
              </a:rPr>
              <a:t>La porte automatisée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3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0" i="0">
                <a:solidFill>
                  <a:srgbClr val="1B1F24"/>
                </a:solidFill>
                <a:latin typeface="Calibri"/>
              </a:rPr>
              <a:t>▸  scripts/validate_model_card.py contrôle structure, provenance et benchmark</a:t>
            </a:r>
          </a:p>
          <a:p>
            <a:pPr>
              <a:spcAft>
                <a:spcPts val="1400"/>
              </a:spcAft>
            </a:pPr>
            <a:r>
              <a:rPr sz="1700" b="0" i="0">
                <a:solidFill>
                  <a:srgbClr val="1B1F24"/>
                </a:solidFill>
                <a:latin typeface="Calibri"/>
              </a:rPr>
              <a:t>▸  Un premier appel doit produire STRUCTURE=PASS</a:t>
            </a:r>
          </a:p>
          <a:p>
            <a:pPr>
              <a:spcAft>
                <a:spcPts val="1400"/>
              </a:spcAft>
            </a:pPr>
            <a:r>
              <a:rPr sz="1700" b="0" i="0">
                <a:solidFill>
                  <a:srgbClr val="1B1F24"/>
                </a:solidFill>
                <a:latin typeface="Calibri"/>
              </a:rPr>
              <a:t>▸  --require-c5 n'est activé qu'après production de preuves réelles — pas avant</a:t>
            </a:r>
          </a:p>
          <a:p>
            <a:pPr>
              <a:spcAft>
                <a:spcPts val="1400"/>
              </a:spcAft>
            </a:pPr>
            <a:r>
              <a:rPr sz="1700" b="0" i="0">
                <a:solidFill>
                  <a:srgbClr val="1B1F24"/>
                </a:solidFill>
                <a:latin typeface="Calibri"/>
              </a:rPr>
              <a:t>▸  La carte prépare la compétence C4 ; C5 exige encore des preuves réelles pour être validée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700000"/>
            <a:ext cx="10698480" cy="1650000"/>
          </a:xfrm>
          <a:prstGeom prst="round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91440" bIns="91440"/>
          <a:lstStyle/>
          <a:p>
            <a:pPr algn="ctr"/>
            <a:r>
              <a:rPr sz="1300" b="0" i="0">
                <a:solidFill>
                  <a:srgbClr val="8FE38F"/>
                </a:solidFill>
                <a:latin typeface="Consolas"/>
              </a:rPr>
              <a:t>$ uv run python scripts/validate_model_card.py docs/model_card.md --project-root .</a:t>
            </a:r>
          </a:p>
          <a:p>
            <a:pPr algn="ctr"/>
            <a:r>
              <a:rPr sz="1300" b="0" i="0">
                <a:solidFill>
                  <a:srgbClr val="8FE38F"/>
                </a:solidFill>
                <a:latin typeface="Consolas"/>
              </a:rPr>
              <a:t>STRUCTURE=PASS</a:t>
            </a:r>
          </a:p>
          <a:p>
            <a:pPr algn="ctr"/>
            <a:r>
              <a:rPr sz="1300" b="0" i="0">
                <a:solidFill>
                  <a:srgbClr val="8FE38F"/>
                </a:solidFill>
                <a:latin typeface="Consolas"/>
              </a:rPr>
              <a:t>if ($LASTEXITCODE -ne 0) { throw 'Model Card non recevable.'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A636E"/>
                </a:solidFill>
                <a:latin typeface="Calibri"/>
              </a:rPr>
              <a:t>Model Card — preuve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E85D2B"/>
                </a:solidFill>
                <a:latin typeface="Calibri"/>
              </a:rPr>
              <a:t>EN RÉSUMÉ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B1F24"/>
                </a:solidFill>
                <a:latin typeface="Calibri"/>
              </a:rPr>
              <a:t>En résumé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 b="0" i="0">
                <a:solidFill>
                  <a:srgbClr val="1B1F24"/>
                </a:solidFill>
                <a:latin typeface="Calibri"/>
              </a:rPr>
              <a:t>▸  La Model Card documente quatre blocs : métier, technique, conformité, et un benchmark externe isolé</a:t>
            </a:r>
          </a:p>
          <a:p>
            <a:pPr>
              <a:spcAft>
                <a:spcPts val="1400"/>
              </a:spcAft>
            </a:pPr>
            <a:r>
              <a:rPr sz="1400" b="0" i="0">
                <a:solidFill>
                  <a:srgbClr val="1B1F24"/>
                </a:solidFill>
                <a:latin typeface="Calibri"/>
              </a:rPr>
              <a:t>▸  Chaque champ manquant est marqué explicitement (« à produire »), jamais inventé</a:t>
            </a:r>
          </a:p>
          <a:p>
            <a:pPr>
              <a:spcAft>
                <a:spcPts val="1400"/>
              </a:spcAft>
            </a:pPr>
            <a:r>
              <a:rPr sz="1400" b="0" i="0">
                <a:solidFill>
                  <a:srgbClr val="1B1F24"/>
                </a:solidFill>
                <a:latin typeface="Calibri"/>
              </a:rPr>
              <a:t>▸  Patch note et Model Card se réfèrent à la même version : l'un porte la décision, l'autre la preuve</a:t>
            </a:r>
          </a:p>
          <a:p>
            <a:pPr>
              <a:spcAft>
                <a:spcPts val="1400"/>
              </a:spcAft>
            </a:pPr>
            <a:r>
              <a:rPr sz="1400" b="0" i="0">
                <a:solidFill>
                  <a:srgbClr val="1B1F24"/>
                </a:solidFill>
                <a:latin typeface="Calibri"/>
              </a:rPr>
              <a:t>▸  Une décision de gouvernance (ex. classification réglementaire) se trace par un ADR ou une PR approuvée — jamais improvisée</a:t>
            </a:r>
          </a:p>
          <a:p>
            <a:pPr>
              <a:spcAft>
                <a:spcPts val="1400"/>
              </a:spcAft>
            </a:pPr>
            <a:r>
              <a:rPr sz="1400" b="0" i="0">
                <a:solidFill>
                  <a:srgbClr val="1B1F24"/>
                </a:solidFill>
                <a:latin typeface="Calibri"/>
              </a:rPr>
              <a:t>▸  Une porte automatisée (validate_model_card.py) contrôle structure et provenance avant validation</a:t>
            </a:r>
          </a:p>
          <a:p>
            <a:pPr>
              <a:spcAft>
                <a:spcPts val="1400"/>
              </a:spcAft>
            </a:pPr>
            <a:r>
              <a:rPr sz="1400" b="0" i="0">
                <a:solidFill>
                  <a:srgbClr val="1B1F24"/>
                </a:solidFill>
                <a:latin typeface="Calibri"/>
              </a:rPr>
              <a:t>▸  Aujourd'hui, InduSense illustre ce principe en creux : artefact et signature I/O mesurés, mais MLflow run_id et métriques encore [à produire] côté artefact déployé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A636E"/>
                </a:solidFill>
                <a:latin typeface="Calibri"/>
              </a:rPr>
              <a:t>Model Card — résumé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