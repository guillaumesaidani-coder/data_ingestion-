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00000"/>
            <a:ext cx="10972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5D2B"/>
                </a:solidFill>
                <a:latin typeface="Calibri"/>
              </a:rPr>
              <a:t>JALON 03 — MODEL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00000"/>
            <a:ext cx="109728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Le contrat de preuve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C8CED6"/>
                </a:solidFill>
                <a:latin typeface="Calibri"/>
              </a:rPr>
              <a:t>Chaque affirmation technique, reliée à un artefact vérifiable et localisable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00000"/>
            <a:ext cx="7315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29C"/>
                </a:solidFill>
                <a:latin typeface="Calibri"/>
              </a:rPr>
              <a:t>Support pédagogique —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LE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La Model Card, telle qu'elle est structurée dans ce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4 sections : niveau métier (finalité, utilisateurs, coût des erreurs) → technique/maintenance (artefact, données, métriques et seuil, run MLflow) → conformité AI Act (risques, classification réglementaire) → benchmark externe distinct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5 statuts autorisés pour chaque ligne : [mesuré], [à produire], [non mesuré], [à confirmer], [benchmark externe] — aucun autre mot n'est accepté par le gate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Toute ligne [mesuré] doit porter preuve=chemin/relatif vers un fichier local réel — sans ce chemin, la ligne est rejetée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La section « benchmark externe » est isolée à dessein : un chiffre de référence externe ne doit jamais se glisser ailleurs dans le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Contrat de preuve — Model Card — le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LE PRINCIPE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Une affirmation sans preuve n'est qu'une opinion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Une affirmation technique est un énoncé vérifiable : « précision de 92 % », « latence P95 de 180 ms », « données anonymisées avant entraînement »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[mesuré] signifie que l'affirmation est reliée à un artefact réel et localisable — un fichier que quelqu'un d'autre peut ouvrir et vérifier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[à produire] ou [à confirmer] signale ce qui n'est pas encore prouvé : un statut honnête, jamais une case cochée par anticipation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Localisable = un chemin exact (evidence/metrics.json), pas « quelque part dans le repo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Contrat de preuve — Model Card — le principe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ANATOMIE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Trois éléments pour qu'une preuve tienne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00000"/>
            <a:ext cx="3413760" cy="4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400" b="1">
                <a:solidFill>
                  <a:srgbClr val="E85D2B"/>
                </a:solidFill>
                <a:latin typeface="Calibri"/>
              </a:rPr>
              <a:t>LE CLAIM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B1F24"/>
                </a:solidFill>
                <a:latin typeface="Calibri"/>
              </a:rPr>
              <a:t>La phrase technique, précise et mesurable — « F1-score de 0.87 sur le jeu de test », pas « le modèle marche bien »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3880" y="1700000"/>
            <a:ext cx="3413760" cy="4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400" b="1">
                <a:solidFill>
                  <a:srgbClr val="E85D2B"/>
                </a:solidFill>
                <a:latin typeface="Calibri"/>
              </a:rPr>
              <a:t>L'ARTEFACT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B1F24"/>
                </a:solidFill>
                <a:latin typeface="Calibri"/>
              </a:rPr>
              <a:t>Le fichier produit par une exécution réelle : metrics.json, run MLflow, log de test — jamais une valeur retapée à la 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6240" y="1700000"/>
            <a:ext cx="3413760" cy="4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400" b="1">
                <a:solidFill>
                  <a:srgbClr val="E85D2B"/>
                </a:solidFill>
                <a:latin typeface="Calibri"/>
              </a:rPr>
              <a:t>LE CHEMIN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B1F24"/>
                </a:solidFill>
                <a:latin typeface="Calibri"/>
              </a:rPr>
              <a:t>L'emplacement exact de l'artefact, et la commande ou le run_id qui permettent de le régénérer et de le recontrôler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Contrat de preuve — Model Card — anatomie d'une preuve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CAS CONCRET — INDUSENSE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Affirmation → artefact, ligne par ligne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00000"/>
          <a:ext cx="10698479" cy="4399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1452"/>
                <a:gridCol w="3637483"/>
                <a:gridCol w="3209544"/>
              </a:tblGrid>
              <a:tr h="733333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Affirmation</a:t>
                      </a:r>
                    </a:p>
                  </a:txBody>
                  <a:tcPr marL="114300" marR="114300" marT="68580" marB="68580" anchor="ctr">
                    <a:solidFill>
                      <a:srgbClr val="1B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Artefact</a:t>
                      </a:r>
                    </a:p>
                  </a:txBody>
                  <a:tcPr marL="114300" marR="114300" marT="68580" marB="68580" anchor="ctr">
                    <a:solidFill>
                      <a:srgbClr val="1B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Chemin</a:t>
                      </a:r>
                    </a:p>
                  </a:txBody>
                  <a:tcPr marL="114300" marR="114300" marT="68580" marB="68580" anchor="ctr">
                    <a:solidFill>
                      <a:srgbClr val="1B1F24"/>
                    </a:solidFill>
                  </a:tcPr>
                </a:tc>
              </a:tr>
              <a:tr h="733333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Calibri"/>
                        </a:rPr>
                        <a:t>Modèle entraîné et versionné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Run MLflow réel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evidence/mlflow.txt (run_id)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</a:tr>
              <a:tr h="733333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Calibri"/>
                        </a:rPr>
                        <a:t>Métriques mesurées, pas estimées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Fichier de métriques exporté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evidence/metrics.json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</a:tr>
              <a:tr h="733333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Calibri"/>
                        </a:rPr>
                        <a:t>Dataset figé et traçable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Dataset versionné DVC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gold_dataset.csv.dvc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</a:tr>
              <a:tr h="733333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Calibri"/>
                        </a:rPr>
                        <a:t>Modèle déployé = modèle entraîné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Métadonnées de modèle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model_metadata.json</a:t>
                      </a:r>
                    </a:p>
                  </a:txBody>
                  <a:tcPr marL="114300" marR="114300" marT="68580" marB="68580" anchor="ctr">
                    <a:solidFill>
                      <a:srgbClr val="F4F5F7"/>
                    </a:solidFill>
                  </a:tcPr>
                </a:tc>
              </a:tr>
              <a:tr h="733333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Calibri"/>
                        </a:rPr>
                        <a:t>L'API refuse ce qu'elle doit refuser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Tests d'intégration exécutés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tests/test_api.py</a:t>
                      </a:r>
                    </a:p>
                  </a:txBody>
                  <a:tcPr marL="114300" marR="114300" marT="68580" marB="6858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Contrat de preuve — Model Card — cas concret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FABRICATION DE LA PREUVE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La preuve se construit avec le modèle, pas après coup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1.  Entraînement tracé — chaque run est loggé dans MLflow (paramètres, métriques, artefacts) au moment de l'exécution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2.  Export des métriques — les résultats du run sont écrits dans un fichier structuré (metrics.json), jamais recopiés à la main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3.  Versioning des données — le dataset gold est figé et suivi par DVC, pour qu'un chiffre reste reproductible dans le temps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4.  Rédaction de la Model Card — chaque phrase renvoie vers l'artefact qui vient d'être produit, avec son statut [mesuré] ou [à produire]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5.  Vérification automatisée — un test dédié échoue si un artefact référencé n'existe pas ou si une affirmation reste sans preuve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Contrat de preuve — Model Card — fabrication de la preuve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LA PORTE (GATE)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test_model_card_gate.py — le contrat est vérifié, pas relu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Vérifie que chaque ligne [mesuré] renvoie vers un fichier de preuve qui existe réellement (preuve=chemin/relatif)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Pour le run_id MLflow, vérifie que ce run_id apparaît bien dans le fichier de preuve cité — pas seulement qu'il est écrit dans la Model Card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Distingue deux portes : C4 (structure et sections valides) et C5 (les 4 champs techniques mesurés avec preuve, via --require-c5)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Ne relit pas la valeur numérique du chiffre : la traçabilité est automatisée, juger si le seuil est atteint reste une revue humaine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 test qui passe signifie « prêt pour revue humaine », jamais « validé en production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Contrat de preuve — Model Card — les tests de la preuve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ANTI-PATTERN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Une Model Card qui décrit sans prouver est une façade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« Le modèle est performant » sans chiffre ni source : une opinion, pas une affirmation vérifiable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Un chiffre retapé à la main depuis un notebook, sans artefact versionné derrière : invérifiable dès que le notebook change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Une API qui répond 200 sans jamais refuser (503 / 401 / 422) n'est pas un contrat, c'est une façade — même logique que la Model Card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Le gate prouve la traçabilité (fichier présent, run_id cohérent avec sa preuve), pas la qualité du chiffre : juger si le seuil est atteint reste une revue humaine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Contrat de preuve — Model Card — anti-pattern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2B"/>
                </a:solidFill>
                <a:latin typeface="Calibri"/>
              </a:rPr>
              <a:t>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contrat de preuve, en une phrase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Chaque affirmation technique porte un statut ([mesuré] / [à produire] / [à confirmer]) et un chemin vers l'artefact qui la prouve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La preuve se construit pendant le travail (tracking, export, versioning), pas rédigée après coup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 Un test automatisé vérifie le lien affirmation → artefact ; la revue humaine s'appuie dessus, elle ne le remplace pas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Passage vert = prêt pour revue — jamais compétence acquise, jamais mise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Contrat de preuve — Model Card — synthèse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