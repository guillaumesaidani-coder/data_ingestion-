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841248"/>
            <a:ext cx="109728" cy="109728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4980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160">
                <a:solidFill>
                  <a:srgbClr val="4C6360"/>
                </a:solidFill>
                <a:latin typeface="Consolas"/>
              </a:rPr>
              <a:t>JALON 10 · MODULES 31–34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00" b="1" i="0">
                <a:solidFill>
                  <a:srgbClr val="10201F"/>
                </a:solidFill>
                <a:latin typeface="Bahnschrift"/>
              </a:rPr>
              <a:t>Observabilité de la dérive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060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50" b="0" i="0">
                <a:solidFill>
                  <a:srgbClr val="4C6360"/>
                </a:solidFill>
                <a:latin typeface="Segoe UI"/>
              </a:rPr>
              <a:t>Usage, périmètre fonctionnel, mécanique du bout en bout, diagnostic et arbitrage de réentraînement — le système de surveillance InduSense tel qu'il tourne réellement.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77639"/>
            <a:ext cx="338327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4133087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00">
                <a:solidFill>
                  <a:srgbClr val="1F6478"/>
                </a:solidFill>
                <a:latin typeface="Consolas"/>
              </a:rPr>
              <a:t>SURVEILLE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407408"/>
            <a:ext cx="29809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temperature, pressure_bar — 2 régimes de référence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3977639"/>
            <a:ext cx="338327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4133087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00">
                <a:solidFill>
                  <a:srgbClr val="1F6478"/>
                </a:solidFill>
                <a:latin typeface="Consolas"/>
              </a:rPr>
              <a:t>FRÉQUENCE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4407408"/>
            <a:ext cx="29809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fenêtre 7 jours glissants, par machine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7" y="3977639"/>
            <a:ext cx="338327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4133087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00">
                <a:solidFill>
                  <a:srgbClr val="1F6478"/>
                </a:solidFill>
                <a:latin typeface="Consolas"/>
              </a:rPr>
              <a:t>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4407408"/>
            <a:ext cx="29809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src/indusense/monitoring/drift.py + reports/drift/drift_spec.md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Parcours CISIA — Sprint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Observabilité de la dérive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0201F"/>
                </a:solidFill>
                <a:latin typeface="Bahnschrift"/>
              </a:rPr>
              <a:t>Une ronde de surveillance, pas un contrôle ponctuel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C6360"/>
                </a:solidFill>
                <a:latin typeface="Segoe UI"/>
              </a:rPr>
              <a:t>docs/TP_drift.md décrit le protocole ; en usage réel, la ronde tourne en continu via l'exportateur + Grafana, pas à la main à chaque fois.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088136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82296" cy="713232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6478"/>
                </a:solidFill>
                <a:latin typeface="Consolas"/>
              </a:rPr>
              <a:t>QUI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965960"/>
            <a:ext cx="8412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Opérateur / MLOps de garde — pas un data scientist à chaque lecture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1088136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82296" cy="713232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88920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6478"/>
                </a:solidFill>
                <a:latin typeface="Consolas"/>
              </a:rPr>
              <a:t>QUAND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788920"/>
            <a:ext cx="8412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En continu (exportateur, 15 s) + revue hebdomadaire (fenêtre 7 j glissants)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79"/>
            <a:ext cx="1088136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611879"/>
            <a:ext cx="82296" cy="713232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11879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5501C"/>
                </a:solidFill>
                <a:latin typeface="Consolas"/>
              </a:rPr>
              <a:t>OÙ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611879"/>
            <a:ext cx="8412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Dashboard Grafana « InduSense — dérive &amp; métriques », 6 panneaux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34840"/>
            <a:ext cx="1088136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434840"/>
            <a:ext cx="82296" cy="713232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34840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5501C"/>
                </a:solidFill>
                <a:latin typeface="Consolas"/>
              </a:rPr>
              <a:t>AVEC QUOI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434840"/>
            <a:ext cx="8412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0201F"/>
                </a:solidFill>
                <a:latin typeface="Consolas"/>
              </a:rPr>
              <a:t>uv run python scripts/evaluate_drift.py --fenetre &lt;n&gt; [--reference haute] [--machine &lt;id&gt;]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94960"/>
            <a:ext cx="10881360" cy="777240"/>
          </a:xfrm>
          <a:prstGeom prst="roundRect">
            <a:avLst>
              <a:gd name="adj" fmla="val 5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394960"/>
            <a:ext cx="10241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0201F"/>
                </a:solidFill>
                <a:latin typeface="Segoe UI"/>
              </a:rPr>
              <a:t>Le choix de la référence (normale vs haute charge) est </a:t>
            </a:r>
            <a:r>
              <a:rPr sz="1200" b="1" i="0">
                <a:solidFill>
                  <a:srgbClr val="7C3510"/>
                </a:solidFill>
                <a:latin typeface="Segoe UI"/>
              </a:rPr>
              <a:t>une décision métier</a:t>
            </a:r>
            <a:r>
              <a:rPr sz="1200" b="0" i="0">
                <a:solidFill>
                  <a:srgbClr val="10201F"/>
                </a:solidFill>
                <a:latin typeface="Segoe UI"/>
              </a:rPr>
              <a:t> — planning de charge connu — jamais automatique. C'est l'opérateur qui sait qu'une campagne est en cours, pas le système.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Observabilité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Usage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SCOPE FONCTIONNEL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0201F"/>
                </a:solidFill>
                <a:latin typeface="Bahnschrift"/>
              </a:rPr>
              <a:t>Ce que le système couvre — et ce qu'il ne couvre 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07492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074920" cy="502920"/>
          </a:xfrm>
          <a:prstGeom prst="roundRect">
            <a:avLst/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617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60">
                <a:solidFill>
                  <a:srgbClr val="2F7A53"/>
                </a:solidFill>
                <a:latin typeface="Consolas"/>
              </a:rPr>
              <a:t>COUVERT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50592"/>
            <a:ext cx="73152" cy="73152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40864"/>
            <a:ext cx="4389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30" b="0" i="0">
                <a:solidFill>
                  <a:srgbClr val="10201F"/>
                </a:solidFill>
                <a:latin typeface="Segoe UI"/>
              </a:rPr>
              <a:t>Dérive d'entrée sur 2 capteurs (temperature, pressure_bar), PSI + KS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154680"/>
            <a:ext cx="73152" cy="73152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044952"/>
            <a:ext cx="4389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30" b="0" i="0">
                <a:solidFill>
                  <a:srgbClr val="10201F"/>
                </a:solidFill>
                <a:latin typeface="Segoe UI"/>
              </a:rPr>
              <a:t>2 régimes de référence figés (normale, haute charge), comparaison aux deux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858768"/>
            <a:ext cx="73152" cy="73152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749040"/>
            <a:ext cx="4389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30" b="0" i="0">
                <a:solidFill>
                  <a:srgbClr val="10201F"/>
                </a:solidFill>
                <a:latin typeface="Segoe UI"/>
              </a:rPr>
              <a:t>Segmentation par machine, priorité aux machines criticality=HIGH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562855"/>
            <a:ext cx="73152" cy="73152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453128"/>
            <a:ext cx="4389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30" b="0" i="0">
                <a:solidFill>
                  <a:srgbClr val="10201F"/>
                </a:solidFill>
                <a:latin typeface="Segoe UI"/>
              </a:rPr>
              <a:t>KPI de second rideau : rappel, ROC, taux d'alerte, taux de confirmation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266943"/>
            <a:ext cx="73152" cy="73152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157216"/>
            <a:ext cx="4389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30" b="0" i="0">
                <a:solidFill>
                  <a:srgbClr val="10201F"/>
                </a:solidFill>
                <a:latin typeface="Segoe UI"/>
              </a:rPr>
              <a:t>Export continu vers Prometheus + dashboard Grafana provisionné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79" y="1691640"/>
            <a:ext cx="507492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79" y="1691640"/>
            <a:ext cx="5074920" cy="502920"/>
          </a:xfrm>
          <a:prstGeom prst="roundRect">
            <a:avLst/>
          </a:prstGeom>
          <a:solidFill>
            <a:srgbClr val="F7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9" y="1691640"/>
            <a:ext cx="4617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60">
                <a:solidFill>
                  <a:srgbClr val="B23A2F"/>
                </a:solidFill>
                <a:latin typeface="Consolas"/>
              </a:rPr>
              <a:t>HORS PÉRIMÈTRE</a:t>
            </a:r>
          </a:p>
        </p:txBody>
      </p:sp>
      <p:sp>
        <p:nvSpPr>
          <p:cNvPr id="21" name="Oval 20"/>
          <p:cNvSpPr/>
          <p:nvPr/>
        </p:nvSpPr>
        <p:spPr>
          <a:xfrm>
            <a:off x="6355079" y="2450592"/>
            <a:ext cx="73152" cy="73152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2340864"/>
            <a:ext cx="4389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30" b="0" i="0">
                <a:solidFill>
                  <a:srgbClr val="10201F"/>
                </a:solidFill>
                <a:latin typeface="Segoe UI"/>
              </a:rPr>
              <a:t>Détection automatique du concept drift (X inchangé, y qui change) — PSI aveugle par construction</a:t>
            </a:r>
          </a:p>
        </p:txBody>
      </p:sp>
      <p:sp>
        <p:nvSpPr>
          <p:cNvPr id="23" name="Oval 22"/>
          <p:cNvSpPr/>
          <p:nvPr/>
        </p:nvSpPr>
        <p:spPr>
          <a:xfrm>
            <a:off x="6355079" y="3154680"/>
            <a:ext cx="73152" cy="73152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3044952"/>
            <a:ext cx="4389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30" b="0" i="0">
                <a:solidFill>
                  <a:srgbClr val="10201F"/>
                </a:solidFill>
                <a:latin typeface="Segoe UI"/>
              </a:rPr>
              <a:t>Choix automatique de la référence — reste une décision humaine</a:t>
            </a:r>
          </a:p>
        </p:txBody>
      </p:sp>
      <p:sp>
        <p:nvSpPr>
          <p:cNvPr id="25" name="Oval 24"/>
          <p:cNvSpPr/>
          <p:nvPr/>
        </p:nvSpPr>
        <p:spPr>
          <a:xfrm>
            <a:off x="6355079" y="3858768"/>
            <a:ext cx="73152" cy="73152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3749040"/>
            <a:ext cx="4389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30" b="0" i="0">
                <a:solidFill>
                  <a:srgbClr val="10201F"/>
                </a:solidFill>
                <a:latin typeface="Segoe UI"/>
              </a:rPr>
              <a:t>Notification livrée (Slack/email) — Grafana Alerting doit être configuré à part</a:t>
            </a:r>
          </a:p>
        </p:txBody>
      </p:sp>
      <p:sp>
        <p:nvSpPr>
          <p:cNvPr id="27" name="Oval 26"/>
          <p:cNvSpPr/>
          <p:nvPr/>
        </p:nvSpPr>
        <p:spPr>
          <a:xfrm>
            <a:off x="6355079" y="4562855"/>
            <a:ext cx="73152" cy="73152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4453128"/>
            <a:ext cx="4389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30" b="0" i="0">
                <a:solidFill>
                  <a:srgbClr val="10201F"/>
                </a:solidFill>
                <a:latin typeface="Segoe UI"/>
              </a:rPr>
              <a:t>Réentraînement automatique — toujours un arbitrage humain (cf. slide arbitrage)</a:t>
            </a:r>
          </a:p>
        </p:txBody>
      </p:sp>
      <p:sp>
        <p:nvSpPr>
          <p:cNvPr id="29" name="Oval 28"/>
          <p:cNvSpPr/>
          <p:nvPr/>
        </p:nvSpPr>
        <p:spPr>
          <a:xfrm>
            <a:off x="6355079" y="5266943"/>
            <a:ext cx="73152" cy="73152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5157216"/>
            <a:ext cx="4389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30" b="0" i="0">
                <a:solidFill>
                  <a:srgbClr val="10201F"/>
                </a:solidFill>
                <a:latin typeface="Segoe UI"/>
              </a:rPr>
              <a:t>Tout capteur en dehors de temperature/pressure_bar — non instrumenté ici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Observabilité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Scope fonctionnel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SCHÉMA FONCTIONNEL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Du capteur au geste, en 6 étapes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1645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645920" cy="73152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185415"/>
            <a:ext cx="1389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0201F"/>
                </a:solidFill>
                <a:latin typeface="Bahnschrift"/>
              </a:rPr>
              <a:t>Capteurs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679191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4C6360"/>
                </a:solidFill>
                <a:latin typeface="Consolas"/>
              </a:rPr>
              <a:t>data/drift_source/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044951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4C6360"/>
                </a:solidFill>
                <a:latin typeface="Consolas"/>
              </a:rPr>
              <a:t>temperature, pressure_bar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12848" y="2880360"/>
            <a:ext cx="164592" cy="0"/>
          </a:xfrm>
          <a:prstGeom prst="line">
            <a:avLst/>
          </a:prstGeom>
          <a:ln w="2286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95728" y="1965960"/>
            <a:ext cx="1645920" cy="1828800"/>
          </a:xfrm>
          <a:prstGeom prst="roundRect">
            <a:avLst>
              <a:gd name="adj" fmla="val 80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95728" y="1965960"/>
            <a:ext cx="1645920" cy="73152"/>
          </a:xfrm>
          <a:prstGeom prst="round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3744" y="2185415"/>
            <a:ext cx="1389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EEF3F1"/>
                </a:solidFill>
                <a:latin typeface="Bahnschrift"/>
              </a:rPr>
              <a:t>drift.py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2679191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DDE9EB"/>
                </a:solidFill>
                <a:latin typeface="Consolas"/>
              </a:rPr>
              <a:t>psi() + ks()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3044951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DDE9EB"/>
                </a:solidFill>
                <a:latin typeface="Consolas"/>
              </a:rPr>
              <a:t>src/indusense/monitoring/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59935" y="2880360"/>
            <a:ext cx="164593" cy="0"/>
          </a:xfrm>
          <a:prstGeom prst="line">
            <a:avLst/>
          </a:prstGeom>
          <a:ln w="2286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42816" y="1965960"/>
            <a:ext cx="1645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42816" y="1965960"/>
            <a:ext cx="1645920" cy="73152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2" y="2185415"/>
            <a:ext cx="1389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0201F"/>
                </a:solidFill>
                <a:latin typeface="Bahnschrift"/>
              </a:rPr>
              <a:t>Exporteur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2679191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4C6360"/>
                </a:solidFill>
                <a:latin typeface="Consolas"/>
              </a:rPr>
              <a:t>export_drift_metrics.py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3044951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4C6360"/>
                </a:solidFill>
                <a:latin typeface="Consolas"/>
              </a:rPr>
              <a:t>port 9109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07024" y="2880360"/>
            <a:ext cx="164592" cy="0"/>
          </a:xfrm>
          <a:prstGeom prst="line">
            <a:avLst/>
          </a:prstGeom>
          <a:ln w="2286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89904" y="1965960"/>
            <a:ext cx="1645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89904" y="1965960"/>
            <a:ext cx="1645920" cy="73152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185415"/>
            <a:ext cx="1389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0201F"/>
                </a:solidFill>
                <a:latin typeface="Bahnschrift"/>
              </a:rPr>
              <a:t>Prometheus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679191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4C6360"/>
                </a:solidFill>
                <a:latin typeface="Consolas"/>
              </a:rPr>
              <a:t>scrape 15s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044951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4C6360"/>
                </a:solidFill>
                <a:latin typeface="Consolas"/>
              </a:rPr>
              <a:t>job indusense-drift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54112" y="2880360"/>
            <a:ext cx="164592" cy="0"/>
          </a:xfrm>
          <a:prstGeom prst="line">
            <a:avLst/>
          </a:prstGeom>
          <a:ln w="2286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936992" y="1965960"/>
            <a:ext cx="1645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36992" y="1965960"/>
            <a:ext cx="1645920" cy="73152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5008" y="2185415"/>
            <a:ext cx="1389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0201F"/>
                </a:solidFill>
                <a:latin typeface="Bahnschrift"/>
              </a:rPr>
              <a:t>Grafana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5008" y="2679191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4C6360"/>
                </a:solidFill>
                <a:latin typeface="Consolas"/>
              </a:rPr>
              <a:t>6 panneaux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8" y="3044951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4C6360"/>
                </a:solidFill>
                <a:latin typeface="Consolas"/>
              </a:rPr>
              <a:t>seuils colorés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01200" y="2880360"/>
            <a:ext cx="164592" cy="0"/>
          </a:xfrm>
          <a:prstGeom prst="line">
            <a:avLst/>
          </a:prstGeom>
          <a:ln w="2286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784080" y="1965960"/>
            <a:ext cx="1645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0" y="1965960"/>
            <a:ext cx="1645920" cy="73152"/>
          </a:xfrm>
          <a:prstGeom prst="round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12096" y="2185415"/>
            <a:ext cx="1389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0201F"/>
                </a:solidFill>
                <a:latin typeface="Bahnschrift"/>
              </a:rPr>
              <a:t>Runbook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12096" y="2679191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4C6360"/>
                </a:solidFill>
                <a:latin typeface="Consolas"/>
              </a:rPr>
              <a:t>diagnostic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12096" y="3044951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4C6360"/>
                </a:solidFill>
                <a:latin typeface="Consolas"/>
              </a:rPr>
              <a:t>action réversible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1148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2EAE6"/>
          </a:solidFill>
          <a:ln w="15240">
            <a:solidFill>
              <a:srgbClr val="9A6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23367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9A6C0A"/>
                </a:solidFill>
                <a:latin typeface="Segoe UI"/>
              </a:rPr>
              <a:t>Branche optionnelle de contre-vérification : </a:t>
            </a:r>
            <a:r>
              <a:rPr sz="1200" b="0" i="0">
                <a:solidFill>
                  <a:srgbClr val="10201F"/>
                </a:solidFill>
                <a:latin typeface="Segoe UI"/>
              </a:rPr>
              <a:t>Evidently AI (DataDriftPreset) peut recalculer la dérive avec une méthode indépendante (Wasserstein) en parallèle de drift.py — jamais testé en remplacement dans ce jalon.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074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C6360"/>
                </a:solidFill>
                <a:latin typeface="Segoe UI"/>
              </a:rPr>
              <a:t>Chaque flèche est un fichier réel du dépôt, pas une intention : </a:t>
            </a:r>
            <a:r>
              <a:rPr sz="1200" b="0" i="0">
                <a:solidFill>
                  <a:srgbClr val="7C3510"/>
                </a:solidFill>
                <a:latin typeface="Consolas"/>
              </a:rPr>
              <a:t>monitoring/prometheus.yml</a:t>
            </a:r>
            <a:r>
              <a:rPr sz="1250" b="0" i="0">
                <a:solidFill>
                  <a:srgbClr val="4C6360"/>
                </a:solidFill>
                <a:latin typeface="Segoe UI"/>
              </a:rPr>
              <a:t> déclare le job, </a:t>
            </a:r>
            <a:r>
              <a:rPr sz="1200" b="0" i="0">
                <a:solidFill>
                  <a:srgbClr val="7C3510"/>
                </a:solidFill>
                <a:latin typeface="Consolas"/>
              </a:rPr>
              <a:t>monitoring/grafana/provisioning/</a:t>
            </a:r>
            <a:r>
              <a:rPr sz="1250" b="0" i="0">
                <a:solidFill>
                  <a:srgbClr val="4C6360"/>
                </a:solidFill>
                <a:latin typeface="Segoe UI"/>
              </a:rPr>
              <a:t> provisionne le dashboard, sans étape manuelle.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Observabilité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Schéma fonctionnel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LE PROTOCOLE, FIGÉ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0201F"/>
                </a:solidFill>
                <a:latin typeface="Bahnschrift"/>
              </a:rPr>
              <a:t>reports/drift/drift_spec.md — la règle avant l'incident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0881360" cy="457200"/>
          </a:xfrm>
          <a:prstGeom prst="roundRect">
            <a:avLst>
              <a:gd name="adj" fmla="val 4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4C6360"/>
                </a:solidFill>
                <a:latin typeface="Consolas"/>
              </a:rPr>
              <a:t>RÈGLE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37360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4C6360"/>
                </a:solidFill>
                <a:latin typeface="Consolas"/>
              </a:rPr>
              <a:t>CONTENU FIGÉ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08813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F6478"/>
                </a:solidFill>
                <a:latin typeface="Segoe UI"/>
              </a:rPr>
              <a:t>Références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822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10201F"/>
                </a:solidFill>
                <a:latin typeface="Consolas"/>
              </a:rPr>
              <a:t>Normale = sept+nov+déc (31 821 lignes) · Haute charge = octobre (11 006 lignes)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61488"/>
            <a:ext cx="108813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61488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F6478"/>
                </a:solidFill>
                <a:latin typeface="Segoe UI"/>
              </a:rPr>
              <a:t>PSI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61488"/>
            <a:ext cx="822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10201F"/>
                </a:solidFill>
                <a:latin typeface="Consolas"/>
              </a:rPr>
              <a:t>10 bins calculés sur la RÉFÉRENCE seule · bords ±inf · NaN écartés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28416"/>
            <a:ext cx="108813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28416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F6478"/>
                </a:solidFill>
                <a:latin typeface="Segoe UI"/>
              </a:rPr>
              <a:t>Confirmation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328416"/>
            <a:ext cx="822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10201F"/>
                </a:solidFill>
                <a:latin typeface="Consolas"/>
              </a:rPr>
              <a:t>KS en confirmation du PSI, jamais en décision seule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95344"/>
            <a:ext cx="108813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95344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F6478"/>
                </a:solidFill>
                <a:latin typeface="Segoe UI"/>
              </a:rPr>
              <a:t>Alerte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895344"/>
            <a:ext cx="822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10201F"/>
                </a:solidFill>
                <a:latin typeface="Consolas"/>
              </a:rPr>
              <a:t>PSI &gt; 0,25 persistant sur 2 fenêtres consécutives (pas 1 seule — filtre le bruit)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62272"/>
            <a:ext cx="108813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62272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F6478"/>
                </a:solidFill>
                <a:latin typeface="Segoe UI"/>
              </a:rPr>
              <a:t>Lecture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462272"/>
            <a:ext cx="822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10201F"/>
                </a:solidFill>
                <a:latin typeface="Consolas"/>
              </a:rPr>
              <a:t>&lt; 0,10 RAS · 0,10–0,25 à surveiller · &gt; 0,25 fort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57800"/>
            <a:ext cx="10881360" cy="960120"/>
          </a:xfrm>
          <a:prstGeom prst="roundRect">
            <a:avLst>
              <a:gd name="adj" fmla="val 5000"/>
            </a:avLst>
          </a:prstGeom>
          <a:solidFill>
            <a:srgbClr val="F7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413248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B23A2F"/>
                </a:solidFill>
                <a:latin typeface="Segoe UI"/>
              </a:rPr>
              <a:t>Pourquoi figer AVANT l'incident : 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changer les bins ou la référence entre deux fenêtres rend toute comparaison inexploitable — la spec protège contre la tentation d'ajuster le seuil après coup pour "faire disparaître" une alerte.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Observabilité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Le protocole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3 questions avant de toucher au modèle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C6360"/>
                </a:solidFill>
                <a:latin typeface="Segoe UI"/>
              </a:rPr>
              <a:t>La séquence réellement jouée dans docs/runbook.md face à l'alerte IndusenseDriftPSIEleve (PSI température = 6,83, fenêtre 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08813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82296" cy="1188720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240280"/>
            <a:ext cx="502920" cy="502920"/>
          </a:xfrm>
          <a:prstGeom prst="ellipse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8F3"/>
                </a:solidFill>
                <a:latin typeface="Bahnschrif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185416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10201F"/>
                </a:solidFill>
                <a:latin typeface="Segoe UI"/>
              </a:rPr>
              <a:t>Isoler le capteur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85416"/>
            <a:ext cx="6766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80" b="0" i="0">
                <a:solidFill>
                  <a:srgbClr val="10201F"/>
                </a:solidFill>
                <a:latin typeface="Segoe UI"/>
              </a:rPr>
              <a:t>Le panneau « PSI par capteur » (Grafana) montre-t-il UN capteur ou TOUS ? Ici : temperature = 6,83, pressure_bar = 0,025 — un seul capteur, pas le pipeline.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83280"/>
            <a:ext cx="108813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82296" cy="1188720"/>
          </a:xfrm>
          <a:prstGeom prst="roundRect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3566160"/>
            <a:ext cx="502920" cy="502920"/>
          </a:xfrm>
          <a:prstGeom prst="ellipse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8F3"/>
                </a:solidFill>
                <a:latin typeface="Bahnschrif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511296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10201F"/>
                </a:solidFill>
                <a:latin typeface="Segoe UI"/>
              </a:rPr>
              <a:t>Exclure un changement de régime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511296"/>
            <a:ext cx="6766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80" b="0" i="0">
                <a:solidFill>
                  <a:srgbClr val="10201F"/>
                </a:solidFill>
                <a:latin typeface="Segoe UI"/>
              </a:rPr>
              <a:t>Rejouer contre la référence haute charge (--reference haute). Si le PSI retombe (cas janvier : 6,20 → 0,001), c'est une campagne planifiée à re-référencer, pas une panne.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108813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709160"/>
            <a:ext cx="82296" cy="1188720"/>
          </a:xfrm>
          <a:prstGeom prst="round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892040"/>
            <a:ext cx="502920" cy="502920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8F3"/>
                </a:solidFill>
                <a:latin typeface="Bahnschrif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837176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10201F"/>
                </a:solidFill>
                <a:latin typeface="Segoe UI"/>
              </a:rPr>
              <a:t>Confirmer la cause physique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837176"/>
            <a:ext cx="6766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80" b="0" i="0">
                <a:solidFill>
                  <a:srgbClr val="10201F"/>
                </a:solidFill>
                <a:latin typeface="Segoe UI"/>
              </a:rPr>
              <a:t>Si le PSI reste fort quelle que soit la référence testée, la cause est en amont des données — capteur hors service ou mal étalonné.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Observabilité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Diagnostic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LA DIMENSION MANQUANTE : LE DOCUMENT LUI-MÊME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0201F"/>
                </a:solidFill>
                <a:latin typeface="Bahnschrift"/>
              </a:rPr>
              <a:t>Le runbook : un gabarit qu'on joue, pas qu'on 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383279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383279" cy="457200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30" b="1" i="0">
                <a:solidFill>
                  <a:srgbClr val="EEF3F1"/>
                </a:solidFill>
                <a:latin typeface="Consolas"/>
              </a:rPr>
              <a:t>À QUOI ÇA SERT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2267712"/>
            <a:ext cx="64008" cy="64008"/>
          </a:xfrm>
          <a:prstGeom prst="ellipse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57984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10201F"/>
                </a:solidFill>
                <a:latin typeface="Segoe UI"/>
              </a:rPr>
              <a:t>Transformer un diagnostic construit une fois (avec expertise) en procédure suivable en quelques minutes, sous pression.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889504"/>
            <a:ext cx="64008" cy="64008"/>
          </a:xfrm>
          <a:prstGeom prst="ellipse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779776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10201F"/>
                </a:solidFill>
                <a:latin typeface="Segoe UI"/>
              </a:rPr>
              <a:t>Ce n'est pas une doc de référence à lire à froid : c'est un script à EXÉCUTER pendant l'incident.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600200"/>
            <a:ext cx="3383279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79" y="1600200"/>
            <a:ext cx="3383279" cy="457200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60020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30" b="1" i="0">
                <a:solidFill>
                  <a:srgbClr val="EEF3F1"/>
                </a:solidFill>
                <a:latin typeface="Consolas"/>
              </a:rPr>
              <a:t>COMMENT IL EST CONSTRUIT</a:t>
            </a:r>
          </a:p>
        </p:txBody>
      </p:sp>
      <p:sp>
        <p:nvSpPr>
          <p:cNvPr id="15" name="Oval 14"/>
          <p:cNvSpPr/>
          <p:nvPr/>
        </p:nvSpPr>
        <p:spPr>
          <a:xfrm>
            <a:off x="4498847" y="2267712"/>
            <a:ext cx="64008" cy="64008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7" y="2157984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10201F"/>
                </a:solidFill>
                <a:latin typeface="Segoe UI"/>
              </a:rPr>
              <a:t>Part d'un gabarit vide fourni par le jalon ("a completer" partout) — jamais écrit depuis zéro.</a:t>
            </a:r>
          </a:p>
        </p:txBody>
      </p:sp>
      <p:sp>
        <p:nvSpPr>
          <p:cNvPr id="17" name="Oval 16"/>
          <p:cNvSpPr/>
          <p:nvPr/>
        </p:nvSpPr>
        <p:spPr>
          <a:xfrm>
            <a:off x="4498847" y="2889504"/>
            <a:ext cx="64008" cy="64008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7" y="2779776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10201F"/>
                </a:solidFill>
                <a:latin typeface="Segoe UI"/>
              </a:rPr>
              <a:t>Rempli seulement APRÈS avoir rejoué l'alerte pour de vrai (stack + Grafana) — jamais en théorie.</a:t>
            </a:r>
          </a:p>
        </p:txBody>
      </p:sp>
      <p:sp>
        <p:nvSpPr>
          <p:cNvPr id="19" name="Oval 18"/>
          <p:cNvSpPr/>
          <p:nvPr/>
        </p:nvSpPr>
        <p:spPr>
          <a:xfrm>
            <a:off x="4498847" y="3511296"/>
            <a:ext cx="64008" cy="64008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7" y="3401568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10201F"/>
                </a:solidFill>
                <a:latin typeface="Segoe UI"/>
              </a:rPr>
              <a:t>Mis à jour si drift_spec.md change, ou si un nouveau type d'alerte apparaît — un runbook par type d'alerte, pas un fourre-tout.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1600200"/>
            <a:ext cx="3383279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19" y="1600200"/>
            <a:ext cx="3383279" cy="457200"/>
          </a:xfrm>
          <a:prstGeom prst="round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9" y="160020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30" b="1" i="0">
                <a:solidFill>
                  <a:srgbClr val="EEF3F1"/>
                </a:solidFill>
                <a:latin typeface="Consolas"/>
              </a:rPr>
              <a:t>À QUI IL SERT</a:t>
            </a:r>
          </a:p>
        </p:txBody>
      </p:sp>
      <p:sp>
        <p:nvSpPr>
          <p:cNvPr id="24" name="Oval 23"/>
          <p:cNvSpPr/>
          <p:nvPr/>
        </p:nvSpPr>
        <p:spPr>
          <a:xfrm>
            <a:off x="8247888" y="2267712"/>
            <a:ext cx="64008" cy="64008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7" y="2157984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10201F"/>
                </a:solidFill>
                <a:latin typeface="Segoe UI"/>
              </a:rPr>
              <a:t>L'opérateur / MLOps de garde, en plein incident — lecture sous contrainte de temps.</a:t>
            </a:r>
          </a:p>
        </p:txBody>
      </p:sp>
      <p:sp>
        <p:nvSpPr>
          <p:cNvPr id="26" name="Oval 25"/>
          <p:cNvSpPr/>
          <p:nvPr/>
        </p:nvSpPr>
        <p:spPr>
          <a:xfrm>
            <a:off x="8247888" y="2889504"/>
            <a:ext cx="64008" cy="64008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7" y="2779776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10201F"/>
                </a:solidFill>
                <a:latin typeface="Segoe UI"/>
              </a:rPr>
              <a:t>Le formateur en Game Day, pour vérifier que la procédure a été suivie à la lettre.</a:t>
            </a:r>
          </a:p>
        </p:txBody>
      </p:sp>
      <p:sp>
        <p:nvSpPr>
          <p:cNvPr id="28" name="Oval 27"/>
          <p:cNvSpPr/>
          <p:nvPr/>
        </p:nvSpPr>
        <p:spPr>
          <a:xfrm>
            <a:off x="8247888" y="3511296"/>
            <a:ext cx="64008" cy="64008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7" y="3401568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10201F"/>
                </a:solidFill>
                <a:latin typeface="Segoe UI"/>
              </a:rPr>
              <a:t>PAS le data scientist qui conçoit la spec : lui écrit drift_spec.md, pas le runbook.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89120"/>
            <a:ext cx="3444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F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526280"/>
            <a:ext cx="307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F6478"/>
                </a:solidFill>
                <a:latin typeface="Consolas"/>
              </a:rPr>
              <a:t>ALERTE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828031"/>
            <a:ext cx="307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0201F"/>
                </a:solidFill>
                <a:latin typeface="Segoe UI"/>
              </a:rPr>
              <a:t>IndusenseDriftPSIEleve — PSI &gt; 0,25 persistant, gravité majeure non bloquante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67200" y="4389120"/>
            <a:ext cx="3444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B55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50080" y="4526280"/>
            <a:ext cx="307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5501C"/>
                </a:solidFill>
                <a:latin typeface="Consolas"/>
              </a:rPr>
              <a:t>DIAGNOSTIC BORNÉ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0080" y="4828031"/>
            <a:ext cx="307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0201F"/>
                </a:solidFill>
                <a:latin typeface="Segoe UI"/>
              </a:rPr>
              <a:t>3 étapes numérotées (cf. slide précédente) — jamais un texte libre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85760" y="4389120"/>
            <a:ext cx="3444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8640" y="4526280"/>
            <a:ext cx="307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23A2F"/>
                </a:solidFill>
                <a:latin typeface="Consolas"/>
              </a:rPr>
              <a:t>ACTION RÉVERSIBLE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8640" y="4828031"/>
            <a:ext cx="307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0201F"/>
                </a:solidFill>
                <a:latin typeface="Segoe UI"/>
              </a:rPr>
              <a:t>Étalonnage + retour arrière + preuve de résolution (PSI &lt; 0,10)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486400"/>
            <a:ext cx="10881360" cy="594360"/>
          </a:xfrm>
          <a:prstGeom prst="roundRect">
            <a:avLst>
              <a:gd name="adj" fmla="val 5000"/>
            </a:avLst>
          </a:prstGeom>
          <a:solidFill>
            <a:srgbClr val="F6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486400"/>
            <a:ext cx="104241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9A6C0A"/>
                </a:solidFill>
                <a:latin typeface="Segoe UI"/>
              </a:rPr>
              <a:t>Règle du gabarit : </a:t>
            </a:r>
            <a:r>
              <a:rPr sz="1150" b="0" i="1">
                <a:solidFill>
                  <a:srgbClr val="10201F"/>
                </a:solidFill>
                <a:latin typeface="Segoe UI"/>
              </a:rPr>
              <a:t>« ne jamais copier de secret, de payload sensible ou de journal complet dans le runbook. 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Observabilité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Le runbook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PRÉCISION NÉCESSAIRE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0201F"/>
                </a:solidFill>
                <a:latin typeface="Bahnschrift"/>
              </a:rPr>
              <a:t>Le rôle décrit n'est pas toujours l'auteur réel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C6360"/>
                </a:solidFill>
                <a:latin typeface="Segoe UI"/>
              </a:rPr>
              <a:t>"L'opérateur écrit/joue le runbook" décrit un rôle visé, pas forcément qui a tapé ce texte dans ce dépôt.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60">
                <a:solidFill>
                  <a:srgbClr val="1F6478"/>
                </a:solidFill>
                <a:latin typeface="Consolas"/>
              </a:rPr>
              <a:t>SUR QUELLES BASES — 3 SOURCES, RIEN D'IMPROVISÉ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34442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F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307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F6478"/>
                </a:solidFill>
                <a:latin typeface="Segoe UI"/>
              </a:rPr>
              <a:t>Le gabarit du jalon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307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10201F"/>
                </a:solidFill>
                <a:latin typeface="Segoe UI"/>
              </a:rPr>
              <a:t>docs/runbook.md révélé "a completer" — structure imposée, pas écrite depuis zéro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200" y="2331720"/>
            <a:ext cx="34442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B55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080" y="2487168"/>
            <a:ext cx="307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B5501C"/>
                </a:solidFill>
                <a:latin typeface="Segoe UI"/>
              </a:rPr>
              <a:t>drift_spec.md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2971800"/>
            <a:ext cx="307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10201F"/>
                </a:solidFill>
                <a:latin typeface="Segoe UI"/>
              </a:rPr>
              <a:t>règle d'alerte (PSI &gt; 0,25) et réactions prescrites par le data scientist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5760" y="2331720"/>
            <a:ext cx="34442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8640" y="2487168"/>
            <a:ext cx="307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B23A2F"/>
                </a:solidFill>
                <a:latin typeface="Segoe UI"/>
              </a:rPr>
              <a:t>L'alerte réellement jouée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640" y="2971800"/>
            <a:ext cx="307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10201F"/>
                </a:solidFill>
                <a:latin typeface="Segoe UI"/>
              </a:rPr>
              <a:t>evaluate_drift --fenêtre 2, stack Compose + Grafana up, PSI = 6,83 mesuré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39"/>
            <a:ext cx="108813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9A6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42232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60">
                <a:solidFill>
                  <a:srgbClr val="9A6C0A"/>
                </a:solidFill>
                <a:latin typeface="Consolas"/>
              </a:rPr>
              <a:t>QUI L'A ÉCRIT ICI, CONCRÈTEMENT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2628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4C6360"/>
                </a:solidFill>
                <a:latin typeface="Segoe UI"/>
              </a:rPr>
              <a:t>Rôle pédagogique visé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0201F"/>
                </a:solidFill>
                <a:latin typeface="Segoe UI"/>
              </a:rPr>
              <a:t>L'opérateur / MLOps de garde, en usage réel — celui qui s'en sert et le maintient.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0" y="5074920"/>
            <a:ext cx="411480" cy="0"/>
          </a:xfrm>
          <a:prstGeom prst="line">
            <a:avLst/>
          </a:prstGeom>
          <a:ln w="2286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2240" y="4526280"/>
            <a:ext cx="4709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9A6C0A"/>
                </a:solidFill>
                <a:latin typeface="Segoe UI"/>
              </a:rPr>
              <a:t>Auteur réel de ce fichier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0201F"/>
                </a:solidFill>
                <a:latin typeface="Segoe UI"/>
              </a:rPr>
              <a:t>L'assistant, dans cette session (commit </a:t>
            </a:r>
            <a:r>
              <a:rPr sz="1150" b="1" i="0">
                <a:solidFill>
                  <a:srgbClr val="7C3510"/>
                </a:solidFill>
                <a:latin typeface="Consolas"/>
              </a:rPr>
              <a:t>652de67</a:t>
            </a:r>
            <a:r>
              <a:rPr sz="1150" b="0" i="0">
                <a:solidFill>
                  <a:srgbClr val="10201F"/>
                </a:solidFill>
                <a:latin typeface="Segoe UI"/>
              </a:rPr>
              <a:t>, seul commit sur ce fichier) — pas un opérateur métier réel.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Observabilité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Rôle vs auteur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PREUVES, PAS HYPOTHÈSES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5 scénarios, 5 lectures différentes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0881360" cy="457200"/>
          </a:xfrm>
          <a:prstGeom prst="roundRect">
            <a:avLst>
              <a:gd name="adj" fmla="val 4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80" b="1" i="0">
                <a:solidFill>
                  <a:srgbClr val="4C6360"/>
                </a:solidFill>
                <a:latin typeface="Consolas"/>
              </a:rPr>
              <a:t>FENÊTRE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4368" y="169164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80" b="1" i="0">
                <a:solidFill>
                  <a:srgbClr val="4C6360"/>
                </a:solidFill>
                <a:latin typeface="Consolas"/>
              </a:rPr>
              <a:t>RÉFÉRENCE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8848" y="1691640"/>
            <a:ext cx="1325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80" b="1" i="0">
                <a:solidFill>
                  <a:srgbClr val="4C6360"/>
                </a:solidFill>
                <a:latin typeface="Consolas"/>
              </a:rPr>
              <a:t>PSI TEMP.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1888" y="169164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80" b="1" i="0">
                <a:solidFill>
                  <a:srgbClr val="4C6360"/>
                </a:solidFill>
                <a:latin typeface="Consolas"/>
              </a:rPr>
              <a:t>RAPPEL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2048" y="169164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80" b="1" i="0">
                <a:solidFill>
                  <a:srgbClr val="4C6360"/>
                </a:solidFill>
                <a:latin typeface="Consolas"/>
              </a:rPr>
              <a:t>ROC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1691640"/>
            <a:ext cx="2880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80" b="1" i="0">
                <a:solidFill>
                  <a:srgbClr val="4C6360"/>
                </a:solidFill>
                <a:latin typeface="Consolas"/>
              </a:rPr>
              <a:t>LECTURE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48840"/>
            <a:ext cx="108813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48840"/>
            <a:ext cx="2148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0201F"/>
                </a:solidFill>
                <a:latin typeface="Consolas"/>
              </a:rPr>
              <a:t>1 · témoin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148840"/>
            <a:ext cx="1417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0201F"/>
                </a:solidFill>
                <a:latin typeface="Consolas"/>
              </a:rPr>
              <a:t>normale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148840"/>
            <a:ext cx="1325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F7A53"/>
                </a:solidFill>
                <a:latin typeface="Consolas"/>
              </a:rPr>
              <a:t>0,002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2148840"/>
            <a:ext cx="1143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F7A53"/>
                </a:solidFill>
                <a:latin typeface="Consolas"/>
              </a:rPr>
              <a:t>0,753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2148840"/>
            <a:ext cx="1143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F7A53"/>
                </a:solidFill>
                <a:latin typeface="Consolas"/>
              </a:rPr>
              <a:t>0,791</a:t>
            </a:r>
          </a:p>
        </p:txBody>
      </p:sp>
      <p:sp>
        <p:nvSpPr>
          <p:cNvPr id="18" name="Oval 17"/>
          <p:cNvSpPr/>
          <p:nvPr/>
        </p:nvSpPr>
        <p:spPr>
          <a:xfrm>
            <a:off x="8458200" y="2418588"/>
            <a:ext cx="118872" cy="118872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2148840"/>
            <a:ext cx="269747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10201F"/>
                </a:solidFill>
                <a:latin typeface="Segoe UI"/>
              </a:rPr>
              <a:t>RAS des deux côtés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807208"/>
            <a:ext cx="108813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807208"/>
            <a:ext cx="2148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0201F"/>
                </a:solidFill>
                <a:latin typeface="Consolas"/>
              </a:rPr>
              <a:t>2 · capteur +8°C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2807208"/>
            <a:ext cx="1417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0201F"/>
                </a:solidFill>
                <a:latin typeface="Consolas"/>
              </a:rPr>
              <a:t>normale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2807208"/>
            <a:ext cx="1325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23A2F"/>
                </a:solidFill>
                <a:latin typeface="Consolas"/>
              </a:rPr>
              <a:t>6,834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2807208"/>
            <a:ext cx="1143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F7A53"/>
                </a:solidFill>
                <a:latin typeface="Consolas"/>
              </a:rPr>
              <a:t>0,738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2807208"/>
            <a:ext cx="1143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F7A53"/>
                </a:solidFill>
                <a:latin typeface="Consolas"/>
              </a:rPr>
              <a:t>0,793</a:t>
            </a:r>
          </a:p>
        </p:txBody>
      </p:sp>
      <p:sp>
        <p:nvSpPr>
          <p:cNvPr id="26" name="Oval 25"/>
          <p:cNvSpPr/>
          <p:nvPr/>
        </p:nvSpPr>
        <p:spPr>
          <a:xfrm>
            <a:off x="8458200" y="3076956"/>
            <a:ext cx="118872" cy="118872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68512" y="2807208"/>
            <a:ext cx="269747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10201F"/>
                </a:solidFill>
                <a:latin typeface="Segoe UI"/>
              </a:rPr>
              <a:t>PSI capteur seul, modèle tient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465576"/>
            <a:ext cx="108813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465576"/>
            <a:ext cx="2148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0201F"/>
                </a:solidFill>
                <a:latin typeface="Consolas"/>
              </a:rPr>
              <a:t>3 · concept drift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3465576"/>
            <a:ext cx="1417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0201F"/>
                </a:solidFill>
                <a:latin typeface="Consolas"/>
              </a:rPr>
              <a:t>normale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3465576"/>
            <a:ext cx="1325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F7A53"/>
                </a:solidFill>
                <a:latin typeface="Consolas"/>
              </a:rPr>
              <a:t>0,002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61888" y="3465576"/>
            <a:ext cx="1143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23A2F"/>
                </a:solidFill>
                <a:latin typeface="Consolas"/>
              </a:rPr>
              <a:t>0,051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3465576"/>
            <a:ext cx="1143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23A2F"/>
                </a:solidFill>
                <a:latin typeface="Consolas"/>
              </a:rPr>
              <a:t>0,209</a:t>
            </a:r>
          </a:p>
        </p:txBody>
      </p:sp>
      <p:sp>
        <p:nvSpPr>
          <p:cNvPr id="34" name="Oval 33"/>
          <p:cNvSpPr/>
          <p:nvPr/>
        </p:nvSpPr>
        <p:spPr>
          <a:xfrm>
            <a:off x="8458200" y="3735324"/>
            <a:ext cx="118872" cy="118872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68512" y="3465576"/>
            <a:ext cx="269747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10201F"/>
                </a:solidFill>
                <a:latin typeface="Segoe UI"/>
              </a:rPr>
              <a:t>PSI muet, rappel effondré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123944"/>
            <a:ext cx="108813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123944"/>
            <a:ext cx="2148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0201F"/>
                </a:solidFill>
                <a:latin typeface="Consolas"/>
              </a:rPr>
              <a:t>4 · janvier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44368" y="4123944"/>
            <a:ext cx="1417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0201F"/>
                </a:solidFill>
                <a:latin typeface="Consolas"/>
              </a:rPr>
              <a:t>normale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8" y="4123944"/>
            <a:ext cx="1325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A6C0A"/>
                </a:solidFill>
                <a:latin typeface="Consolas"/>
              </a:rPr>
              <a:t>6,203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4123944"/>
            <a:ext cx="1143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F7A53"/>
                </a:solidFill>
                <a:latin typeface="Consolas"/>
              </a:rPr>
              <a:t>0,802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42048" y="4123944"/>
            <a:ext cx="1143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F7A53"/>
                </a:solidFill>
                <a:latin typeface="Consolas"/>
              </a:rPr>
              <a:t>0,816</a:t>
            </a:r>
          </a:p>
        </p:txBody>
      </p:sp>
      <p:sp>
        <p:nvSpPr>
          <p:cNvPr id="42" name="Oval 41"/>
          <p:cNvSpPr/>
          <p:nvPr/>
        </p:nvSpPr>
        <p:spPr>
          <a:xfrm>
            <a:off x="8458200" y="4393692"/>
            <a:ext cx="118872" cy="118872"/>
          </a:xfrm>
          <a:prstGeom prst="ellipse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68512" y="4123944"/>
            <a:ext cx="269747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10201F"/>
                </a:solidFill>
                <a:latin typeface="Segoe UI"/>
              </a:rPr>
              <a:t>Fausse alerte de régime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782312"/>
            <a:ext cx="108813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4782312"/>
            <a:ext cx="2148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0201F"/>
                </a:solidFill>
                <a:latin typeface="Consolas"/>
              </a:rPr>
              <a:t>4 · janvier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44368" y="4782312"/>
            <a:ext cx="1417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0201F"/>
                </a:solidFill>
                <a:latin typeface="Consolas"/>
              </a:rPr>
              <a:t>haute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98848" y="4782312"/>
            <a:ext cx="1325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F7A53"/>
                </a:solidFill>
                <a:latin typeface="Consolas"/>
              </a:rPr>
              <a:t>0,001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61888" y="4782312"/>
            <a:ext cx="1143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F7A53"/>
                </a:solidFill>
                <a:latin typeface="Consolas"/>
              </a:rPr>
              <a:t>0,802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42048" y="4782312"/>
            <a:ext cx="1143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F7A53"/>
                </a:solidFill>
                <a:latin typeface="Consolas"/>
              </a:rPr>
              <a:t>0,816</a:t>
            </a:r>
          </a:p>
        </p:txBody>
      </p:sp>
      <p:sp>
        <p:nvSpPr>
          <p:cNvPr id="50" name="Oval 49"/>
          <p:cNvSpPr/>
          <p:nvPr/>
        </p:nvSpPr>
        <p:spPr>
          <a:xfrm>
            <a:off x="8458200" y="5052059"/>
            <a:ext cx="118872" cy="118872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68512" y="4782312"/>
            <a:ext cx="269747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10201F"/>
                </a:solidFill>
                <a:latin typeface="Segoe UI"/>
              </a:rPr>
              <a:t>Contre-épreuve : RAS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Observabilité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Preuves mesurées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CE QUI ARBITRE VRAIMENT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0201F"/>
                </a:solidFill>
                <a:latin typeface="Bahnschrift"/>
              </a:rPr>
              <a:t>Le PSI alerte tôt ; le KPI de second rideau juge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C6360"/>
                </a:solidFill>
                <a:latin typeface="Segoe UI"/>
              </a:rPr>
              <a:t>Trois métriques à performance RETARDÉE (le temps que les vraies pannes soient connues) qui, elles, mesurent l'impact réel — pas la dérive d'entrée.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383279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1F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2926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01F"/>
                </a:solidFill>
                <a:latin typeface="Segoe UI"/>
              </a:rPr>
              <a:t>Taux de confirmation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926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C6360"/>
                </a:solidFill>
                <a:latin typeface="Consolas"/>
              </a:rPr>
              <a:t>délai ~3 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46120"/>
            <a:ext cx="2926079" cy="502920"/>
          </a:xfrm>
          <a:prstGeom prst="roundRect">
            <a:avLst>
              <a:gd name="adj" fmla="val 30000"/>
            </a:avLst>
          </a:prstGeom>
          <a:solidFill>
            <a:srgbClr val="DD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2926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1F6478"/>
                </a:solidFill>
                <a:latin typeface="Consolas"/>
              </a:rPr>
              <a:t>plancher 0,05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2926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10201F"/>
                </a:solidFill>
                <a:latin typeface="Segoe UI"/>
              </a:rPr>
              <a:t>Proportion d'inspections déclenchées par une alerte qui trouvent vraiment un problème.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2103120"/>
            <a:ext cx="3383279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2286000"/>
            <a:ext cx="2926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01F"/>
                </a:solidFill>
                <a:latin typeface="Segoe UI"/>
              </a:rPr>
              <a:t>Rappel du modèle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880360"/>
            <a:ext cx="2926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C6360"/>
                </a:solidFill>
                <a:latin typeface="Consolas"/>
              </a:rPr>
              <a:t>délai ~15 j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79" y="3246120"/>
            <a:ext cx="2926079" cy="502920"/>
          </a:xfrm>
          <a:prstGeom prst="roundRect">
            <a:avLst>
              <a:gd name="adj" fmla="val 30000"/>
            </a:avLst>
          </a:prstGeom>
          <a:solidFill>
            <a:srgbClr val="F7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3246120"/>
            <a:ext cx="2926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B23A2F"/>
                </a:solidFill>
                <a:latin typeface="Consolas"/>
              </a:rPr>
              <a:t>plancher 0,60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3931920"/>
            <a:ext cx="2926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10201F"/>
                </a:solidFill>
                <a:latin typeface="Segoe UI"/>
              </a:rPr>
              <a:t>Proportion de vraies pannes que le modèle détecte réellement, une fois connues.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2103120"/>
            <a:ext cx="3383279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9A6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286000"/>
            <a:ext cx="2926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01F"/>
                </a:solidFill>
                <a:latin typeface="Segoe UI"/>
              </a:rPr>
              <a:t>Taux d'alerte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880360"/>
            <a:ext cx="2926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C6360"/>
                </a:solidFill>
                <a:latin typeface="Consolas"/>
              </a:rPr>
              <a:t>délai continu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19" y="3246120"/>
            <a:ext cx="2926079" cy="502920"/>
          </a:xfrm>
          <a:prstGeom prst="roundRect">
            <a:avLst>
              <a:gd name="adj" fmla="val 30000"/>
            </a:avLst>
          </a:prstGeom>
          <a:solidFill>
            <a:srgbClr val="F6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3246120"/>
            <a:ext cx="2926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9A6C0A"/>
                </a:solidFill>
                <a:latin typeface="Consolas"/>
              </a:rPr>
              <a:t>bande 35–50 %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3931920"/>
            <a:ext cx="2926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10201F"/>
                </a:solidFill>
                <a:latin typeface="Segoe UI"/>
              </a:rPr>
              <a:t>Hors de cette bande, c'est le SEUIL GELÉ lui-même qu'il faut réévaluer, indépendamment du PSI.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Observabilité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KPI de second rideau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LA DÉCISION QUI COÛTE 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0201F"/>
                </a:solidFill>
                <a:latin typeface="Bahnschrift"/>
              </a:rPr>
              <a:t>Trois signaux, trois réponses — une seule mène au réentraînement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08813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F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383280" cy="1298448"/>
          </a:xfrm>
          <a:prstGeom prst="roundRect">
            <a:avLst/>
          </a:prstGeom>
          <a:solidFill>
            <a:srgbClr val="DD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9384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F6478"/>
                </a:solidFill>
                <a:latin typeface="Segoe UI"/>
              </a:rPr>
              <a:t>PSI capteur franchi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fenêtre 2 : temp. 6,83, pression 0,025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23360" y="2432304"/>
            <a:ext cx="411480" cy="0"/>
          </a:xfrm>
          <a:prstGeom prst="line">
            <a:avLst/>
          </a:prstGeom>
          <a:ln w="2286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26280" y="192938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0201F"/>
                </a:solidFill>
                <a:latin typeface="Segoe UI"/>
              </a:rPr>
              <a:t>Étalonnage physique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929384"/>
            <a:ext cx="4251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0201F"/>
                </a:solidFill>
                <a:latin typeface="Segoe UI"/>
              </a:rPr>
              <a:t>AVANT toute action modèle — ne pas réentraîner, ne pas toucher au seuil gelé.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46120"/>
            <a:ext cx="108813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9A6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246120"/>
            <a:ext cx="3383280" cy="1298448"/>
          </a:xfrm>
          <a:prstGeom prst="roundRect">
            <a:avLst/>
          </a:prstGeom>
          <a:solidFill>
            <a:srgbClr val="F6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92424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9A6C0A"/>
                </a:solidFill>
                <a:latin typeface="Segoe UI"/>
              </a:rPr>
              <a:t>Changement de régime reconnu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janvier vs haute : 6,20 → 0,001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23360" y="3895344"/>
            <a:ext cx="411480" cy="0"/>
          </a:xfrm>
          <a:prstGeom prst="line">
            <a:avLst/>
          </a:prstGeom>
          <a:ln w="2286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26280" y="339242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0201F"/>
                </a:solidFill>
                <a:latin typeface="Segoe UI"/>
              </a:rPr>
              <a:t>Basculer de référence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392424"/>
            <a:ext cx="4251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0201F"/>
                </a:solidFill>
                <a:latin typeface="Segoe UI"/>
              </a:rPr>
              <a:t>Ne pas alerter — le modèle et le seuil restent inchangés.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09159"/>
            <a:ext cx="108813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4709159"/>
            <a:ext cx="3383280" cy="1298448"/>
          </a:xfrm>
          <a:prstGeom prst="roundRect">
            <a:avLst/>
          </a:prstGeom>
          <a:solidFill>
            <a:srgbClr val="F7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55464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B23A2F"/>
                </a:solidFill>
                <a:latin typeface="Segoe UI"/>
              </a:rPr>
              <a:t>Rappel sous le plancher 0,60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4067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fenêtre 3 : rappel 0,051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23360" y="5358383"/>
            <a:ext cx="411480" cy="0"/>
          </a:xfrm>
          <a:prstGeom prst="line">
            <a:avLst/>
          </a:prstGeom>
          <a:ln w="2286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26280" y="485546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0201F"/>
                </a:solidFill>
                <a:latin typeface="Segoe UI"/>
              </a:rPr>
              <a:t>Réentraînement complet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855464"/>
            <a:ext cx="4251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0201F"/>
                </a:solidFill>
                <a:latin typeface="Segoe UI"/>
              </a:rPr>
              <a:t>Protocole m21 complet, PUIS nouvelle référence et drift_spec.md mis à jour — jamais un simple ajustement de seuil.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Observabilité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Arbitrage de réentraînement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PREUVE REJOUABLE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La ronde de surveillance, en 4 commandes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0881360" cy="3291840"/>
          </a:xfrm>
          <a:prstGeom prst="roundRect">
            <a:avLst>
              <a:gd name="adj" fmla="val 45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25726"/>
            <a:ext cx="10296144" cy="28821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3F1"/>
                </a:solidFill>
                <a:latin typeface="Consolas"/>
              </a:rPr>
              <a:t>uv run python scripts/drift_windows.py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3F1"/>
                </a:solidFill>
                <a:latin typeface="Consolas"/>
              </a:rPr>
              <a:t>uv run python scripts/train_drift_model.py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EEF3F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3F1"/>
                </a:solidFill>
                <a:latin typeface="Consolas"/>
              </a:rPr>
              <a:t>uv run python scripts/evaluate_drift.py --fenetre 2</a:t>
            </a:r>
            <a:r>
              <a:rPr sz="1200" b="0" i="0">
                <a:solidFill>
                  <a:srgbClr val="DDE9EB"/>
                </a:solidFill>
                <a:latin typeface="Consolas"/>
              </a:rPr>
              <a:t>                    # capteur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3F1"/>
                </a:solidFill>
                <a:latin typeface="Consolas"/>
              </a:rPr>
              <a:t>uv run python scripts/evaluate_drift.py --fenetre janvier --reference haute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EEF3F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3F1"/>
                </a:solidFill>
                <a:latin typeface="Consolas"/>
              </a:rPr>
              <a:t>docker compose up -d --build</a:t>
            </a:r>
            <a:r>
              <a:rPr sz="1200" b="0" i="0">
                <a:solidFill>
                  <a:srgbClr val="DDE9EB"/>
                </a:solidFill>
                <a:latin typeface="Consolas"/>
              </a:rPr>
              <a:t>                              # Prometheus + Grafana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3F1"/>
                </a:solidFill>
                <a:latin typeface="Consolas"/>
              </a:rPr>
              <a:t>uv run python scripts/export_drift_metrics.py</a:t>
            </a:r>
            <a:r>
              <a:rPr sz="1200" b="0" i="0">
                <a:solidFill>
                  <a:srgbClr val="DDE9EB"/>
                </a:solidFill>
                <a:latin typeface="Consolas"/>
              </a:rPr>
              <a:t>                    # :9109/metrics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EEF3F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3F1"/>
                </a:solidFill>
                <a:latin typeface="Consolas"/>
              </a:rPr>
              <a:t>uv run pytest tests/test_drift_monitoring.py -q</a:t>
            </a:r>
            <a:r>
              <a:rPr sz="1300" b="1" i="0">
                <a:solidFill>
                  <a:srgbClr val="E3F1E7"/>
                </a:solidFill>
                <a:latin typeface="Consolas"/>
              </a:rPr>
              <a:t>  → 8 passed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578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C6360"/>
                </a:solidFill>
                <a:latin typeface="Segoe UI"/>
              </a:rPr>
              <a:t>Fichiers de preuve : </a:t>
            </a:r>
            <a:r>
              <a:rPr sz="1250" b="0" i="0">
                <a:solidFill>
                  <a:srgbClr val="7C3510"/>
                </a:solidFill>
                <a:latin typeface="Consolas"/>
              </a:rPr>
              <a:t>monitoring_proof.md · reports/drift/drift_spec.md · docs/runbook.md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Observabilité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Preuve rejouable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180">
                <a:solidFill>
                  <a:srgbClr val="DDE9EB"/>
                </a:solidFill>
                <a:latin typeface="Consolas"/>
              </a:rPr>
              <a:t>À RETENIR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EEF3F1"/>
                </a:solidFill>
                <a:latin typeface="Bahnschrift"/>
              </a:rPr>
              <a:t>Observer la dérive, en une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DDE9EB"/>
                </a:solidFill>
                <a:latin typeface="Segoe UI"/>
              </a:rPr>
              <a:t>Un PSI qui hurle n'est qu'un point de départ : le diagnostic distingue capteur, régime et modèle avant d'agir — et seul l'effondrement d'un KPI retardé justifie de réentraîner.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871215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61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EF3F1"/>
                </a:solidFill>
                <a:latin typeface="Segoe UI"/>
              </a:rPr>
              <a:t>Scope : 2 capteurs, 2 régimes de référence, segmentation machine — pas de concept drift automatique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64992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EF3F1"/>
                </a:solidFill>
                <a:latin typeface="Segoe UI"/>
              </a:rPr>
              <a:t>Schéma : capteurs → drift.py → export → Prometheus → Grafana → runbook, 100 % fichiers réels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078224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68496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EF3F1"/>
                </a:solidFill>
                <a:latin typeface="Segoe UI"/>
              </a:rPr>
              <a:t>Diagnostic en 3 étapes : isoler le capteur, exclure un régime, confirmer la cause physique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681728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EF3F1"/>
                </a:solidFill>
                <a:latin typeface="Segoe UI"/>
              </a:rPr>
              <a:t>KPI de second rideau (rappel, confirmation, bande d'alerte) juge — le PSI seul ne décide jamais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285232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75504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EF3F1"/>
                </a:solidFill>
                <a:latin typeface="Segoe UI"/>
              </a:rPr>
              <a:t>Réentraînement = dernier recours (protocole m21), jamais un ajustement de seuil après coup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Jalon 10 · M31–M34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5375" y="635508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reports/drift/drift_spec.md · docs/runbook.md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