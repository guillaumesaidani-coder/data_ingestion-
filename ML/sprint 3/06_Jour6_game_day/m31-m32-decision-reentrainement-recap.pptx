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841248"/>
            <a:ext cx="109728" cy="109728"/>
          </a:xfrm>
          <a:prstGeom prst="ellipse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749808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60">
                <a:solidFill>
                  <a:srgbClr val="4C6360"/>
                </a:solidFill>
                <a:latin typeface="Consolas"/>
              </a:rPr>
              <a:t>JALON 10 · MODULES 31–32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 i="0">
                <a:solidFill>
                  <a:srgbClr val="10201F"/>
                </a:solidFill>
                <a:latin typeface="Bahnschrift"/>
              </a:rPr>
              <a:t>Décider de réentraîner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0604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4C6360"/>
                </a:solidFill>
                <a:latin typeface="Segoe UI"/>
              </a:rPr>
              <a:t>Le moment qu'on ne voit jamais dans les schémas : entre l'alerte du jour et la décision, il y a un KPI qui met 15 jours à parler.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77639"/>
            <a:ext cx="33832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40">
                <a:solidFill>
                  <a:srgbClr val="B23A2F"/>
                </a:solidFill>
                <a:latin typeface="Consolas"/>
              </a:rPr>
              <a:t>LE SEUL DÉCLENCHEUR ICI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43484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Rappel du modèle &lt; 0,60 — pas le PSI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3977639"/>
            <a:ext cx="33832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40">
                <a:solidFill>
                  <a:srgbClr val="B23A2F"/>
                </a:solidFill>
                <a:latin typeface="Consolas"/>
              </a:rPr>
              <a:t>LE DÉLAI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43484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~15 jours entre l'alerte et la décision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7" y="3977639"/>
            <a:ext cx="3383279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133087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40">
                <a:solidFill>
                  <a:srgbClr val="B23A2F"/>
                </a:solidFill>
                <a:latin typeface="Consolas"/>
              </a:rPr>
              <a:t>ILLUSTRÉ PAR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4434840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Fenêtre 3 (concept drift) vs fenêtre 2 (capteur) — même dépôt, deux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Parcours CISIA — Sprint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Décider de réentraîner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CE QU'ON CROIT, CE QUI EST VRAI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Le PSI qui hurle ne déclenche jamais un réentraînement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reports/drift/drift_spec.md liste 3 réactions possibles à une alerte — une seule mène au réentraînement, et ce n'est jamais la première mesurée.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444240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F7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3444240" cy="82296"/>
          </a:xfrm>
          <a:prstGeom prst="roundRect">
            <a:avLst/>
          </a:prstGeom>
          <a:solidFill>
            <a:srgbClr val="2F7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377440"/>
            <a:ext cx="3041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4C6360"/>
                </a:solidFill>
                <a:latin typeface="Segoe UI"/>
              </a:rPr>
              <a:t>PSI capteur franchi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88920"/>
            <a:ext cx="3041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2F7A53"/>
                </a:solidFill>
                <a:latin typeface="Consolas"/>
              </a:rPr>
              <a:t>6,83 sur temperature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291840"/>
            <a:ext cx="3041904" cy="685800"/>
          </a:xfrm>
          <a:prstGeom prst="roundRect">
            <a:avLst>
              <a:gd name="adj" fmla="val 60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291840"/>
            <a:ext cx="304190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2F7A53"/>
                </a:solidFill>
                <a:latin typeface="Segoe UI"/>
              </a:rPr>
              <a:t>Étalonnage physique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160520"/>
            <a:ext cx="3041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10201F"/>
                </a:solidFill>
                <a:latin typeface="Segoe UI"/>
              </a:rPr>
              <a:t>Pas de réentraînement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7200" y="2148840"/>
            <a:ext cx="3444240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9A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67200" y="2148840"/>
            <a:ext cx="3444240" cy="82296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8368" y="2377440"/>
            <a:ext cx="3041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4C6360"/>
                </a:solidFill>
                <a:latin typeface="Segoe UI"/>
              </a:rPr>
              <a:t>Changement de régime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8368" y="2788920"/>
            <a:ext cx="3041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9A6C0A"/>
                </a:solidFill>
                <a:latin typeface="Consolas"/>
              </a:rPr>
              <a:t>6,20 → 0,001 vs haute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68368" y="3291840"/>
            <a:ext cx="3041904" cy="685800"/>
          </a:xfrm>
          <a:prstGeom prst="roundRect">
            <a:avLst>
              <a:gd name="adj" fmla="val 6000"/>
            </a:avLst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8368" y="3291840"/>
            <a:ext cx="304190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9A6C0A"/>
                </a:solidFill>
                <a:latin typeface="Segoe UI"/>
              </a:rPr>
              <a:t>Bascule de référence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8368" y="4160520"/>
            <a:ext cx="3041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10201F"/>
                </a:solidFill>
                <a:latin typeface="Segoe UI"/>
              </a:rPr>
              <a:t>Pas de réentraînement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85760" y="2148840"/>
            <a:ext cx="3444240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85760" y="2148840"/>
            <a:ext cx="3444240" cy="82296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6928" y="2377440"/>
            <a:ext cx="30419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4C6360"/>
                </a:solidFill>
                <a:latin typeface="Segoe UI"/>
              </a:rPr>
              <a:t>Rappel sous 0,60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6928" y="2788920"/>
            <a:ext cx="30419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B23A2F"/>
                </a:solidFill>
                <a:latin typeface="Consolas"/>
              </a:rPr>
              <a:t>0,051 mesuré (fenêtre 3)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6928" y="3291840"/>
            <a:ext cx="3041904" cy="685800"/>
          </a:xfrm>
          <a:prstGeom prst="roundRect">
            <a:avLst>
              <a:gd name="adj" fmla="val 6000"/>
            </a:avLst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6928" y="3291840"/>
            <a:ext cx="3041904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B23A2F"/>
                </a:solidFill>
                <a:latin typeface="Segoe UI"/>
              </a:rPr>
              <a:t>Réentraînement complet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6928" y="4160520"/>
            <a:ext cx="30419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0201F"/>
                </a:solidFill>
                <a:latin typeface="Segoe UI"/>
              </a:rPr>
              <a:t>SEUL déclencheur réel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Décision de réentraîner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malentendu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POURQUOI ÇA NE SE DÉCIDE JAMAIS LE JOUR 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Deux horloges qui ne tournent pas à la même vitesse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92807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PSI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0370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Segoe UI"/>
              </a:rPr>
              <a:t>dès le prochain scrape (15 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892807"/>
            <a:ext cx="2926080" cy="603504"/>
          </a:xfrm>
          <a:prstGeom prst="roundRect">
            <a:avLst>
              <a:gd name="adj" fmla="val 30000"/>
            </a:avLst>
          </a:prstGeom>
          <a:solidFill>
            <a:srgbClr val="DD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892807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1F6478"/>
                </a:solidFill>
                <a:latin typeface="Consolas"/>
              </a:rPr>
              <a:t>instantané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15768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9A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2549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Taux de confirmation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36391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Segoe UI"/>
              </a:rPr>
              <a:t>délai des inspections déclenchées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825496"/>
            <a:ext cx="2926080" cy="603504"/>
          </a:xfrm>
          <a:prstGeom prst="roundRect">
            <a:avLst>
              <a:gd name="adj" fmla="val 30000"/>
            </a:avLst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2825496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9A6C0A"/>
                </a:solidFill>
                <a:latin typeface="Consolas"/>
              </a:rPr>
              <a:t>~3 jours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48456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58183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 i="0">
                <a:solidFill>
                  <a:srgbClr val="10201F"/>
                </a:solidFill>
                <a:latin typeface="Segoe UI"/>
              </a:rPr>
              <a:t>Rappel du modèle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069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C6360"/>
                </a:solidFill>
                <a:latin typeface="Segoe UI"/>
              </a:rPr>
              <a:t>délai pour connaître les VRAIES pannes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758183"/>
            <a:ext cx="2926080" cy="603504"/>
          </a:xfrm>
          <a:prstGeom prst="roundRect">
            <a:avLst>
              <a:gd name="adj" fmla="val 30000"/>
            </a:avLst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758183"/>
            <a:ext cx="29260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 i="0">
                <a:solidFill>
                  <a:srgbClr val="B23A2F"/>
                </a:solidFill>
                <a:latin typeface="Consolas"/>
              </a:rPr>
              <a:t>~15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718304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55464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B23A2F"/>
                </a:solidFill>
                <a:latin typeface="Segoe UI"/>
              </a:rPr>
              <a:t>Conséquence directe :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le jour de l'alerte PSI, PERSONNE ne sait encore si le rappel va s'effondrer. La décision de réentraîner ne peut matériellement être prise qu'après ce délai — pas plus tôt, même sous pression.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Décision de réentraîner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problème de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CHRONOLOGIE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De l'alerte à la décision, jour par jour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2015337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015337" cy="45720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920240"/>
            <a:ext cx="17958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EEF3F1"/>
                </a:solidFill>
                <a:latin typeface="Consolas"/>
              </a:rPr>
              <a:t>J0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542032"/>
            <a:ext cx="175930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Alerte PSI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3154680"/>
            <a:ext cx="175930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4C6360"/>
                </a:solidFill>
                <a:latin typeface="Segoe UI"/>
              </a:rPr>
              <a:t>persistant 2 fenêtres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82265" y="2880360"/>
            <a:ext cx="164592" cy="0"/>
          </a:xfrm>
          <a:prstGeom prst="line">
            <a:avLst/>
          </a:prstGeom>
          <a:ln w="2032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65145" y="1920240"/>
            <a:ext cx="2015337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65145" y="1920240"/>
            <a:ext cx="2015337" cy="45720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4873" y="1920240"/>
            <a:ext cx="17958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EEF3F1"/>
                </a:solidFill>
                <a:latin typeface="Consolas"/>
              </a:rPr>
              <a:t>J0–J3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3161" y="2542032"/>
            <a:ext cx="175930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Diagnostic runbook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3161" y="3154680"/>
            <a:ext cx="175930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4C6360"/>
                </a:solidFill>
                <a:latin typeface="Segoe UI"/>
              </a:rPr>
              <a:t>capteur ? régime ? (slide 6, deck précédent)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98771" y="2880360"/>
            <a:ext cx="164592" cy="0"/>
          </a:xfrm>
          <a:prstGeom prst="line">
            <a:avLst/>
          </a:prstGeom>
          <a:ln w="2032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81651" y="1920240"/>
            <a:ext cx="2015337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9A6C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81651" y="1920240"/>
            <a:ext cx="2015337" cy="457200"/>
          </a:xfrm>
          <a:prstGeom prst="roundRect">
            <a:avLst/>
          </a:prstGeom>
          <a:solidFill>
            <a:srgbClr val="9A6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1379" y="1920240"/>
            <a:ext cx="17958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EEF3F1"/>
                </a:solidFill>
                <a:latin typeface="Consolas"/>
              </a:rPr>
              <a:t>~J3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9667" y="2542032"/>
            <a:ext cx="175930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Taux de confirmation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9667" y="3154680"/>
            <a:ext cx="175930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4C6360"/>
                </a:solidFill>
                <a:latin typeface="Segoe UI"/>
              </a:rPr>
              <a:t>1er signal retardé (plancher 0,05)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15276" y="2880360"/>
            <a:ext cx="164592" cy="0"/>
          </a:xfrm>
          <a:prstGeom prst="line">
            <a:avLst/>
          </a:prstGeom>
          <a:ln w="2032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98156" y="1920240"/>
            <a:ext cx="2015337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98156" y="1920240"/>
            <a:ext cx="2015337" cy="45720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07884" y="1920240"/>
            <a:ext cx="17958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EEF3F1"/>
                </a:solidFill>
                <a:latin typeface="Consolas"/>
              </a:rPr>
              <a:t>~J15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26172" y="2542032"/>
            <a:ext cx="175930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Rappel connu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6172" y="3154680"/>
            <a:ext cx="175930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4C6360"/>
                </a:solidFill>
                <a:latin typeface="Segoe UI"/>
              </a:rPr>
              <a:t>seul chiffre qui autorise la décision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231782" y="2880360"/>
            <a:ext cx="164592" cy="0"/>
          </a:xfrm>
          <a:prstGeom prst="line">
            <a:avLst/>
          </a:prstGeom>
          <a:ln w="20320">
            <a:solidFill>
              <a:srgbClr val="4C63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14662" y="1920240"/>
            <a:ext cx="2015337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B23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414662" y="1920240"/>
            <a:ext cx="2015337" cy="457200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24390" y="1920240"/>
            <a:ext cx="179588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EEF3F1"/>
                </a:solidFill>
                <a:latin typeface="Consolas"/>
              </a:rPr>
              <a:t>J15+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2678" y="2542032"/>
            <a:ext cx="175930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0201F"/>
                </a:solidFill>
                <a:latin typeface="Segoe UI"/>
              </a:rPr>
              <a:t>Décision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2678" y="3154680"/>
            <a:ext cx="1759305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4C6360"/>
                </a:solidFill>
                <a:latin typeface="Segoe UI"/>
              </a:rPr>
              <a:t>réentraîner, ou non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1605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7C3510"/>
                </a:solidFill>
                <a:latin typeface="Segoe UI"/>
              </a:rPr>
              <a:t>Ce que la spec appelle "protocole m21 complet" 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commence exactement à J15+ — c'est un module antérieur du parcours, référencé mais non détaillé dans ce dépôt (hors périmètre de ce jalon).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Décision de réentraîner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La chronologie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MÊME POINT DE DÉPART, DEUX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Fenêtre 2 vs fenêtre 3 : où bascule la décision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0749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074920" cy="457200"/>
          </a:xfrm>
          <a:prstGeom prst="roundRect">
            <a:avLst/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91640"/>
            <a:ext cx="467258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0201F"/>
                </a:solidFill>
                <a:latin typeface="Consolas"/>
              </a:rPr>
              <a:t>FENÊTRE 2 — capteur +8°C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30449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PSI température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1" y="2286000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B23A2F"/>
                </a:solidFill>
                <a:latin typeface="Consolas"/>
              </a:rPr>
              <a:t>6,834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97480"/>
            <a:ext cx="30449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Rappel du modèle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1" y="2697480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0,738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108960"/>
            <a:ext cx="30449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Sous le plancher 0,60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1" y="3108960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Non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3611880"/>
            <a:ext cx="4672583" cy="548640"/>
          </a:xfrm>
          <a:prstGeom prst="roundRect">
            <a:avLst>
              <a:gd name="adj" fmla="val 30000"/>
            </a:avLst>
          </a:prstGeom>
          <a:solidFill>
            <a:srgbClr val="E3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611880"/>
            <a:ext cx="46725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2F7A53"/>
                </a:solidFill>
                <a:latin typeface="Consolas"/>
              </a:rPr>
              <a:t>PAS DE RÉENTRAÎNEMENT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279392"/>
            <a:ext cx="467258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Le modèle reste valide — seul le capteur 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1691640"/>
            <a:ext cx="507492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3D0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79" y="1691640"/>
            <a:ext cx="5074920" cy="457200"/>
          </a:xfrm>
          <a:prstGeom prst="roundRect">
            <a:avLst/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1691640"/>
            <a:ext cx="4672583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 i="0">
                <a:solidFill>
                  <a:srgbClr val="10201F"/>
                </a:solidFill>
                <a:latin typeface="Consolas"/>
              </a:rPr>
              <a:t>FENÊTRE 3 — concept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7" y="2286000"/>
            <a:ext cx="30449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PSI température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286000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2F7A53"/>
                </a:solidFill>
                <a:latin typeface="Consolas"/>
              </a:rPr>
              <a:t>0,002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7" y="2697480"/>
            <a:ext cx="30449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Rappel du modèle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697480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B23A2F"/>
                </a:solidFill>
                <a:latin typeface="Consolas"/>
              </a:rPr>
              <a:t>0,051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7" y="3108960"/>
            <a:ext cx="304495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C6360"/>
                </a:solidFill>
                <a:latin typeface="Segoe UI"/>
              </a:rPr>
              <a:t>Sous le plancher 0,60 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71432" y="3108960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 i="0">
                <a:solidFill>
                  <a:srgbClr val="B23A2F"/>
                </a:solidFill>
                <a:latin typeface="Consolas"/>
              </a:rPr>
              <a:t>Oui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7" y="3611880"/>
            <a:ext cx="4672583" cy="548640"/>
          </a:xfrm>
          <a:prstGeom prst="roundRect">
            <a:avLst>
              <a:gd name="adj" fmla="val 30000"/>
            </a:avLst>
          </a:prstGeom>
          <a:solidFill>
            <a:srgbClr val="F7E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7" y="3611880"/>
            <a:ext cx="467258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1" i="0">
                <a:solidFill>
                  <a:srgbClr val="B23A2F"/>
                </a:solidFill>
                <a:latin typeface="Consolas"/>
              </a:rPr>
              <a:t>RÉENTRAÎNEMENT DÉCLENCHÉ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7" y="4279392"/>
            <a:ext cx="4672583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 i="0">
                <a:solidFill>
                  <a:srgbClr val="10201F"/>
                </a:solidFill>
                <a:latin typeface="Segoe UI"/>
              </a:rPr>
              <a:t>Les données d'entrée sont calmes — c'est la RELATION X→y qui a changé.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Décision de réentraîner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Étude de 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PERSONNE NE DÉCIDE SEUL, SUR UN CHIFFRE SEUL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10201F"/>
                </a:solidFill>
                <a:latin typeface="Bahnschrift"/>
              </a:rPr>
              <a:t>Le data scientist décide — l'opérateur ne fait que remonter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1F6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82296" cy="1280160"/>
          </a:xfrm>
          <a:prstGeom prst="roundRect">
            <a:avLst/>
          </a:prstGeom>
          <a:solidFill>
            <a:srgbClr val="1F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F6478"/>
                </a:solidFill>
                <a:latin typeface="Segoe UI"/>
              </a:rPr>
              <a:t>L'opérateur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03120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constate le rappel sous plancher (Grafana, panneau "Rappel panne")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10312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C6360"/>
                </a:solidFill>
                <a:latin typeface="Segoe UI"/>
              </a:rPr>
              <a:t>N'A PAS le pouvoir de lancer un réentraînement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6510">
            <a:solidFill>
              <a:srgbClr val="B55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82296" cy="1280160"/>
          </a:xfrm>
          <a:prstGeom prst="roundRect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B5501C"/>
                </a:solidFill>
                <a:latin typeface="Segoe UI"/>
              </a:rPr>
              <a:t>Le data scientist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80" b="0" i="0">
                <a:solidFill>
                  <a:srgbClr val="10201F"/>
                </a:solidFill>
                <a:latin typeface="Segoe UI"/>
              </a:rPr>
              <a:t>confirme sur les données fraîches, décide, exécute le protocole m21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520440"/>
            <a:ext cx="3383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4C6360"/>
                </a:solidFill>
                <a:latin typeface="Segoe UI"/>
              </a:rPr>
              <a:t>SEUL à pouvoir toucher au modèle et au seuil gelé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0881360" cy="1051560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102352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C'est le même partage de rôles que drift_spec.md / runbook.md (deck précédent) : </a:t>
            </a:r>
            <a:r>
              <a:rPr sz="1250" b="1" i="0">
                <a:solidFill>
                  <a:srgbClr val="7C3510"/>
                </a:solidFill>
                <a:latin typeface="Segoe UI"/>
              </a:rPr>
              <a:t>l'opérateur observe et signale, il n'improvise ni ne décide jamais du modèle.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Décision de réentraîner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Qui décide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LE DÉCLIC, EN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Une décision humaine, un paramètre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80" b="0" i="0">
                <a:solidFill>
                  <a:srgbClr val="4C6360"/>
                </a:solidFill>
                <a:latin typeface="Segoe UI"/>
              </a:rPr>
              <a:t>Ce repo n'a pas de bouton "réentraîner le modèle de dérive" — mais le pipeline principal (M29-30) montre concrètement à quoi ressemble le déclic.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10881360" cy="196596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76856"/>
            <a:ext cx="10332720" cy="1581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DDE9EB"/>
                </a:solidFill>
                <a:latin typeface="Consolas"/>
              </a:rPr>
              <a:t># src/indusense/flows/predict_flow.py — ensure-model</a:t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if model_path.exists() and not </a:t>
            </a:r>
            <a:r>
              <a:rPr sz="1400" b="1" i="0">
                <a:solidFill>
                  <a:srgbClr val="E08A52"/>
                </a:solidFill>
                <a:latin typeface="Consolas"/>
              </a:rPr>
              <a:t>retrain</a:t>
            </a:r>
            <a:r>
              <a:rPr sz="1400" b="0" i="0">
                <a:solidFill>
                  <a:srgbClr val="EEF3F1"/>
                </a:solidFill>
                <a:latin typeface="Consolas"/>
              </a:rPr>
              <a:t>: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DE9EB"/>
                </a:solidFill>
                <a:latin typeface="Consolas"/>
              </a:rPr>
              <a:t>    log("Reprise : modele existant reutilise -&gt; rf.joblib")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DDE9EB"/>
                </a:solidFill>
                <a:latin typeface="Consolas"/>
              </a:rPr>
              <a:t>    return model_path</a:t>
            </a:r>
          </a:p>
          <a:p>
            <a:pPr algn="l">
              <a:lnSpc>
                <a:spcPct val="130000"/>
              </a:lnSpc>
            </a:pPr>
            <a:r>
              <a:rPr sz="6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FFF8F3"/>
                </a:solidFill>
                <a:latin typeface="Consolas"/>
              </a:rPr>
              <a:t># sinon : entraine, sauvegarde, ecrit metadata (date, seed, features...)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0624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0201F"/>
                </a:solidFill>
                <a:latin typeface="Segoe UI"/>
              </a:rPr>
              <a:t>retrain reste à </a:t>
            </a:r>
            <a:r>
              <a:rPr sz="1250" b="1" i="0">
                <a:solidFill>
                  <a:srgbClr val="2F7A53"/>
                </a:solidFill>
                <a:latin typeface="Consolas"/>
              </a:rPr>
              <a:t>False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 par défaut (reprise/idempotence, M29-30) — quelqu'un doit explicitement le passer à </a:t>
            </a:r>
            <a:r>
              <a:rPr sz="1250" b="1" i="0">
                <a:solidFill>
                  <a:srgbClr val="B23A2F"/>
                </a:solidFill>
                <a:latin typeface="Consolas"/>
              </a:rPr>
              <a:t>True</a:t>
            </a:r>
            <a:r>
              <a:rPr sz="1250" b="0" i="0">
                <a:solidFill>
                  <a:srgbClr val="10201F"/>
                </a:solidFill>
                <a:latin typeface="Segoe UI"/>
              </a:rPr>
              <a:t>. C'est un modèle différent (rf.joblib, pas artifacts/drift_model.joblib), mais le même principe : la décision n'est jamais automatique, un humain doit la déclencher explicitement.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Décision de réentraîner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Le déclic en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HONNÊTETÉ SUR LE PÉRIMÈTRE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>
                <a:solidFill>
                  <a:srgbClr val="10201F"/>
                </a:solidFill>
                <a:latin typeface="Bahnschrift"/>
              </a:rPr>
              <a:t>D'autres déclencheurs existent — pas dans ce dépôt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C6360"/>
                </a:solidFill>
                <a:latin typeface="Segoe UI"/>
              </a:rPr>
              <a:t>Le data drift (rappel effondré) est LE SEUL déclencheur instrumenté ici. En pratique MLOps, d'autres existent — non prouvés dans ce jalon.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1">
                <a:solidFill>
                  <a:srgbClr val="4C6360"/>
                </a:solidFill>
                <a:latin typeface="Segoe UI"/>
              </a:rPr>
              <a:t>Réentraînement calendaire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965960"/>
            <a:ext cx="6309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4C6360"/>
                </a:solidFill>
                <a:latin typeface="Segoe UI"/>
              </a:rPr>
              <a:t>planifié à date fixe, indépendant de toute alerte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07208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1">
                <a:solidFill>
                  <a:srgbClr val="4C6360"/>
                </a:solidFill>
                <a:latin typeface="Segoe UI"/>
              </a:rPr>
              <a:t>Nouvelle feature/donnée disponible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807208"/>
            <a:ext cx="6309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4C6360"/>
                </a:solidFill>
                <a:latin typeface="Segoe UI"/>
              </a:rPr>
              <a:t>le Gold s'enrichit, justifie un nouveau modèle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48456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48456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1">
                <a:solidFill>
                  <a:srgbClr val="4C6360"/>
                </a:solidFill>
                <a:latin typeface="Segoe UI"/>
              </a:rPr>
              <a:t>Changement réglementaire ou métier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648456"/>
            <a:ext cx="6309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4C6360"/>
                </a:solidFill>
                <a:latin typeface="Segoe UI"/>
              </a:rPr>
              <a:t>le coût FN/FP de artifacts/drift_threshold.json change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10881360" cy="749808"/>
          </a:xfrm>
          <a:prstGeom prst="roundRect">
            <a:avLst>
              <a:gd name="adj" fmla="val 5000"/>
            </a:avLst>
          </a:prstGeom>
          <a:solidFill>
            <a:srgbClr val="E2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489704"/>
            <a:ext cx="38404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1">
                <a:solidFill>
                  <a:srgbClr val="4C6360"/>
                </a:solidFill>
                <a:latin typeface="Segoe UI"/>
              </a:rPr>
              <a:t>Dérive détectée sur le Gold lui-même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489704"/>
            <a:ext cx="6309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4C6360"/>
                </a:solidFill>
                <a:latin typeface="Segoe UI"/>
              </a:rPr>
              <a:t>en amont de la dérive capteur suivie ici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68112"/>
            <a:ext cx="10881360" cy="777240"/>
          </a:xfrm>
          <a:prstGeom prst="roundRect">
            <a:avLst>
              <a:gd name="adj" fmla="val 5000"/>
            </a:avLst>
          </a:prstGeom>
          <a:solidFill>
            <a:srgbClr val="F6E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468112"/>
            <a:ext cx="103327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9A6C0A"/>
                </a:solidFill>
                <a:latin typeface="Segoe UI"/>
              </a:rPr>
              <a:t>Aucun de ces 4 cas n'a de code, de seuil ou de preuve dans ce dépôt : </a:t>
            </a:r>
            <a:r>
              <a:rPr sz="1200" b="0" i="0">
                <a:solidFill>
                  <a:srgbClr val="10201F"/>
                </a:solidFill>
                <a:latin typeface="Segoe UI"/>
              </a:rPr>
              <a:t>cité pour situer le contexte, pas pour prétendre qu'ils sont gérés ici.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Décision de réentraîner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Hors périmètre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80">
                <a:solidFill>
                  <a:srgbClr val="1F6478"/>
                </a:solidFill>
                <a:latin typeface="Consolas"/>
              </a:rPr>
              <a:t>PREUVE REJOUABLE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10201F"/>
                </a:solidFill>
                <a:latin typeface="Bahnschrift"/>
              </a:rPr>
              <a:t>Les deux issues, mesurées côte à côte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0881360" cy="2926080"/>
          </a:xfrm>
          <a:prstGeom prst="roundRect">
            <a:avLst>
              <a:gd name="adj" fmla="val 4500"/>
            </a:avLst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25726"/>
            <a:ext cx="10296144" cy="25164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scripts/evaluate_drift.py --fenetre 2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E3F1E7"/>
                </a:solidFill>
                <a:latin typeface="Consolas"/>
              </a:rPr>
              <a:t>  → rappel 0,738 (au-dessus de 0,60)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— pas de réentraînement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uv run python scripts/evaluate_drift.py --fenetre 3</a:t>
            </a:r>
          </a:p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E08A52"/>
                </a:solidFill>
                <a:latin typeface="Consolas"/>
              </a:rPr>
              <a:t>  → rappel 0,051 (sous 0,60)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— réentraînement déclenché</a:t>
            </a:r>
          </a:p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EEF3F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EEF3F1"/>
                </a:solidFill>
                <a:latin typeface="Consolas"/>
              </a:rPr>
              <a:t>cat reports/drift/drift_spec.md</a:t>
            </a:r>
            <a:r>
              <a:rPr sz="1200" b="0" i="0">
                <a:solidFill>
                  <a:srgbClr val="DDE9EB"/>
                </a:solidFill>
                <a:latin typeface="Consolas"/>
              </a:rPr>
              <a:t>   # section "Reactions"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7C3510"/>
                </a:solidFill>
                <a:latin typeface="Segoe UI"/>
              </a:rPr>
              <a:t>Même script, même métrique, même seuil (0,60) — c'est le RÉSULTAT mesuré qui bascule la décision, jamais l'intention.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Jalon 10 — Décision de réentraîner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5375" y="64008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0" i="0">
                <a:solidFill>
                  <a:srgbClr val="4C6360"/>
                </a:solidFill>
                <a:latin typeface="Consolas"/>
              </a:rPr>
              <a:t>Preuve rejouable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3015" y="6400800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00" b="1" i="0">
                <a:solidFill>
                  <a:srgbClr val="1F647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82296"/>
          </a:xfrm>
          <a:prstGeom prst="roundRect">
            <a:avLst/>
          </a:prstGeom>
          <a:solidFill>
            <a:srgbClr val="B23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180">
                <a:solidFill>
                  <a:srgbClr val="DDE9EB"/>
                </a:solidFill>
                <a:latin typeface="Consolas"/>
              </a:rPr>
              <a:t>À RETENIR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EEF3F1"/>
                </a:solidFill>
                <a:latin typeface="Bahnschrift"/>
              </a:rPr>
              <a:t>Décider de réentraîner,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DE9EB"/>
                </a:solidFill>
                <a:latin typeface="Segoe UI"/>
              </a:rPr>
              <a:t>Le PSI donne l'alerte du jour ; seul un KPI qui met 15 jours à parler donne le droit de toucher au modèle — et ce droit n'appartient jamais à l'opérateur.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825496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1576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EEF3F1"/>
                </a:solidFill>
                <a:latin typeface="Segoe UI"/>
              </a:rPr>
              <a:t>Le seul déclencheur prouvé ici : rappel du modèle &lt; 0,60 — jamais le PSI seul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29000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1927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EEF3F1"/>
                </a:solidFill>
                <a:latin typeface="Segoe UI"/>
              </a:rPr>
              <a:t>Délai incompressible ~15 jours entre l'alerte et la décision : deux horloges, pas une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032504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22776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EEF3F1"/>
                </a:solidFill>
                <a:latin typeface="Segoe UI"/>
              </a:rPr>
              <a:t>Fenêtre 2 (rappel 0,738) ne réentraîne pas ; fenêtre 3 (rappel 0,051) le déclenche — même dépôt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636008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52628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EEF3F1"/>
                </a:solidFill>
                <a:latin typeface="Segoe UI"/>
              </a:rPr>
              <a:t>Le data scientist décide et exécute (protocole m21) ; l'opérateur observe, ne décide jamais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239512"/>
            <a:ext cx="128016" cy="128016"/>
          </a:xfrm>
          <a:prstGeom prst="ellipse">
            <a:avLst/>
          </a:prstGeom>
          <a:solidFill>
            <a:srgbClr val="B55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2978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80" b="0" i="0">
                <a:solidFill>
                  <a:srgbClr val="EEF3F1"/>
                </a:solidFill>
                <a:latin typeface="Segoe UI"/>
              </a:rPr>
              <a:t>D'autres déclencheurs existent en MLOps (calendaire, nouvelle donnée...) — non instrumentés ici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Jalon 10 · M31–M32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5375" y="63550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1050" b="0" i="0">
                <a:solidFill>
                  <a:srgbClr val="4C6360"/>
                </a:solidFill>
                <a:latin typeface="Consolas"/>
              </a:rPr>
              <a:t>reports/drift/drift_spec.md · predict_flow.py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