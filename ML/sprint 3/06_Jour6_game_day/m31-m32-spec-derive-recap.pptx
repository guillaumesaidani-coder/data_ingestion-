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841248"/>
            <a:ext cx="109728" cy="109728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60">
                <a:solidFill>
                  <a:srgbClr val="4C6360"/>
                </a:solidFill>
                <a:latin typeface="Consolas"/>
              </a:rPr>
              <a:t>JALON 10 · MODULES 31–32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10201F"/>
                </a:solidFill>
                <a:latin typeface="Bahnschrift"/>
              </a:rPr>
              <a:t>Concevoir la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517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4C6360"/>
                </a:solidFill>
                <a:latin typeface="Segoe UI"/>
              </a:rPr>
              <a:t>Le travail du data scientist avant l'incident : figer une règle par écrit, prouvée sur des cas réels — pas la lire, pas la jouer, l'ÉCRIRE.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77639"/>
            <a:ext cx="33832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60">
                <a:solidFill>
                  <a:srgbClr val="1F6478"/>
                </a:solidFill>
                <a:latin typeface="Consolas"/>
              </a:rPr>
              <a:t>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43484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reports/drift/drift_spec.md + artifacts/drift_threshold.json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977639"/>
            <a:ext cx="33832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60">
                <a:solidFill>
                  <a:srgbClr val="1F6478"/>
                </a:solidFill>
                <a:latin typeface="Consolas"/>
              </a:rPr>
              <a:t>OUTIL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43484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scripts/train_drift_model.py — split temporel, seuil gelé sur coût métier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3977639"/>
            <a:ext cx="33832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60">
                <a:solidFill>
                  <a:srgbClr val="1F6478"/>
                </a:solidFill>
                <a:latin typeface="Consolas"/>
              </a:rPr>
              <a:t>À NE PAS CONFONDRE AVEC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443484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docs/runbook.md — écrit et joué par l'opérateur, pas le 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Parcours CISIA — 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Concevoir la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LA SÉPARATION DES RÔLES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Deux personnes, deux documents, deux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373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4C6360"/>
                </a:solidFill>
                <a:latin typeface="Consola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0672" y="173736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6478"/>
                </a:solidFill>
                <a:latin typeface="Consolas"/>
              </a:rPr>
              <a:t>Data scientist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2632" y="173736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5501C"/>
                </a:solidFill>
                <a:latin typeface="Consolas"/>
              </a:rPr>
              <a:t>Opérateur / MLOps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4C6360"/>
                </a:solidFill>
                <a:latin typeface="Segoe UI"/>
              </a:rPr>
              <a:t>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24028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reports/drift/drift_spec.md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2" y="224028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docs/runbook.md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98648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898648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4C6360"/>
                </a:solidFill>
                <a:latin typeface="Segoe UI"/>
              </a:rPr>
              <a:t>Quand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898648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AVANT l'incident, à froid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2" y="2898648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PENDANT l'incident, sous pression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57015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57015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4C6360"/>
                </a:solidFill>
                <a:latin typeface="Segoe UI"/>
              </a:rPr>
              <a:t>Contenu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3557015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Règles, seuils, références, preuves chiffrées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3557015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Diagnostic borné, action réversible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15383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215383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4C6360"/>
                </a:solidFill>
                <a:latin typeface="Segoe UI"/>
              </a:rPr>
              <a:t>Touche au modèle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4215383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Oui — entraîne, gèle le seuil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2" y="4215383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Non — jamais, même en urgence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73751"/>
            <a:ext cx="108813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873751"/>
            <a:ext cx="2148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4C6360"/>
                </a:solidFill>
                <a:latin typeface="Segoe UI"/>
              </a:rPr>
              <a:t>Objectif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4873751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Une règle qui tient sur des cas connus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2" y="4873751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Suivre la règle sans la réinventer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Deux rôles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LE PRODUIT DU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5 décisions à prendre une fois, jamais en urgence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82296" cy="841248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F6478"/>
                </a:solidFill>
                <a:latin typeface="Segoe UI"/>
              </a:rPr>
              <a:t>Références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91640"/>
            <a:ext cx="795527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QUELLES données comptent comme "normal" ? Normale = sept+nov+déc, haute charge = octobre — un choix, pas une évidence.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24328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624328"/>
            <a:ext cx="82296" cy="841248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F6478"/>
                </a:solidFill>
                <a:latin typeface="Segoe UI"/>
              </a:rPr>
              <a:t>Bins du PSI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24328"/>
            <a:ext cx="795527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10 bins calculés sur la référence SEULE, jamais recalculés — sinon deux fenêtres ne sont plus comparables.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57016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557016"/>
            <a:ext cx="82296" cy="841248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75888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F6478"/>
                </a:solidFill>
                <a:latin typeface="Segoe UI"/>
              </a:rPr>
              <a:t>KS en confirmation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57016"/>
            <a:ext cx="795527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Jamais en décision seule — le DS sait que KS est structurellement aveugle à un concept drift à X inchangé.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9704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489704"/>
            <a:ext cx="82296" cy="841248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08576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F6478"/>
                </a:solidFill>
                <a:latin typeface="Segoe UI"/>
              </a:rPr>
              <a:t>Règle d'alerte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489704"/>
            <a:ext cx="795527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PSI &gt; 0,25 persistant sur 2 fenêtres — un choix de sensibilité, pas une constante universelle.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22392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422392"/>
            <a:ext cx="82296" cy="841248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41264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F6478"/>
                </a:solidFill>
                <a:latin typeface="Segoe UI"/>
              </a:rPr>
              <a:t>KPI de second rideau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422392"/>
            <a:ext cx="795527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Rappel, taux de confirmation, bande d'alerte — les seuils qui, eux, justifient un réentraînement.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Ce qui est figé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LA DÉCISION LA PLUS CONTRE-INTUITIVE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Le seuil gelé n'est pas 0,5 — c'est un arbitrage en euros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9305"/>
            <a:ext cx="10369296" cy="1196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DE9EB"/>
                </a:solidFill>
                <a:latin typeface="Consolas"/>
              </a:rPr>
              <a:t>// artifacts/drift_threshold.json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"seuil": </a:t>
            </a:r>
            <a:r>
              <a:rPr sz="1400" b="1" i="0">
                <a:solidFill>
                  <a:srgbClr val="E08A52"/>
                </a:solidFill>
                <a:latin typeface="Consolas"/>
              </a:rPr>
              <a:t>0.04</a:t>
            </a:r>
            <a:r>
              <a:rPr sz="1400" b="0" i="0">
                <a:solidFill>
                  <a:srgbClr val="EEF3F1"/>
                </a:solidFill>
                <a:latin typeface="Consolas"/>
              </a:rPr>
              <a:t>,  "cout_fn_eur": </a:t>
            </a:r>
            <a:r>
              <a:rPr sz="1400" b="1" i="0">
                <a:solidFill>
                  <a:srgbClr val="F7E2DE"/>
                </a:solidFill>
                <a:latin typeface="Consolas"/>
              </a:rPr>
              <a:t>5000.0</a:t>
            </a:r>
            <a:r>
              <a:rPr sz="1400" b="0" i="0">
                <a:solidFill>
                  <a:srgbClr val="EEF3F1"/>
                </a:solidFill>
                <a:latin typeface="Consolas"/>
              </a:rPr>
              <a:t>,  "cout_fp_eur": </a:t>
            </a:r>
            <a:r>
              <a:rPr sz="1400" b="1" i="0">
                <a:solidFill>
                  <a:srgbClr val="E3F1E7"/>
                </a:solidFill>
                <a:latin typeface="Consolas"/>
              </a:rPr>
              <a:t>200.0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338327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2926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C6360"/>
                </a:solidFill>
                <a:latin typeface="Segoe UI"/>
              </a:rPr>
              <a:t>Rater une panne (FN)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23A2F"/>
                </a:solidFill>
                <a:latin typeface="Bahnschrift"/>
              </a:rPr>
              <a:t>5 000 €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2926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0201F"/>
                </a:solidFill>
                <a:latin typeface="Segoe UI"/>
              </a:rPr>
              <a:t>Coût d'une panne non détectée — le pire 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337560"/>
            <a:ext cx="338327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F7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3493008"/>
            <a:ext cx="2926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C6360"/>
                </a:solidFill>
                <a:latin typeface="Segoe UI"/>
              </a:rPr>
              <a:t>Fausse alerte (FP)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88620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F7A53"/>
                </a:solidFill>
                <a:latin typeface="Bahnschrift"/>
              </a:rPr>
              <a:t>200 €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4526280"/>
            <a:ext cx="2926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0201F"/>
                </a:solidFill>
                <a:latin typeface="Segoe UI"/>
              </a:rPr>
              <a:t>Coût d'une inspection déclenchée pour rien — 25× moins 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337560"/>
            <a:ext cx="3383279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493008"/>
            <a:ext cx="2926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4C6360"/>
                </a:solidFill>
                <a:latin typeface="Segoe UI"/>
              </a:rPr>
              <a:t>Seuil théorique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88620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5501C"/>
                </a:solidFill>
                <a:latin typeface="Bahnschrift"/>
              </a:rPr>
              <a:t>200/5200 ≈ 0,038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4526280"/>
            <a:ext cx="2926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0201F"/>
                </a:solidFill>
                <a:latin typeface="Segoe UI"/>
              </a:rPr>
              <a:t>FP/(FP+FN) — proche du seuil réellement gelé (0,04)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7C3510"/>
                </a:solidFill>
                <a:latin typeface="Segoe UI"/>
              </a:rPr>
              <a:t>Conséquence assumée :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précision 0,12, taux d'alerte 34,5 % — beaucoup de fausses alertes, délibérément, parce qu'une panne ratée coûte 25× plus cher qu'une inspection inutile.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seuil, un coût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PIÈGE MÉTHODOLOGIQUE N°1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Un split aléatoire aurait menti de 11 points de 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Les features roll3/roll6/lag regardent le passé ET le futur d'une ligne si le split est aléatoire — elles "trichent".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0749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B23A2F"/>
                </a:solidFill>
                <a:latin typeface="Consolas"/>
              </a:rPr>
              <a:t>SPLIT ALÉATOIRE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B23A2F"/>
                </a:solidFill>
                <a:latin typeface="Bahnschrift"/>
              </a:rPr>
              <a:t>ROC 0,93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57600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Fuite des rolling features (m8) : le modèle voit des lignes voisines dans le temps des deux côtés du split — score gonflé, invalide en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2103120"/>
            <a:ext cx="50749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7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228600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SPLIT TEMPOREL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697480"/>
            <a:ext cx="4526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2F7A53"/>
                </a:solidFill>
                <a:latin typeface="Bahnschrift"/>
              </a:rPr>
              <a:t>ROC 0,82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3657600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0201F"/>
                </a:solidFill>
                <a:latin typeface="Segoe UI"/>
              </a:rPr>
              <a:t>Entraînement sur août–novembre, validation sur décembre — aucune fuite possible. Le score baisse, mais il devient VRAI.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10881360" cy="777240"/>
          </a:xfrm>
          <a:prstGeom prst="roundRect">
            <a:avLst>
              <a:gd name="adj" fmla="val 5000"/>
            </a:avLst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9A6C0A"/>
                </a:solidFill>
                <a:latin typeface="Segoe UI"/>
              </a:rPr>
              <a:t>Le rôle du data scientist ici :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choisir le split, pas juste lancer l'entraînement — un mauvais split rend TOUT le reste de la spec inutile.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Piège n°1 : la fuite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PIÈGE MÉTHODOLOGIQUE N°2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La bonne cible n'est pas la plus évidente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"Prédire les pannes" semble vouloir dire : entraîner sur la colonne panne (incidents réels du CSV). Mesuré, ce choix évident est le pire.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Consolas"/>
              </a:rPr>
              <a:t>panne (incidents réels)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6771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B23A2F"/>
                </a:solidFill>
                <a:latin typeface="Bahnschrift"/>
              </a:rPr>
              <a:t>ROC ≈ 0,56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67712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201F"/>
                </a:solidFill>
                <a:latin typeface="Segoe UI"/>
              </a:rPr>
              <a:t>Quasi aléatoire — les incidents du CSV ne sont pas corrélés aux capteurs.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79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F7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478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Consolas"/>
              </a:rPr>
              <a:t>panne_v1 (cible contrôlée)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478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7A53"/>
                </a:solidFill>
                <a:latin typeface="Bahnschrift"/>
              </a:rPr>
              <a:t>ROC 0,815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547872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0201F"/>
                </a:solidFill>
                <a:latin typeface="Segoe UI"/>
              </a:rPr>
              <a:t>Cible construite et validée — c'est elle que le seuil gelé utilise.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463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7C3510"/>
                </a:solidFill>
                <a:latin typeface="Segoe UI"/>
              </a:rPr>
              <a:t>Ce que ça implique pour la spec :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le TP le dit sans détour — "la modélisation sérieuse du parcours se fait sur le Gold", pas sur ce CSV brut. panne_v1 est une cible pédagogique contrôlée, choisie et documentée, pas la vérité terrain.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Piège n°2 : la cible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PROUVER AVANT DE PUBLIER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Une règle qui n'a pas survécu à 5 cas n'est pas une règle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Le data scientist rejoue lui-même les 5 scénarios AVANT de figer la spec — c'est ce qui devient le tableau de reports/drift/drift_spec.md.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560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4C6360"/>
                </a:solidFill>
                <a:latin typeface="Consolas"/>
              </a:rPr>
              <a:t>CAS REJOUÉ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0312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4C6360"/>
                </a:solidFill>
                <a:latin typeface="Consolas"/>
              </a:rPr>
              <a:t>DOIT DÉMONTRER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10312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4C6360"/>
                </a:solidFill>
                <a:latin typeface="Consolas"/>
              </a:rPr>
              <a:t>PREUVE OBTENUE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108813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Témoin calme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4663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Pas de fausse alerte au repos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56032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F7A53"/>
                </a:solidFill>
                <a:latin typeface="Consolas"/>
              </a:rPr>
              <a:t>PSI 0,002 — 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08813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Capteur en dérive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37560"/>
            <a:ext cx="4663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PSI isole le CAPTEUR, pas le modèle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3756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23A2F"/>
                </a:solidFill>
                <a:latin typeface="Consolas"/>
              </a:rPr>
              <a:t>PSI 6,83, rappel 0,738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108813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Concept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114800"/>
            <a:ext cx="4663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PSI seul ne suffit PAS — d'où le KPI second rideau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11480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23A2F"/>
                </a:solidFill>
                <a:latin typeface="Consolas"/>
              </a:rPr>
              <a:t>PSI 0,002, rappel 0,051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08813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9204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Campagne planifiée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892040"/>
            <a:ext cx="4663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0201F"/>
                </a:solidFill>
                <a:latin typeface="Segoe UI"/>
              </a:rPr>
              <a:t>Une seule référence produirait une fausse alerte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892040"/>
            <a:ext cx="3017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9A6C0A"/>
                </a:solidFill>
                <a:latin typeface="Consolas"/>
              </a:rPr>
              <a:t>6,20 → 0,001 (contre-épreuve)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Validation par preuve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LA SPEC N'EST PAS FIGÉE POUR TOUJOURS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Quand le data scientist doit rouvrir le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5146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042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39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Rappel sous 0,60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constaté par l'opérateur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2903220"/>
            <a:ext cx="21945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2103120"/>
            <a:ext cx="25146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042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06039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Réentraînement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4612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protocole m21 complet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9592" y="2903220"/>
            <a:ext cx="21945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79" y="2103120"/>
            <a:ext cx="25146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3042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606039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Nouvelle référence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24612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recalculée sur données fraîches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68511" y="2903220"/>
            <a:ext cx="219457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2103120"/>
            <a:ext cx="25146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3042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23A2F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606039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Spec mise à jour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246120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drift_spec.md republié, seuil regelé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10881360" cy="1188720"/>
          </a:xfrm>
          <a:prstGeom prst="roundRect">
            <a:avLst>
              <a:gd name="adj" fmla="val 5000"/>
            </a:avLst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79392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B23A2F"/>
                </a:solidFill>
                <a:latin typeface="Segoe UI"/>
              </a:rPr>
              <a:t>Ce qui est explicitement INTERDIT :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"un simple ajustement de seuil" pour faire taire une alerte gênante. Le seuil ne bouge qu'après un réentraînement complet et une nouvelle validation — jamais isolément.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Cycle de vie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LE SYMÉTRIQUE DE LA SLIDE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Concevoir la règle n'est pas l'exécuter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11096"/>
            <a:ext cx="310896" cy="310896"/>
          </a:xfrm>
          <a:prstGeom prst="ellipse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B23A2F"/>
                </a:solidFill>
                <a:latin typeface="Segoe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91640"/>
            <a:ext cx="9829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30" b="0" i="0">
                <a:solidFill>
                  <a:srgbClr val="10201F"/>
                </a:solidFill>
                <a:latin typeface="Segoe UI"/>
              </a:rPr>
              <a:t>Ne diagnostique pas en direct pendant un incident — c'est le rôle de l'opérateur, avec le runbook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798064"/>
            <a:ext cx="310896" cy="310896"/>
          </a:xfrm>
          <a:prstGeom prst="ellipse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980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B23A2F"/>
                </a:solidFill>
                <a:latin typeface="Segoe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78608"/>
            <a:ext cx="9829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30" b="0" i="0">
                <a:solidFill>
                  <a:srgbClr val="10201F"/>
                </a:solidFill>
                <a:latin typeface="Segoe UI"/>
              </a:rPr>
              <a:t>Ne touche pas au dashboard Grafana en urgence — la spec est déjà dedans, sous forme de seuils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65576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685032"/>
            <a:ext cx="310896" cy="310896"/>
          </a:xfrm>
          <a:prstGeom prst="ellipse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850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B23A2F"/>
                </a:solidFill>
                <a:latin typeface="Segoe U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65576"/>
            <a:ext cx="9829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30" b="0" i="0">
                <a:solidFill>
                  <a:srgbClr val="10201F"/>
                </a:solidFill>
                <a:latin typeface="Segoe UI"/>
              </a:rPr>
              <a:t>Ne décide pas d'un étalonnage capteur — décision physique, hors de son périmètre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52544"/>
            <a:ext cx="108813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572000"/>
            <a:ext cx="310896" cy="310896"/>
          </a:xfrm>
          <a:prstGeom prst="ellipse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B23A2F"/>
                </a:solidFill>
                <a:latin typeface="Segoe U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52544"/>
            <a:ext cx="9829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30" b="0" i="0">
                <a:solidFill>
                  <a:srgbClr val="10201F"/>
                </a:solidFill>
                <a:latin typeface="Segoe UI"/>
              </a:rPr>
              <a:t>N'improvise jamais une règle après coup pour "faire disparaître" une alerte gênante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30951"/>
            <a:ext cx="10881360" cy="713232"/>
          </a:xfrm>
          <a:prstGeom prst="roundRect">
            <a:avLst>
              <a:gd name="adj" fmla="val 50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30951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2F7A53"/>
                </a:solidFill>
                <a:latin typeface="Segoe UI"/>
              </a:rPr>
              <a:t>Ce qu'il fait à la place :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écrire une règle assez claire et assez prouvée pour que l'opérateur n'ait jamais besoin de le déranger en pleine nuit.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Ce qu'il ne fait pas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PREUVE REJOUABLE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Le travail du data scientist, en 3 commandes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881360" cy="29260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5726"/>
            <a:ext cx="10296144" cy="25164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scripts/drift_windows.py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        # jointure + split temporel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scripts/train_drift_model.py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    # gele le seuil sur le cout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cat artifacts/drift_threshold.json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      # seuil, cout FN/FP, validation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cat reports/drift/drift_spec.md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         # references, regles, preuves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C6360"/>
                </a:solidFill>
                <a:latin typeface="Segoe UI"/>
              </a:rPr>
              <a:t>Rien de tout ceci n'est un fichier de config lu passivement : </a:t>
            </a:r>
            <a:r>
              <a:rPr sz="1250" b="1" i="0">
                <a:solidFill>
                  <a:srgbClr val="7C3510"/>
                </a:solidFill>
                <a:latin typeface="Segoe UI"/>
              </a:rPr>
              <a:t>chaque chiffre (0,04 · 5000 € · 0,038 · 0,82 · 0,815) a été mesuré une fois, par quelqu'un, avant que l'opérateur en ait besoin.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Concevoir la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Preuve rejouable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80">
                <a:solidFill>
                  <a:srgbClr val="DDE9EB"/>
                </a:solidFill>
                <a:latin typeface="Consolas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EEF3F1"/>
                </a:solidFill>
                <a:latin typeface="Bahnschrift"/>
              </a:rPr>
              <a:t>Concevoir la spec,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DE9EB"/>
                </a:solidFill>
                <a:latin typeface="Segoe UI"/>
              </a:rPr>
              <a:t>Le data scientist écrit, à froid et une seule fois, la règle que l'opérateur n'aura jamais à réinventer sous pression — et il la prouve avant de la publier.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71215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drift_spec.md (data scientist) et runbook.md (opérateur) : deux documents, jamais confondus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6499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Le seuil gelé (0,04) est un arbitrage coût métier (5 000 € vs 200 €), pas un défaut à 0,5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68496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Deux pièges évités par méthode : fuite de split (0,93 vs 0,82) et mauvaise cible (0,56 vs 0,82)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81728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Chaque règle est prouvée sur 4-5 cas rejoués avant publication, pas déclarée sur intuition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285232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7550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EF3F1"/>
                </a:solidFill>
                <a:latin typeface="Segoe UI"/>
              </a:rPr>
              <a:t>La spec ne bouge qu'après un réentraînement complet — jamais un ajustement de seuil isolé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Jalon 10 · M31–M32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reports/drift/drift_spec.md · artifacts/drift_threshold.json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