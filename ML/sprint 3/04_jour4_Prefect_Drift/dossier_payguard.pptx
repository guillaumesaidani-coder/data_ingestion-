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Semaine 1</c:v>
                </c:pt>
              </c:strCache>
            </c:strRef>
          </c:tx>
          <c:spPr>
            <a:solidFill>
              <a:srgbClr val="59636D"/>
            </a:solidFill>
          </c:spPr>
          <c:cat>
            <c:strRef>
              <c:f>Sheet1!$A$2:$A$6</c:f>
              <c:strCache>
                <c:ptCount val="5"/>
                <c:pt idx="0">
                  <c:v>nb_articles</c:v>
                </c:pt>
                <c:pt idx="1">
                  <c:v>montant_eur</c:v>
                </c:pt>
                <c:pt idx="2">
                  <c:v>anciennete_client_j</c:v>
                </c:pt>
                <c:pt idx="3">
                  <c:v>heure</c:v>
                </c:pt>
                <c:pt idx="4">
                  <c:v>distance_domicile_km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0.008</c:v>
                </c:pt>
                <c:pt idx="1">
                  <c:v>0.005</c:v>
                </c:pt>
                <c:pt idx="2">
                  <c:v>0.008</c:v>
                </c:pt>
                <c:pt idx="3">
                  <c:v>0.002</c:v>
                </c:pt>
                <c:pt idx="4">
                  <c:v>0.002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Semaine 2</c:v>
                </c:pt>
              </c:strCache>
            </c:strRef>
          </c:tx>
          <c:spPr>
            <a:solidFill>
              <a:srgbClr val="A83F2C"/>
            </a:solidFill>
          </c:spPr>
          <c:cat>
            <c:strRef>
              <c:f>Sheet1!$A$2:$A$6</c:f>
              <c:strCache>
                <c:ptCount val="5"/>
                <c:pt idx="0">
                  <c:v>nb_articles</c:v>
                </c:pt>
                <c:pt idx="1">
                  <c:v>montant_eur</c:v>
                </c:pt>
                <c:pt idx="2">
                  <c:v>anciennete_client_j</c:v>
                </c:pt>
                <c:pt idx="3">
                  <c:v>heure</c:v>
                </c:pt>
                <c:pt idx="4">
                  <c:v>distance_domicile_km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0.471</c:v>
                </c:pt>
                <c:pt idx="1">
                  <c:v>0.37</c:v>
                </c:pt>
                <c:pt idx="2">
                  <c:v>0.311</c:v>
                </c:pt>
                <c:pt idx="3">
                  <c:v>0.087</c:v>
                </c:pt>
                <c:pt idx="4">
                  <c:v>0.002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Semaine 3</c:v>
                </c:pt>
              </c:strCache>
            </c:strRef>
          </c:tx>
          <c:spPr>
            <a:solidFill>
              <a:srgbClr val="3F7D58"/>
            </a:solidFill>
          </c:spPr>
          <c:cat>
            <c:strRef>
              <c:f>Sheet1!$A$2:$A$6</c:f>
              <c:strCache>
                <c:ptCount val="5"/>
                <c:pt idx="0">
                  <c:v>nb_articles</c:v>
                </c:pt>
                <c:pt idx="1">
                  <c:v>montant_eur</c:v>
                </c:pt>
                <c:pt idx="2">
                  <c:v>anciennete_client_j</c:v>
                </c:pt>
                <c:pt idx="3">
                  <c:v>heure</c:v>
                </c:pt>
                <c:pt idx="4">
                  <c:v>distance_domicile_km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0.001</c:v>
                </c:pt>
                <c:pt idx="1">
                  <c:v>0.003</c:v>
                </c:pt>
                <c:pt idx="2">
                  <c:v>0.006</c:v>
                </c:pt>
                <c:pt idx="3">
                  <c:v>0.003</c:v>
                </c:pt>
                <c:pt idx="4">
                  <c:v>0.001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"/>
          <c:min val="0.0"/>
        </c:scaling>
        <c:delete val="0"/>
        <c:axPos val="b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Segoe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317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4406B"/>
                </a:solidFill>
                <a:latin typeface="Consolas"/>
              </a:rPr>
              <a:t>TP MODULE 31 · DATA DRIFT &amp; MÉTRIQUES — INDÉPENDANT D'INDUSENSE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974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 i="0">
                <a:solidFill>
                  <a:srgbClr val="171B22"/>
                </a:solidFill>
                <a:latin typeface="Georgia"/>
              </a:rPr>
              <a:t>Dérive PayGuard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033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59636D"/>
                </a:solidFill>
                <a:latin typeface="Segoe UI"/>
              </a:rPr>
              <a:t>Objectif et démarche du TP : surveiller un modèle anti-fraude en production, d'abord sans les labels, puis avec.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937760"/>
            <a:ext cx="10515600" cy="1"/>
          </a:xfrm>
          <a:prstGeom prst="rect">
            <a:avLst/>
          </a:prstGeom>
          <a:solidFill>
            <a:srgbClr val="C7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24406B"/>
                </a:solidFill>
                <a:latin typeface="Consolas"/>
              </a:rPr>
              <a:t>MODÈLE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171B22"/>
                </a:solidFill>
                <a:latin typeface="Segoe UI"/>
              </a:rPr>
              <a:t>HistGradientBoosting, seuil gelé à 0,03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07492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24406B"/>
                </a:solidFill>
                <a:latin typeface="Consolas"/>
              </a:rPr>
              <a:t>COÛT D'UNE ERREUR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171B22"/>
                </a:solidFill>
                <a:latin typeface="Segoe UI"/>
              </a:rPr>
              <a:t>fraude ratée ≈ 50 € · vérif. inutile ≈ 2 €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507492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24406B"/>
                </a:solidFill>
                <a:latin typeface="Consolas"/>
              </a:rPr>
              <a:t>FENÊTRE AUDITÉE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171B22"/>
                </a:solidFill>
                <a:latin typeface="Segoe UI"/>
              </a:rPr>
              <a:t>3 semaines de prod × 3 000 transactions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4406B"/>
                </a:solidFill>
                <a:latin typeface="Consolas"/>
              </a:rPr>
              <a:t>OBJECTIF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71B22"/>
                </a:solidFill>
                <a:latin typeface="Georgia"/>
              </a:rPr>
              <a:t>Pourquoi ce 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789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700" b="1" i="0">
                <a:solidFill>
                  <a:srgbClr val="24406B"/>
                </a:solidFill>
                <a:latin typeface="Segoe UI"/>
              </a:rPr>
              <a:t>— Transposer, pas répéter.  </a:t>
            </a:r>
            <a:r>
              <a:rPr sz="1700" b="0" i="0">
                <a:solidFill>
                  <a:srgbClr val="171B22"/>
                </a:solidFill>
                <a:latin typeface="Segoe UI"/>
              </a:rPr>
              <a:t>appliquer les concepts du module 31 (data drift) sur un cas neuf — un prestataire de paiement — indépendant du fil rouge InduSense.</a:t>
            </a:r>
          </a:p>
          <a:p>
            <a:pPr>
              <a:spcAft>
                <a:spcPts val="1800"/>
              </a:spcAft>
            </a:pPr>
            <a:r>
              <a:rPr sz="1700" b="1" i="0">
                <a:solidFill>
                  <a:srgbClr val="24406B"/>
                </a:solidFill>
                <a:latin typeface="Segoe UI"/>
              </a:rPr>
              <a:t>— Une contrainte réaliste.  </a:t>
            </a:r>
            <a:r>
              <a:rPr sz="1700" b="0" i="0">
                <a:solidFill>
                  <a:srgbClr val="171B22"/>
                </a:solidFill>
                <a:latin typeface="Segoe UI"/>
              </a:rPr>
              <a:t>les fraudes confirmées arrivent des semaines après la transaction ; pendant ce temps, on travaille sans labels, comme en vrai.</a:t>
            </a:r>
          </a:p>
          <a:p>
            <a:pPr>
              <a:spcAft>
                <a:spcPts val="1800"/>
              </a:spcAft>
            </a:pPr>
            <a:r>
              <a:rPr sz="1700" b="1" i="0">
                <a:solidFill>
                  <a:srgbClr val="24406B"/>
                </a:solidFill>
                <a:latin typeface="Segoe UI"/>
              </a:rPr>
              <a:t>— Construire les instruments, pas les consommer.  </a:t>
            </a:r>
            <a:r>
              <a:rPr sz="1700" b="0" i="0">
                <a:solidFill>
                  <a:srgbClr val="171B22"/>
                </a:solidFill>
                <a:latin typeface="Segoe UI"/>
              </a:rPr>
              <a:t>coder PSI et KS soi-même plutôt que d'appeler une librairie toute faite — pour comprendre ce qu'ils mesurent et où ils trompent.</a:t>
            </a:r>
          </a:p>
          <a:p>
            <a:pPr>
              <a:spcAft>
                <a:spcPts val="1800"/>
              </a:spcAft>
            </a:pPr>
            <a:r>
              <a:rPr sz="1700" b="1" i="0">
                <a:solidFill>
                  <a:srgbClr val="24406B"/>
                </a:solidFill>
                <a:latin typeface="Segoe UI"/>
              </a:rPr>
              <a:t>— Confronter la prédiction au réel.  </a:t>
            </a:r>
            <a:r>
              <a:rPr sz="1700" b="0" i="0">
                <a:solidFill>
                  <a:srgbClr val="171B22"/>
                </a:solidFill>
                <a:latin typeface="Segoe UI"/>
              </a:rPr>
              <a:t>comparer ce que la surveillance des entrées laissait présager à ce que les labels révèlent, une fois disponibles.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4406B"/>
                </a:solidFill>
                <a:latin typeface="Consolas"/>
              </a:rPr>
              <a:t>ÉTAPES 0–1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71B22"/>
                </a:solidFill>
                <a:latin typeface="Georgia"/>
              </a:rPr>
              <a:t>Le dispositif PayGuard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1206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50" b="0" i="0">
                <a:solidFill>
                  <a:srgbClr val="171B22"/>
                </a:solidFill>
                <a:latin typeface="Segoe UI"/>
              </a:rPr>
              <a:t>PayGuard note chaque transaction carte d'un site e-commerce français. Au-dessus d'un seuil gelé (0,03 — un score de probabilité, pas une somme en euros), la transaction part en vérification manuelle.</a:t>
            </a:r>
          </a:p>
          <a:p>
            <a:pPr>
              <a:spcBef>
                <a:spcPts val="1200"/>
              </a:spcBef>
            </a:pPr>
            <a:r>
              <a:rPr sz="1350" b="1" i="0">
                <a:solidFill>
                  <a:srgbClr val="A83F2C"/>
                </a:solidFill>
                <a:latin typeface="Segoe UI"/>
              </a:rPr>
              <a:t>Fraude ratée (FN) : remboursement + litige ≈ 50 €</a:t>
            </a:r>
          </a:p>
          <a:p>
            <a:pPr>
              <a:spcBef>
                <a:spcPts val="1200"/>
              </a:spcBef>
            </a:pPr>
            <a:r>
              <a:rPr sz="1350" b="1" i="0">
                <a:solidFill>
                  <a:srgbClr val="3F7D58"/>
                </a:solidFill>
                <a:latin typeface="Segoe UI"/>
              </a:rPr>
              <a:t>Vérification inutile (FP) : quelques minutes d'analyste ≈ 2 €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0"/>
            <a:ext cx="5120640" cy="1051560"/>
          </a:xfrm>
          <a:prstGeom prst="rect">
            <a:avLst/>
          </a:prstGeom>
          <a:solidFill>
            <a:srgbClr val="F7F8F9"/>
          </a:solidFill>
          <a:ln w="12700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28016"/>
          <a:lstStyle/>
          <a:p>
            <a:pPr algn="ctr"/>
            <a:r>
              <a:rPr sz="1150" b="0" i="0">
                <a:solidFill>
                  <a:srgbClr val="59636D"/>
                </a:solidFill>
                <a:latin typeface="Consolas"/>
              </a:rPr>
              <a:t>D'où vient 0,03 — </a:t>
            </a:r>
            <a:r>
              <a:rPr sz="1150" b="1" i="0">
                <a:solidFill>
                  <a:srgbClr val="24406B"/>
                </a:solidFill>
                <a:latin typeface="Consolas"/>
              </a:rPr>
              <a:t>train_model.py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24406B"/>
                </a:solidFill>
                <a:latin typeface="Consolas"/>
              </a:rPr>
              <a:t>coût = 50€ × FN + 2€ × FP</a:t>
            </a:r>
            <a:r>
              <a:rPr sz="1100" b="0" i="0">
                <a:solidFill>
                  <a:srgbClr val="59636D"/>
                </a:solidFill>
                <a:latin typeface="Segoe UI"/>
              </a:rPr>
              <a:t>  (minimisé sur la validation, seuil ∈ [0,02 ; 0,98], puis gelé)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4924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0" i="0">
                <a:solidFill>
                  <a:srgbClr val="59636D"/>
                </a:solidFill>
                <a:latin typeface="Segoe UI"/>
              </a:rPr>
              <a:t>Rater une fraude coûte 25× plus qu'une vérification inutile — le seuil optimal est donc mécaniquement bas.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691640"/>
          <a:ext cx="49377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83464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Description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2"/>
                          </a:solidFill>
                          <a:latin typeface="Segoe UI"/>
                        </a:rPr>
                        <a:t>montant_eur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2"/>
                          </a:solidFill>
                          <a:latin typeface="Consolas"/>
                        </a:rPr>
                        <a:t>montant de la transaction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2"/>
                          </a:solidFill>
                          <a:latin typeface="Segoe UI"/>
                        </a:rPr>
                        <a:t>heure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2"/>
                          </a:solidFill>
                          <a:latin typeface="Consolas"/>
                        </a:rPr>
                        <a:t>heure de la transaction (0–24)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2"/>
                          </a:solidFill>
                          <a:latin typeface="Segoe UI"/>
                        </a:rPr>
                        <a:t>anciennete_client_j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2"/>
                          </a:solidFill>
                          <a:latin typeface="Consolas"/>
                        </a:rPr>
                        <a:t>ancienneté du compte, en jours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2"/>
                          </a:solidFill>
                          <a:latin typeface="Segoe UI"/>
                        </a:rPr>
                        <a:t>nb_articles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2"/>
                          </a:solidFill>
                          <a:latin typeface="Consolas"/>
                        </a:rPr>
                        <a:t>nombre d'articles du panier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2"/>
                          </a:solidFill>
                          <a:latin typeface="Segoe UI"/>
                        </a:rPr>
                        <a:t>distance_domicile_km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B22"/>
                          </a:solidFill>
                          <a:latin typeface="Consolas"/>
                        </a:rPr>
                        <a:t>distance livraison ↔ domicile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0" y="4709160"/>
            <a:ext cx="4937760" cy="1280160"/>
          </a:xfrm>
          <a:prstGeom prst="rect">
            <a:avLst/>
          </a:prstGeom>
          <a:solidFill>
            <a:srgbClr val="DB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128016"/>
          <a:lstStyle/>
          <a:p>
            <a:pPr algn="ctr"/>
            <a:r>
              <a:rPr sz="1050" b="1" i="0">
                <a:solidFill>
                  <a:srgbClr val="24406B"/>
                </a:solidFill>
                <a:latin typeface="Consolas"/>
              </a:rPr>
              <a:t>CARTE D'IDENTITÉ — models/threshold.json</a:t>
            </a:r>
          </a:p>
          <a:p>
            <a:pPr>
              <a:spcBef>
                <a:spcPts val="500"/>
              </a:spcBef>
            </a:pPr>
            <a:r>
              <a:rPr sz="1150" b="0" i="0">
                <a:solidFill>
                  <a:srgbClr val="171B22"/>
                </a:solidFill>
                <a:latin typeface="Segoe UI"/>
              </a:rPr>
              <a:t>PR-AUC / ROC-AUC (validation) : </a:t>
            </a:r>
            <a:r>
              <a:rPr sz="1150" b="1" i="0">
                <a:solidFill>
                  <a:srgbClr val="171B22"/>
                </a:solidFill>
                <a:latin typeface="Consolas"/>
              </a:rPr>
              <a:t>0,260 / 0,852</a:t>
            </a:r>
          </a:p>
          <a:p>
            <a:pPr>
              <a:spcBef>
                <a:spcPts val="500"/>
              </a:spcBef>
            </a:pPr>
            <a:r>
              <a:rPr sz="1150" b="0" i="0">
                <a:solidFill>
                  <a:srgbClr val="171B22"/>
                </a:solidFill>
                <a:latin typeface="Segoe UI"/>
              </a:rPr>
              <a:t>Rappel / précision au seuil : </a:t>
            </a:r>
            <a:r>
              <a:rPr sz="1150" b="1" i="0">
                <a:solidFill>
                  <a:srgbClr val="171B22"/>
                </a:solidFill>
                <a:latin typeface="Consolas"/>
              </a:rPr>
              <a:t>0,817 / 0,131</a:t>
            </a:r>
          </a:p>
          <a:p>
            <a:pPr>
              <a:spcBef>
                <a:spcPts val="500"/>
              </a:spcBef>
            </a:pPr>
            <a:r>
              <a:rPr sz="1150" b="0" i="0">
                <a:solidFill>
                  <a:srgbClr val="171B22"/>
                </a:solidFill>
                <a:latin typeface="Segoe UI"/>
              </a:rPr>
              <a:t>Taux d'alerte / prévalence fraude : </a:t>
            </a:r>
            <a:r>
              <a:rPr sz="1150" b="1" i="0">
                <a:solidFill>
                  <a:srgbClr val="171B22"/>
                </a:solidFill>
                <a:latin typeface="Consolas"/>
              </a:rPr>
              <a:t>28,0 % / 4,48 %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4406B"/>
                </a:solidFill>
                <a:latin typeface="Consolas"/>
              </a:rPr>
              <a:t>VOCABULAIRE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71B22"/>
                </a:solidFill>
                <a:latin typeface="Georgia"/>
              </a:rPr>
              <a:t>PayGuard, le service — le modèle, en dessous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5120640" cy="2286000"/>
          </a:xfrm>
          <a:prstGeom prst="rect">
            <a:avLst/>
          </a:prstGeom>
          <a:solidFill>
            <a:srgbClr val="DB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/>
            <a:r>
              <a:rPr sz="1300" b="1" i="0">
                <a:solidFill>
                  <a:srgbClr val="24406B"/>
                </a:solidFill>
                <a:latin typeface="Consolas"/>
              </a:rPr>
              <a:t>PAYGUARD</a:t>
            </a:r>
          </a:p>
          <a:p>
            <a:pPr>
              <a:spcBef>
                <a:spcPts val="800"/>
              </a:spcBef>
            </a:pPr>
            <a:r>
              <a:rPr sz="2000" b="1" i="0">
                <a:solidFill>
                  <a:srgbClr val="171B22"/>
                </a:solidFill>
                <a:latin typeface="Georgia"/>
              </a:rPr>
              <a:t>Le service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350" b="0" i="0">
                <a:solidFill>
                  <a:srgbClr val="171B22"/>
                </a:solidFill>
                <a:latin typeface="Segoe UI"/>
              </a:rPr>
              <a:t>Le dispositif anti-fraude complet : réception de la transaction, scoring, application de la règle de décision, routage des cas suspects vers l'équipe risque.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783080"/>
            <a:ext cx="5120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/>
            <a:r>
              <a:rPr sz="1300" b="1" i="0">
                <a:solidFill>
                  <a:srgbClr val="59636D"/>
                </a:solidFill>
                <a:latin typeface="Consolas"/>
              </a:rPr>
              <a:t>HISTGRADIENTBOOSTING</a:t>
            </a:r>
          </a:p>
          <a:p>
            <a:pPr>
              <a:spcBef>
                <a:spcPts val="800"/>
              </a:spcBef>
            </a:pPr>
            <a:r>
              <a:rPr sz="2000" b="1" i="0">
                <a:solidFill>
                  <a:srgbClr val="171B22"/>
                </a:solidFill>
                <a:latin typeface="Georgia"/>
              </a:rPr>
              <a:t>Le modèle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350" b="0" i="0">
                <a:solidFill>
                  <a:srgbClr val="171B22"/>
                </a:solidFill>
                <a:latin typeface="Segoe UI"/>
              </a:rPr>
              <a:t>Ce que PayGuard utilise en interne : un HistGradientBoostingClassifier entraîné sur 5 features, figé dans models/model.joblib après l'étape 1.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343400"/>
            <a:ext cx="10789920" cy="1874519"/>
          </a:xfrm>
          <a:prstGeom prst="rect">
            <a:avLst/>
          </a:prstGeom>
          <a:solidFill>
            <a:srgbClr val="F7F8F9"/>
          </a:solidFill>
          <a:ln w="12700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82880" bIns="182880"/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59636D"/>
                </a:solidFill>
                <a:latin typeface="Consolas"/>
              </a:rPr>
              <a:t># La règle de décision, une fois le modèle entraîné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171B22"/>
                </a:solidFill>
                <a:latin typeface="Consolas"/>
              </a:rPr>
              <a:t>proba = modele.predict_proba(transaction)[1]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24406B"/>
                </a:solidFill>
                <a:latin typeface="Consolas"/>
              </a:rPr>
              <a:t>si proba &gt;= 0,03 :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24406B"/>
                </a:solidFill>
                <a:latin typeface="Consolas"/>
              </a:rPr>
              <a:t>    vérification manuelle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171B22"/>
                </a:solidFill>
                <a:latin typeface="Consolas"/>
              </a:rPr>
              <a:t>sinon 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171B22"/>
                </a:solidFill>
                <a:latin typeface="Consolas"/>
              </a:rPr>
              <a:t>    transaction acceptée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4406B"/>
                </a:solidFill>
                <a:latin typeface="Consolas"/>
              </a:rPr>
              <a:t>VUE D'ENSEMBLE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71B22"/>
                </a:solidFill>
                <a:latin typeface="Georgia"/>
              </a:rPr>
              <a:t>La démarche suivie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48840"/>
            <a:ext cx="205794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2313432"/>
            <a:ext cx="640080" cy="365760"/>
          </a:xfrm>
          <a:prstGeom prst="rect">
            <a:avLst/>
          </a:prstGeom>
          <a:solidFill>
            <a:srgbClr val="DB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 i="0">
                <a:solidFill>
                  <a:srgbClr val="24406B"/>
                </a:solidFill>
                <a:latin typeface="Consolas"/>
              </a:rPr>
              <a:t>0–1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34640"/>
            <a:ext cx="172876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500" b="1" i="0">
                <a:solidFill>
                  <a:srgbClr val="171B22"/>
                </a:solidFill>
                <a:latin typeface="Georgia"/>
              </a:rPr>
              <a:t>Geler la baseline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150" b="0" i="0">
                <a:solidFill>
                  <a:srgbClr val="59636D"/>
                </a:solidFill>
                <a:latin typeface="Segoe UI"/>
              </a:rPr>
              <a:t>entraîner le modèle, figer seuil et modèle sur la validation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24876" y="3483864"/>
            <a:ext cx="164592" cy="164592"/>
          </a:xfrm>
          <a:prstGeom prst="rightArrow">
            <a:avLst/>
          </a:prstGeom>
          <a:solidFill>
            <a:srgbClr val="C7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07756" y="2148840"/>
            <a:ext cx="205794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72348" y="2313432"/>
            <a:ext cx="640080" cy="365760"/>
          </a:xfrm>
          <a:prstGeom prst="rect">
            <a:avLst/>
          </a:prstGeom>
          <a:solidFill>
            <a:srgbClr val="DB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 i="0">
                <a:solidFill>
                  <a:srgbClr val="24406B"/>
                </a:solidFill>
                <a:latin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2348" y="2834640"/>
            <a:ext cx="172876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500" b="1" i="0">
                <a:solidFill>
                  <a:srgbClr val="171B22"/>
                </a:solidFill>
                <a:latin typeface="Georgia"/>
              </a:rPr>
              <a:t>Coder les instruments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150" b="0" i="0">
                <a:solidFill>
                  <a:srgbClr val="59636D"/>
                </a:solidFill>
                <a:latin typeface="Segoe UI"/>
              </a:rPr>
              <a:t>implémenter PSI, KS et la table de dérive, à la main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83993" y="3483864"/>
            <a:ext cx="164592" cy="164592"/>
          </a:xfrm>
          <a:prstGeom prst="rightArrow">
            <a:avLst/>
          </a:prstGeom>
          <a:solidFill>
            <a:srgbClr val="C7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66873" y="2148840"/>
            <a:ext cx="205794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1465" y="2313432"/>
            <a:ext cx="640080" cy="365760"/>
          </a:xfrm>
          <a:prstGeom prst="rect">
            <a:avLst/>
          </a:prstGeom>
          <a:solidFill>
            <a:srgbClr val="DB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 i="0">
                <a:solidFill>
                  <a:srgbClr val="24406B"/>
                </a:solidFill>
                <a:latin typeface="Consolas"/>
              </a:rPr>
              <a:t>3–5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1465" y="2834640"/>
            <a:ext cx="172876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500" b="1" i="0">
                <a:solidFill>
                  <a:srgbClr val="171B22"/>
                </a:solidFill>
                <a:latin typeface="Georgia"/>
              </a:rPr>
              <a:t>Surveiller sans labels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150" b="0" i="0">
                <a:solidFill>
                  <a:srgbClr val="59636D"/>
                </a:solidFill>
                <a:latin typeface="Segoe UI"/>
              </a:rPr>
              <a:t>auditer 3 semaines de prod avec les seules distributions d'entrée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43109" y="3483864"/>
            <a:ext cx="164592" cy="164592"/>
          </a:xfrm>
          <a:prstGeom prst="rightArrow">
            <a:avLst/>
          </a:prstGeom>
          <a:solidFill>
            <a:srgbClr val="C7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25989" y="2148840"/>
            <a:ext cx="205794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0581" y="2313432"/>
            <a:ext cx="640080" cy="365760"/>
          </a:xfrm>
          <a:prstGeom prst="rect">
            <a:avLst/>
          </a:prstGeom>
          <a:solidFill>
            <a:srgbClr val="DB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 i="0">
                <a:solidFill>
                  <a:srgbClr val="24406B"/>
                </a:solidFill>
                <a:latin typeface="Consolas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0581" y="2834640"/>
            <a:ext cx="172876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500" b="1" i="0">
                <a:solidFill>
                  <a:srgbClr val="171B22"/>
                </a:solidFill>
                <a:latin typeface="Georgia"/>
              </a:rPr>
              <a:t>Évaluer avec labels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150" b="0" i="0">
                <a:solidFill>
                  <a:srgbClr val="59636D"/>
                </a:solidFill>
                <a:latin typeface="Segoe UI"/>
              </a:rPr>
              <a:t>les fraudes confirmées tombent : mesurer rappel, précision, AUC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402226" y="3483864"/>
            <a:ext cx="164592" cy="164592"/>
          </a:xfrm>
          <a:prstGeom prst="rightArrow">
            <a:avLst/>
          </a:prstGeom>
          <a:solidFill>
            <a:srgbClr val="C7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85106" y="2148840"/>
            <a:ext cx="205794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49698" y="2313432"/>
            <a:ext cx="640080" cy="365760"/>
          </a:xfrm>
          <a:prstGeom prst="rect">
            <a:avLst/>
          </a:prstGeom>
          <a:solidFill>
            <a:srgbClr val="DB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 i="0">
                <a:solidFill>
                  <a:srgbClr val="24406B"/>
                </a:solidFill>
                <a:latin typeface="Consolas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9698" y="2834640"/>
            <a:ext cx="1728764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500" b="1" i="0">
                <a:solidFill>
                  <a:srgbClr val="171B22"/>
                </a:solidFill>
                <a:latin typeface="Georgia"/>
              </a:rPr>
              <a:t>Écrire la drift spec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150" b="0" i="0">
                <a:solidFill>
                  <a:srgbClr val="59636D"/>
                </a:solidFill>
                <a:latin typeface="Segoe UI"/>
              </a:rPr>
              <a:t>figer référence, seuils, KPI et réactions pour la suite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4406B"/>
                </a:solidFill>
                <a:latin typeface="Consolas"/>
              </a:rPr>
              <a:t>ÉTAPE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71B22"/>
                </a:solidFill>
                <a:latin typeface="Georgia"/>
              </a:rPr>
              <a:t>Deux instruments, codés à la 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2120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 b="1" i="0">
                <a:solidFill>
                  <a:srgbClr val="24406B"/>
                </a:solidFill>
                <a:latin typeface="Consolas"/>
              </a:rPr>
              <a:t>scripts/drift_lab.py </a:t>
            </a:r>
            <a:r>
              <a:rPr sz="1400" b="0" i="0">
                <a:solidFill>
                  <a:srgbClr val="171B22"/>
                </a:solidFill>
                <a:latin typeface="Segoe UI"/>
              </a:rPr>
              <a:t>contenait trois trous : </a:t>
            </a:r>
            <a:r>
              <a:rPr sz="1400" b="1" i="0">
                <a:solidFill>
                  <a:srgbClr val="24406B"/>
                </a:solidFill>
                <a:latin typeface="Consolas"/>
              </a:rPr>
              <a:t>psi()</a:t>
            </a:r>
            <a:r>
              <a:rPr sz="1400" b="0" i="0">
                <a:solidFill>
                  <a:srgbClr val="171B22"/>
                </a:solidFill>
                <a:latin typeface="Segoe UI"/>
              </a:rPr>
              <a:t>, </a:t>
            </a:r>
            <a:r>
              <a:rPr sz="1400" b="1" i="0">
                <a:solidFill>
                  <a:srgbClr val="24406B"/>
                </a:solidFill>
                <a:latin typeface="Consolas"/>
              </a:rPr>
              <a:t>ks_pvalue()</a:t>
            </a:r>
            <a:r>
              <a:rPr sz="1400" b="0" i="0">
                <a:solidFill>
                  <a:srgbClr val="171B22"/>
                </a:solidFill>
                <a:latin typeface="Segoe UI"/>
              </a:rPr>
              <a:t> et </a:t>
            </a:r>
            <a:r>
              <a:rPr sz="1400" b="1" i="0">
                <a:solidFill>
                  <a:srgbClr val="24406B"/>
                </a:solidFill>
                <a:latin typeface="Consolas"/>
              </a:rPr>
              <a:t>drift_table()</a:t>
            </a:r>
            <a:r>
              <a:rPr sz="1400" b="0" i="0">
                <a:solidFill>
                  <a:srgbClr val="171B22"/>
                </a:solidFill>
                <a:latin typeface="Segoe UI"/>
              </a:rPr>
              <a:t>.</a:t>
            </a:r>
          </a:p>
          <a:p>
            <a:pPr>
              <a:lnSpc>
                <a:spcPct val="135000"/>
              </a:lnSpc>
              <a:spcBef>
                <a:spcPts val="1600"/>
              </a:spcBef>
            </a:pPr>
            <a:r>
              <a:rPr sz="1400" b="0" i="0">
                <a:solidFill>
                  <a:srgbClr val="171B22"/>
                </a:solidFill>
                <a:latin typeface="Segoe UI"/>
              </a:rPr>
              <a:t>Le piège tenait en une ligne : que fait np.histogram d'une valeur de production hors de la plage de référence ? Il l'ignore silencieusement.</a:t>
            </a:r>
          </a:p>
          <a:p>
            <a:pPr>
              <a:spcBef>
                <a:spcPts val="1600"/>
              </a:spcBef>
            </a:pPr>
            <a:r>
              <a:rPr sz="1500" b="1" i="0">
                <a:solidFill>
                  <a:srgbClr val="3F7D58"/>
                </a:solidFill>
                <a:latin typeface="Segoe UI"/>
              </a:rPr>
              <a:t>12 tests verts, 0 échec</a:t>
            </a:r>
            <a:r>
              <a:rPr sz="1200" b="0" i="0">
                <a:solidFill>
                  <a:srgbClr val="59636D"/>
                </a:solidFill>
                <a:latin typeface="Consolas"/>
              </a:rPr>
              <a:t>  (uv run python -m pytest)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91640"/>
            <a:ext cx="4937760" cy="3291840"/>
          </a:xfrm>
          <a:prstGeom prst="rect">
            <a:avLst/>
          </a:prstGeom>
          <a:solidFill>
            <a:srgbClr val="F7F8F9"/>
          </a:solidFill>
          <a:ln w="12700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 bIns="182880"/>
          <a:lstStyle/>
          <a:p>
            <a:pPr algn="ctr">
              <a:spcAft>
                <a:spcPts val="300"/>
              </a:spcAft>
            </a:pPr>
            <a:r>
              <a:rPr sz="1250" b="0" i="0">
                <a:solidFill>
                  <a:srgbClr val="59636D"/>
                </a:solidFill>
                <a:latin typeface="Consolas"/>
              </a:rPr>
              <a:t># psi(ref, cur, bins=10) — le piège des valeurs hors plage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71B22"/>
                </a:solidFill>
                <a:latin typeface="Consolas"/>
              </a:rPr>
              <a:t>edges = np.histogram_bin_edges(ref, bins=bins)</a:t>
            </a:r>
          </a:p>
          <a:p>
            <a:pPr>
              <a:spcAft>
                <a:spcPts val="300"/>
              </a:spcAft>
            </a:pPr>
            <a:r>
              <a:rPr sz="1250" b="1" i="0">
                <a:solidFill>
                  <a:srgbClr val="24406B"/>
                </a:solidFill>
                <a:latin typeface="Consolas"/>
              </a:rPr>
              <a:t>edges[0] = -np.inf</a:t>
            </a:r>
          </a:p>
          <a:p>
            <a:pPr>
              <a:spcAft>
                <a:spcPts val="300"/>
              </a:spcAft>
            </a:pPr>
            <a:r>
              <a:rPr sz="1250" b="1" i="0">
                <a:solidFill>
                  <a:srgbClr val="24406B"/>
                </a:solidFill>
                <a:latin typeface="Consolas"/>
              </a:rPr>
              <a:t>edges[-1] = np.inf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71B22"/>
                </a:solidFill>
                <a:latin typeface="Consolas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71B22"/>
                </a:solidFill>
                <a:latin typeface="Consolas"/>
              </a:rPr>
              <a:t>p_ref = np.histogram(ref, edges)[0] / len(ref) + 1e-6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171B22"/>
                </a:solidFill>
                <a:latin typeface="Consolas"/>
              </a:rPr>
              <a:t>p_cur = np.histogram(cur, edges)[0] / len(cur) + 1e-6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59636D"/>
                </a:solidFill>
                <a:latin typeface="Consolas"/>
              </a:rPr>
              <a:t>return np.sum((p_cur - p_ref) * np.log(p_cur / p_ref))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4406B"/>
                </a:solidFill>
                <a:latin typeface="Consolas"/>
              </a:rPr>
              <a:t>POURQUOI SANS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71B22"/>
                </a:solidFill>
                <a:latin typeface="Georgia"/>
              </a:rPr>
              <a:t>D'où vient le retard des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0" i="0">
                <a:solidFill>
                  <a:srgbClr val="171B22"/>
                </a:solidFill>
                <a:latin typeface="Segoe UI"/>
              </a:rPr>
              <a:t>Le label fraude n'existe pas au moment de la transaction — personne ne sait encore si c'est frauduleux, ni le modèle ni l'équipe risque. Il naît au bout d'une chaîne bien réelle 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06040"/>
            <a:ext cx="2622727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752344"/>
            <a:ext cx="2293543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24406B"/>
                </a:solidFill>
                <a:latin typeface="Consolas"/>
              </a:rPr>
              <a:t>J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1400" b="1" i="0">
                <a:solidFill>
                  <a:srgbClr val="171B22"/>
                </a:solidFill>
                <a:latin typeface="Georgia"/>
              </a:rPr>
              <a:t>Transaction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100" b="0" i="0">
                <a:solidFill>
                  <a:srgbClr val="59636D"/>
                </a:solidFill>
                <a:latin typeface="Segoe UI"/>
              </a:rPr>
              <a:t>scorée et décidée tout de suite, seuil gelé — sans savoir si la décision est bonne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89655" y="3575304"/>
            <a:ext cx="164592" cy="164592"/>
          </a:xfrm>
          <a:prstGeom prst="rightArrow">
            <a:avLst/>
          </a:prstGeom>
          <a:solidFill>
            <a:srgbClr val="C7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72535" y="2606040"/>
            <a:ext cx="2622727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7127" y="2752344"/>
            <a:ext cx="2293543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24406B"/>
                </a:solidFill>
                <a:latin typeface="Consolas"/>
              </a:rPr>
              <a:t>RELEVÉ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1400" b="1" i="0">
                <a:solidFill>
                  <a:srgbClr val="171B22"/>
                </a:solidFill>
                <a:latin typeface="Georgia"/>
              </a:rPr>
              <a:t>Le client découvre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100" b="0" i="0">
                <a:solidFill>
                  <a:srgbClr val="59636D"/>
                </a:solidFill>
                <a:latin typeface="Segoe UI"/>
              </a:rPr>
              <a:t>l'opération en consultant son relevé bancaire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13551" y="3575304"/>
            <a:ext cx="164592" cy="164592"/>
          </a:xfrm>
          <a:prstGeom prst="rightArrow">
            <a:avLst/>
          </a:prstGeom>
          <a:solidFill>
            <a:srgbClr val="C7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6431" y="2606040"/>
            <a:ext cx="2622727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1023" y="2752344"/>
            <a:ext cx="2293543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24406B"/>
                </a:solidFill>
                <a:latin typeface="Consolas"/>
              </a:rPr>
              <a:t>CONTESTATION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1400" b="1" i="0">
                <a:solidFill>
                  <a:srgbClr val="171B22"/>
                </a:solidFill>
                <a:latin typeface="Georgia"/>
              </a:rPr>
              <a:t>Il la signale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100" b="0" i="0">
                <a:solidFill>
                  <a:srgbClr val="59636D"/>
                </a:solidFill>
                <a:latin typeface="Segoe UI"/>
              </a:rPr>
              <a:t>fenêtre de plusieurs semaines à plusieurs mois selon les réseaux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37447" y="3575304"/>
            <a:ext cx="164592" cy="164592"/>
          </a:xfrm>
          <a:prstGeom prst="rightArrow">
            <a:avLst/>
          </a:prstGeom>
          <a:solidFill>
            <a:srgbClr val="C7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20327" y="2606040"/>
            <a:ext cx="2622727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4919" y="2752344"/>
            <a:ext cx="2293543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24406B"/>
                </a:solidFill>
                <a:latin typeface="Consolas"/>
              </a:rPr>
              <a:t>INSTRUCTION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sz="1400" b="1" i="0">
                <a:solidFill>
                  <a:srgbClr val="171B22"/>
                </a:solidFill>
                <a:latin typeface="Georgia"/>
              </a:rPr>
              <a:t>Banque / marchand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100" b="0" i="0">
                <a:solidFill>
                  <a:srgbClr val="59636D"/>
                </a:solidFill>
                <a:latin typeface="Segoe UI"/>
              </a:rPr>
              <a:t>vérifie et tranche — c'est seulement là que le label existe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400" b="0" i="0">
                <a:solidFill>
                  <a:srgbClr val="59636D"/>
                </a:solidFill>
                <a:latin typeface="Segoe UI"/>
              </a:rPr>
              <a:t>Impossible de mettre les décisions en pause en attendant : pendant tout ce délai, seule la distribution des entrées reste observable — c'est le covariate monitoring des étapes 3 à 5. Le même problème existe pour le crédit (défaut connu des mois après) ou l'attribution publicitaire (conversion connue en différé).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4406B"/>
                </a:solidFill>
                <a:latin typeface="Consolas"/>
              </a:rPr>
              <a:t>TEMPS RÉEL OU PAS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71B22"/>
                </a:solidFill>
                <a:latin typeface="Georgia"/>
              </a:rPr>
              <a:t>Trois cadences, pas 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59636D"/>
                </a:solidFill>
                <a:latin typeface="Segoe UI"/>
              </a:rPr>
              <a:t>PayGuard fait tourner trois horloges différentes — les confondre, c'est soit bloquer les transactions en retard, soit faire du PSI sur une seule transaction (statistiquement absurde).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3515258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3F7D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42032"/>
            <a:ext cx="314949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1" i="0">
                <a:solidFill>
                  <a:srgbClr val="171B22"/>
                </a:solidFill>
                <a:latin typeface="Georgia"/>
              </a:rPr>
              <a:t>Décision par transaction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91840"/>
            <a:ext cx="3149498" cy="384048"/>
          </a:xfrm>
          <a:prstGeom prst="rect">
            <a:avLst/>
          </a:prstGeom>
          <a:solidFill>
            <a:srgbClr val="DF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 i="0">
                <a:solidFill>
                  <a:srgbClr val="3F7D58"/>
                </a:solidFill>
                <a:latin typeface="Consolas"/>
              </a:rPr>
              <a:t>Temps réel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58768"/>
            <a:ext cx="3149498" cy="1627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59636D"/>
                </a:solidFill>
                <a:latin typeface="Segoe UI"/>
              </a:rPr>
              <a:t>Score + seuil pendant l'autorisation carte, quelques centaines de ms. Sinon la transaction est déjà passée — trop tard pour bloquer quoi que ce soit.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8218" y="2377440"/>
            <a:ext cx="3515258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44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542032"/>
            <a:ext cx="314949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1" i="0">
                <a:solidFill>
                  <a:srgbClr val="171B22"/>
                </a:solidFill>
                <a:latin typeface="Georgia"/>
              </a:rPr>
              <a:t>Surveillance de dérive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1098" y="3291840"/>
            <a:ext cx="3149498" cy="384048"/>
          </a:xfrm>
          <a:prstGeom prst="rect">
            <a:avLst/>
          </a:prstGeom>
          <a:solidFill>
            <a:srgbClr val="DB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 i="0">
                <a:solidFill>
                  <a:srgbClr val="24406B"/>
                </a:solidFill>
                <a:latin typeface="Consolas"/>
              </a:rPr>
              <a:t>Batch hebdomadaire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3858768"/>
            <a:ext cx="3149498" cy="1627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59636D"/>
                </a:solidFill>
                <a:latin typeface="Segoe UI"/>
              </a:rPr>
              <a:t>PSI/KS comparent des distributions, pas des points isolés — il faut des centaines de transactions pour un chiffre stable, pas une seule.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2377440"/>
            <a:ext cx="3515258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A83F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542032"/>
            <a:ext cx="314949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1" i="0">
                <a:solidFill>
                  <a:srgbClr val="171B22"/>
                </a:solidFill>
                <a:latin typeface="Georgia"/>
              </a:rPr>
              <a:t>Évaluation avec labels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10676" y="3291840"/>
            <a:ext cx="3149498" cy="384048"/>
          </a:xfrm>
          <a:prstGeom prst="rect">
            <a:avLst/>
          </a:prstGeom>
          <a:solidFill>
            <a:srgbClr val="F4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50" b="1" i="0">
                <a:solidFill>
                  <a:srgbClr val="A83F2C"/>
                </a:solidFill>
                <a:latin typeface="Consolas"/>
              </a:rPr>
              <a:t>Retard structurel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0676" y="3858768"/>
            <a:ext cx="3149498" cy="1627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0" i="0">
                <a:solidFill>
                  <a:srgbClr val="59636D"/>
                </a:solidFill>
                <a:latin typeface="Segoe UI"/>
              </a:rPr>
              <a:t>Semaines de délai, imposé par la chaîne bancaire (relevé → contestation → instruction) — aucun choix technique de PayGuard n'y change quoi que ce soit.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4406B"/>
                </a:solidFill>
                <a:latin typeface="Consolas"/>
              </a:rPr>
              <a:t>DU MODÈLE FIGÉ À LA DÉCISION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71B22"/>
                </a:solidFill>
                <a:latin typeface="Georgia"/>
              </a:rPr>
              <a:t>Le process, entre le service et le modèle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4415" cy="3794760"/>
          </a:xfrm>
          <a:prstGeom prst="rect">
            <a:avLst/>
          </a:prstGeom>
          <a:solidFill>
            <a:srgbClr val="F7F8F9"/>
          </a:solidFill>
          <a:ln w="12700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8379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59636D"/>
                </a:solidFill>
                <a:latin typeface="Consolas"/>
              </a:rPr>
              <a:t>GRAPHE DU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3108960"/>
            <a:ext cx="2330119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71B22"/>
                </a:solidFill>
                <a:latin typeface="Georgia"/>
              </a:rPr>
              <a:t>Entraînement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950" b="0" i="0">
                <a:solidFill>
                  <a:srgbClr val="59636D"/>
                </a:solidFill>
                <a:latin typeface="Segoe UI"/>
              </a:rPr>
              <a:t>train_model.py : données réf. → modèle .joblib + seuil gelé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98215" y="3493008"/>
            <a:ext cx="420624" cy="146304"/>
          </a:xfrm>
          <a:prstGeom prst="rightArrow">
            <a:avLst/>
          </a:prstGeom>
          <a:solidFill>
            <a:srgbClr val="2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37127" y="3108960"/>
            <a:ext cx="2330119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3F7D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71B22"/>
                </a:solidFill>
                <a:latin typeface="Georgia"/>
              </a:rPr>
              <a:t>Modèle figé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950" b="0" i="0">
                <a:solidFill>
                  <a:srgbClr val="59636D"/>
                </a:solidFill>
                <a:latin typeface="Segoe UI"/>
              </a:rPr>
              <a:t>models/ : model.joblib + threshold.json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85535" y="3493008"/>
            <a:ext cx="420624" cy="146304"/>
          </a:xfrm>
          <a:prstGeom prst="rightArrow">
            <a:avLst/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4447" y="3108960"/>
            <a:ext cx="2330119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4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71B22"/>
                </a:solidFill>
                <a:latin typeface="Georgia"/>
              </a:rPr>
              <a:t>PayGuard (prod)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950" b="0" i="0">
                <a:solidFill>
                  <a:srgbClr val="59636D"/>
                </a:solidFill>
                <a:latin typeface="Segoe UI"/>
              </a:rPr>
              <a:t>score → accept / vérification manuelle, temps réel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672855" y="3493008"/>
            <a:ext cx="420624" cy="146304"/>
          </a:xfrm>
          <a:prstGeom prst="rightArrow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11767" y="3108960"/>
            <a:ext cx="2330119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B04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71B22"/>
                </a:solidFill>
                <a:latin typeface="Georgia"/>
              </a:rPr>
              <a:t>Surveillance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950" b="0" i="0">
                <a:solidFill>
                  <a:srgbClr val="59636D"/>
                </a:solidFill>
                <a:latin typeface="Segoe UI"/>
              </a:rPr>
              <a:t>drift_lab.py : PSI/KS hebdomadaire vs référence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194560"/>
            <a:ext cx="10692079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44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71B22"/>
                </a:solidFill>
                <a:latin typeface="Georgia"/>
              </a:rPr>
              <a:t>Drift spec — seuils &amp; réactions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950" b="0" i="0">
                <a:solidFill>
                  <a:srgbClr val="59636D"/>
                </a:solidFill>
                <a:latin typeface="Segoe UI"/>
              </a:rPr>
              <a:t>reports/drift_spec_payguard.md : seuils PSI, KPI métier, réactions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629035" y="2898648"/>
            <a:ext cx="146304" cy="192024"/>
          </a:xfrm>
          <a:prstGeom prst="downArrow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7416355" y="2898648"/>
            <a:ext cx="146304" cy="192024"/>
          </a:xfrm>
          <a:prstGeom prst="downArrow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10203675" y="2898648"/>
            <a:ext cx="146304" cy="192024"/>
          </a:xfrm>
          <a:prstGeom prst="downArrow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24447" y="4526280"/>
            <a:ext cx="5117439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A83F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71B22"/>
                </a:solidFill>
                <a:latin typeface="Georgia"/>
              </a:rPr>
              <a:t>Labels (retard) → Évaluation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950" b="0" i="0">
                <a:solidFill>
                  <a:srgbClr val="59636D"/>
                </a:solidFill>
                <a:latin typeface="Segoe UI"/>
              </a:rPr>
              <a:t>data/labels/ (semaines de retard) → evaluate_semaine.py : rappel, ROC-AUC vs plancher</a:t>
            </a:r>
          </a:p>
        </p:txBody>
      </p:sp>
      <p:sp>
        <p:nvSpPr>
          <p:cNvPr id="18" name="Up Arrow 17"/>
          <p:cNvSpPr/>
          <p:nvPr/>
        </p:nvSpPr>
        <p:spPr>
          <a:xfrm>
            <a:off x="7416355" y="4041648"/>
            <a:ext cx="146304" cy="466344"/>
          </a:xfrm>
          <a:prstGeom prst="upArrow">
            <a:avLst/>
          </a:prstGeom>
          <a:solidFill>
            <a:srgbClr val="A83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Up Arrow 18"/>
          <p:cNvSpPr/>
          <p:nvPr/>
        </p:nvSpPr>
        <p:spPr>
          <a:xfrm>
            <a:off x="10203675" y="4041648"/>
            <a:ext cx="146304" cy="466344"/>
          </a:xfrm>
          <a:prstGeom prst="upArrow">
            <a:avLst/>
          </a:prstGeom>
          <a:solidFill>
            <a:srgbClr val="A83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5705856"/>
            <a:ext cx="109728" cy="109728"/>
          </a:xfrm>
          <a:prstGeom prst="ellipse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650992"/>
            <a:ext cx="522716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0" i="0">
                <a:solidFill>
                  <a:srgbClr val="59636D"/>
                </a:solidFill>
                <a:latin typeface="Segoe UI"/>
              </a:rPr>
              <a:t>Drift spec → PayGuard / Surveillance — fige les seuils et le KPI avant toute décision ou alerte.</a:t>
            </a:r>
          </a:p>
        </p:txBody>
      </p:sp>
      <p:sp>
        <p:nvSpPr>
          <p:cNvPr id="22" name="Oval 21"/>
          <p:cNvSpPr/>
          <p:nvPr/>
        </p:nvSpPr>
        <p:spPr>
          <a:xfrm>
            <a:off x="6095847" y="5705856"/>
            <a:ext cx="109728" cy="109728"/>
          </a:xfrm>
          <a:prstGeom prst="ellipse">
            <a:avLst/>
          </a:prstGeom>
          <a:solidFill>
            <a:srgbClr val="A83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7015" y="5650992"/>
            <a:ext cx="522716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0" i="0">
                <a:solidFill>
                  <a:srgbClr val="59636D"/>
                </a:solidFill>
                <a:latin typeface="Segoe UI"/>
              </a:rPr>
              <a:t>Labels → Évaluation → PayGuard / Surveillance — confirme ou dément ce que la dérive amont laissait présager.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08192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25" name="Oval 24"/>
          <p:cNvSpPr/>
          <p:nvPr/>
        </p:nvSpPr>
        <p:spPr>
          <a:xfrm>
            <a:off x="548640" y="6163056"/>
            <a:ext cx="109728" cy="109728"/>
          </a:xfrm>
          <a:prstGeom prst="ellipse">
            <a:avLst/>
          </a:prstGeom>
          <a:solidFill>
            <a:srgbClr val="596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6108192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59636D"/>
                </a:solidFill>
                <a:latin typeface="Segoe UI"/>
              </a:rPr>
              <a:t>Boucle de réentraînement (hors schéma) : Évaluation → Entraînement si rappel &lt; plancher — jamais un simple ajustement de seuil. Cadences de chaque bloc : diapositive précédente.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4406B"/>
                </a:solidFill>
                <a:latin typeface="Consolas"/>
              </a:rPr>
              <a:t>PÉRIMÈTRE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71B22"/>
                </a:solidFill>
                <a:latin typeface="Georgia"/>
              </a:rPr>
              <a:t>Environnement — et ce qui n'existe 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5120640" cy="3931920"/>
          </a:xfrm>
          <a:prstGeom prst="rect">
            <a:avLst/>
          </a:prstGeom>
          <a:solidFill>
            <a:srgbClr val="F4DCD4"/>
          </a:solidFill>
          <a:ln w="12700">
            <a:solidFill>
              <a:srgbClr val="A83F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/>
            <a:r>
              <a:rPr sz="1200" b="1" i="0">
                <a:solidFill>
                  <a:srgbClr val="A83F2C"/>
                </a:solidFill>
                <a:latin typeface="Consolas"/>
              </a:rPr>
              <a:t>CE QUI N'EXISTE PAS</a:t>
            </a:r>
          </a:p>
          <a:p>
            <a:pPr>
              <a:lnSpc>
                <a:spcPct val="140000"/>
              </a:lnSpc>
              <a:spcBef>
                <a:spcPts val="1000"/>
              </a:spcBef>
            </a:pPr>
            <a:r>
              <a:rPr sz="1400" b="0" i="0">
                <a:solidFill>
                  <a:srgbClr val="171B22"/>
                </a:solidFill>
                <a:latin typeface="Segoe UI"/>
              </a:rPr>
              <a:t>PayGuard est un scénario métier, pas un service qui tourne quelque part. Il n'y a ni serveur de prod, ni API, ni déploiement dans ce dépôt — seulement des scripts qui simulent le cycle : entraînement, scoring batch sur des CSV, calcul de dérive, évaluation.</a:t>
            </a:r>
          </a:p>
          <a:p>
            <a:pPr>
              <a:lnSpc>
                <a:spcPct val="140000"/>
              </a:lnSpc>
              <a:spcBef>
                <a:spcPts val="1400"/>
              </a:spcBef>
            </a:pPr>
            <a:r>
              <a:rPr sz="1250" b="0" i="0">
                <a:solidFill>
                  <a:srgbClr val="59636D"/>
                </a:solidFill>
                <a:latin typeface="Segoe UI"/>
              </a:rPr>
              <a:t>Le TP le dit explicitement (étape 9) : le lien vers un vrai déploiement (Docker, Prefect, dashboard) est prévu pour les modules 33-34, sur le repo InduSense.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783080"/>
            <a:ext cx="5120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 bIns="182880"/>
          <a:lstStyle/>
          <a:p>
            <a:pPr algn="ctr"/>
            <a:r>
              <a:rPr sz="1200" b="1" i="0">
                <a:solidFill>
                  <a:srgbClr val="24406B"/>
                </a:solidFill>
                <a:latin typeface="Consolas"/>
              </a:rPr>
              <a:t>ENVIRONNEMENT DE DÉVELOPPEMENT</a:t>
            </a:r>
          </a:p>
          <a:p>
            <a:pPr>
              <a:spcBef>
                <a:spcPts val="1600"/>
              </a:spcBef>
            </a:pPr>
            <a:r>
              <a:rPr sz="1050" b="1" i="0">
                <a:solidFill>
                  <a:srgbClr val="59636D"/>
                </a:solidFill>
                <a:latin typeface="Consolas"/>
              </a:rPr>
              <a:t>PYTHON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171B22"/>
                </a:solidFill>
                <a:latin typeface="Segoe UI"/>
              </a:rPr>
              <a:t>3.13, verrouillé par uv.lock</a:t>
            </a:r>
          </a:p>
          <a:p>
            <a:pPr>
              <a:spcBef>
                <a:spcPts val="1600"/>
              </a:spcBef>
            </a:pPr>
            <a:r>
              <a:rPr sz="1050" b="1" i="0">
                <a:solidFill>
                  <a:srgbClr val="59636D"/>
                </a:solidFill>
                <a:latin typeface="Consolas"/>
              </a:rPr>
              <a:t>GESTIONNAIRE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171B22"/>
                </a:solidFill>
                <a:latin typeface="Segoe UI"/>
              </a:rPr>
              <a:t>uv (repli venv + pip disponible)</a:t>
            </a:r>
          </a:p>
          <a:p>
            <a:pPr>
              <a:spcBef>
                <a:spcPts val="1600"/>
              </a:spcBef>
            </a:pPr>
            <a:r>
              <a:rPr sz="1050" b="1" i="0">
                <a:solidFill>
                  <a:srgbClr val="59636D"/>
                </a:solidFill>
                <a:latin typeface="Consolas"/>
              </a:rPr>
              <a:t>DÉPENDANCES CŒUR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171B22"/>
                </a:solidFill>
                <a:latin typeface="Segoe UI"/>
              </a:rPr>
              <a:t>numpy, pandas, scipy, scikit-learn, matplotlib, joblib</a:t>
            </a:r>
          </a:p>
          <a:p>
            <a:pPr>
              <a:spcBef>
                <a:spcPts val="1600"/>
              </a:spcBef>
            </a:pPr>
            <a:r>
              <a:rPr sz="1050" b="1" i="0">
                <a:solidFill>
                  <a:srgbClr val="59636D"/>
                </a:solidFill>
                <a:latin typeface="Consolas"/>
              </a:rPr>
              <a:t>ÉDITEUR</a:t>
            </a:r>
          </a:p>
          <a:p>
            <a:pPr>
              <a:spcBef>
                <a:spcPts val="300"/>
              </a:spcBef>
            </a:pPr>
            <a:r>
              <a:rPr sz="1400" b="0" i="0">
                <a:solidFill>
                  <a:srgbClr val="171B22"/>
                </a:solidFill>
                <a:latin typeface="Segoe UI"/>
              </a:rPr>
              <a:t>VS Code, en local (chemin court recommandé)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4406B"/>
                </a:solidFill>
                <a:latin typeface="Consolas"/>
              </a:rPr>
              <a:t>ÉTAPES 3–5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71B22"/>
                </a:solidFill>
                <a:latin typeface="Georgia"/>
              </a:rPr>
              <a:t>Trois semaines, sans les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59636D"/>
                </a:solidFill>
                <a:latin typeface="Segoe UI"/>
              </a:rPr>
              <a:t>Les fraudes confirmées arrivent avec des semaines de retard : seule la distribution des entrées est observable (covariate monitoring).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148840"/>
          <a:ext cx="73152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2148840"/>
            <a:ext cx="3383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8229600" y="2148840"/>
            <a:ext cx="3383280" cy="1920240"/>
          </a:xfrm>
          <a:prstGeom prst="rect">
            <a:avLst/>
          </a:prstGeom>
          <a:solidFill>
            <a:srgbClr val="DB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54864" bIns="54864"/>
          <a:lstStyle/>
          <a:p>
            <a:pPr algn="l"/>
            <a:r>
              <a:rPr sz="1250" b="0" i="0">
                <a:solidFill>
                  <a:srgbClr val="171B22"/>
                </a:solidFill>
                <a:latin typeface="Segoe UI"/>
              </a:rPr>
              <a:t>Semaine 2 : « Vente Flash de rentrée ». nb_articles, montant_eur et anciennete_client_j franchissent 0,25 — paniers plus gros, nouveaux clients acquis par la pub.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4206240"/>
            <a:ext cx="3383280" cy="2148840"/>
          </a:xfrm>
          <a:prstGeom prst="rect">
            <a:avLst/>
          </a:prstGeom>
          <a:solidFill>
            <a:srgbClr val="F4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54864" bIns="54864"/>
          <a:lstStyle/>
          <a:p>
            <a:pPr algn="l"/>
            <a:r>
              <a:rPr sz="1250" b="0" i="0">
                <a:solidFill>
                  <a:srgbClr val="171B22"/>
                </a:solidFill>
                <a:latin typeface="Segoe UI"/>
              </a:rPr>
              <a:t>Semaine 3 : silence total. PSI max à 0,006 — rien ne distingue cette semaine de la référence, côté entrées.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4406B"/>
                </a:solidFill>
                <a:latin typeface="Consolas"/>
              </a:rPr>
              <a:t>ÉTAPE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71B22"/>
                </a:solidFill>
                <a:latin typeface="Georgia"/>
              </a:rPr>
              <a:t>Les labels tombent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59636D"/>
                </a:solidFill>
                <a:latin typeface="Segoe UI"/>
              </a:rPr>
              <a:t>evaluate_semaine.py calcule matrice de confusion et métriques au seuil gelé (0,03), une fois les labels disponibles.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107899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00200"/>
                <a:gridCol w="1600200"/>
                <a:gridCol w="1600200"/>
                <a:gridCol w="1600200"/>
                <a:gridCol w="1600200"/>
                <a:gridCol w="16002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Semaine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Fraude réelle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Taux d'alerte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Rappel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Précision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PR-AUC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ROC-AUC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1B22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4,4 %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27,6 %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0,786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0,124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0,319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0,851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1B22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11,2 %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56,6 %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0,923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0,183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0,394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0,824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1B22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5,6 %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27,4 %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0,072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0,015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0,035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0,278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343400"/>
            <a:ext cx="10789920" cy="1417320"/>
          </a:xfrm>
          <a:prstGeom prst="rect">
            <a:avLst/>
          </a:prstGeom>
          <a:solidFill>
            <a:srgbClr val="F4DCD4"/>
          </a:solidFill>
          <a:ln w="12700">
            <a:solidFill>
              <a:srgbClr val="A83F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bIns="182880"/>
          <a:lstStyle/>
          <a:p>
            <a:pPr algn="ctr"/>
            <a:r>
              <a:rPr sz="3400" b="1" i="0">
                <a:solidFill>
                  <a:srgbClr val="A83F2C"/>
                </a:solidFill>
                <a:latin typeface="Consolas"/>
              </a:rPr>
              <a:t>0,278  </a:t>
            </a:r>
            <a:r>
              <a:rPr sz="1500" b="0" i="0">
                <a:solidFill>
                  <a:srgbClr val="171B22"/>
                </a:solidFill>
                <a:latin typeface="Segoe UI"/>
              </a:rPr>
              <a:t>ROC-AUC en semaine 3 — pire qu'un tirage à pile ou face (0,5). Le modèle ne s'est pas juste dégradé : il s'est retourné contre lui-même.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4406B"/>
                </a:solidFill>
                <a:latin typeface="Consolas"/>
              </a:rPr>
              <a:t>ÉTAPE 6 — DÉTAIL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71B22"/>
                </a:solidFill>
                <a:latin typeface="Georgia"/>
              </a:rPr>
              <a:t>Matrices de confusion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59636D"/>
                </a:solidFill>
                <a:latin typeface="Segoe UI"/>
              </a:rPr>
              <a:t>3 000 transactions par semaine, seuil gelé 0,03 — VN / FP / FN / VP.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348477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59636D"/>
                </a:solidFill>
                <a:latin typeface="Consolas"/>
              </a:rPr>
              <a:t>SEMAINE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697480"/>
            <a:ext cx="139948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9636D"/>
                </a:solidFill>
                <a:latin typeface="Consolas"/>
              </a:rPr>
              <a:t>pas d'alerte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33929" y="2697480"/>
            <a:ext cx="139948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9636D"/>
                </a:solidFill>
                <a:latin typeface="Consolas"/>
              </a:rPr>
              <a:t>alerte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63093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9636D"/>
                </a:solidFill>
                <a:latin typeface="Consolas"/>
              </a:rPr>
              <a:t>non-fraude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3017520"/>
            <a:ext cx="1344625" cy="960120"/>
          </a:xfrm>
          <a:prstGeom prst="rect">
            <a:avLst/>
          </a:prstGeom>
          <a:solidFill>
            <a:srgbClr val="DF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2000" b="1" i="0">
                <a:solidFill>
                  <a:srgbClr val="3F7D58"/>
                </a:solidFill>
                <a:latin typeface="Consolas"/>
              </a:rPr>
              <a:t>2144</a:t>
            </a:r>
          </a:p>
          <a:p>
            <a:pPr algn="ctr"/>
            <a:r>
              <a:rPr sz="950" b="0" i="0">
                <a:solidFill>
                  <a:srgbClr val="59636D"/>
                </a:solidFill>
                <a:latin typeface="Consolas"/>
              </a:rPr>
              <a:t>VN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33929" y="3017520"/>
            <a:ext cx="1344625" cy="960120"/>
          </a:xfrm>
          <a:prstGeom prst="rect">
            <a:avLst/>
          </a:prstGeom>
          <a:solidFill>
            <a:srgbClr val="F4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2000" b="1" i="0">
                <a:solidFill>
                  <a:srgbClr val="A83F2C"/>
                </a:solidFill>
                <a:latin typeface="Consolas"/>
              </a:rPr>
              <a:t>725</a:t>
            </a:r>
          </a:p>
          <a:p>
            <a:pPr algn="ctr"/>
            <a:r>
              <a:rPr sz="950" b="0" i="0">
                <a:solidFill>
                  <a:srgbClr val="59636D"/>
                </a:solidFill>
                <a:latin typeface="Consolas"/>
              </a:rPr>
              <a:t>FP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32504"/>
            <a:ext cx="63093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9636D"/>
                </a:solidFill>
                <a:latin typeface="Consolas"/>
              </a:rPr>
              <a:t>fraude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4032504"/>
            <a:ext cx="1344625" cy="960120"/>
          </a:xfrm>
          <a:prstGeom prst="rect">
            <a:avLst/>
          </a:prstGeom>
          <a:solidFill>
            <a:srgbClr val="F4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2000" b="1" i="0">
                <a:solidFill>
                  <a:srgbClr val="A83F2C"/>
                </a:solidFill>
                <a:latin typeface="Consolas"/>
              </a:rPr>
              <a:t>28</a:t>
            </a:r>
          </a:p>
          <a:p>
            <a:pPr algn="ctr"/>
            <a:r>
              <a:rPr sz="950" b="0" i="0">
                <a:solidFill>
                  <a:srgbClr val="59636D"/>
                </a:solidFill>
                <a:latin typeface="Consolas"/>
              </a:rPr>
              <a:t>FN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3929" y="4032504"/>
            <a:ext cx="1344625" cy="960120"/>
          </a:xfrm>
          <a:prstGeom prst="rect">
            <a:avLst/>
          </a:prstGeom>
          <a:solidFill>
            <a:srgbClr val="DF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2000" b="1" i="0">
                <a:solidFill>
                  <a:srgbClr val="3F7D58"/>
                </a:solidFill>
                <a:latin typeface="Consolas"/>
              </a:rPr>
              <a:t>103</a:t>
            </a:r>
          </a:p>
          <a:p>
            <a:pPr algn="ctr"/>
            <a:r>
              <a:rPr sz="950" b="0" i="0">
                <a:solidFill>
                  <a:srgbClr val="59636D"/>
                </a:solidFill>
                <a:latin typeface="Consolas"/>
              </a:rPr>
              <a:t>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3458" y="2194560"/>
            <a:ext cx="348477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59636D"/>
                </a:solidFill>
                <a:latin typeface="Consolas"/>
              </a:rPr>
              <a:t>SEMAINE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9258" y="2697480"/>
            <a:ext cx="139948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9636D"/>
                </a:solidFill>
                <a:latin typeface="Consolas"/>
              </a:rPr>
              <a:t>pas d'alerte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747" y="2697480"/>
            <a:ext cx="139948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9636D"/>
                </a:solidFill>
                <a:latin typeface="Consolas"/>
              </a:rPr>
              <a:t>alerte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3458" y="3017520"/>
            <a:ext cx="63093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9636D"/>
                </a:solidFill>
                <a:latin typeface="Consolas"/>
              </a:rPr>
              <a:t>non-fraude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9258" y="3017520"/>
            <a:ext cx="1344625" cy="960120"/>
          </a:xfrm>
          <a:prstGeom prst="rect">
            <a:avLst/>
          </a:prstGeom>
          <a:solidFill>
            <a:srgbClr val="DF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2000" b="1" i="0">
                <a:solidFill>
                  <a:srgbClr val="3F7D58"/>
                </a:solidFill>
                <a:latin typeface="Consolas"/>
              </a:rPr>
              <a:t>1276</a:t>
            </a:r>
          </a:p>
          <a:p>
            <a:pPr algn="ctr"/>
            <a:r>
              <a:rPr sz="950" b="0" i="0">
                <a:solidFill>
                  <a:srgbClr val="59636D"/>
                </a:solidFill>
                <a:latin typeface="Consolas"/>
              </a:rPr>
              <a:t>VN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38747" y="3017520"/>
            <a:ext cx="1344625" cy="960120"/>
          </a:xfrm>
          <a:prstGeom prst="rect">
            <a:avLst/>
          </a:prstGeom>
          <a:solidFill>
            <a:srgbClr val="F4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2000" b="1" i="0">
                <a:solidFill>
                  <a:srgbClr val="A83F2C"/>
                </a:solidFill>
                <a:latin typeface="Consolas"/>
              </a:rPr>
              <a:t>1387</a:t>
            </a:r>
          </a:p>
          <a:p>
            <a:pPr algn="ctr"/>
            <a:r>
              <a:rPr sz="950" b="0" i="0">
                <a:solidFill>
                  <a:srgbClr val="59636D"/>
                </a:solidFill>
                <a:latin typeface="Consolas"/>
              </a:rPr>
              <a:t>FP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3458" y="4032504"/>
            <a:ext cx="63093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9636D"/>
                </a:solidFill>
                <a:latin typeface="Consolas"/>
              </a:rPr>
              <a:t>fraude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39258" y="4032504"/>
            <a:ext cx="1344625" cy="960120"/>
          </a:xfrm>
          <a:prstGeom prst="rect">
            <a:avLst/>
          </a:prstGeom>
          <a:solidFill>
            <a:srgbClr val="F4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2000" b="1" i="0">
                <a:solidFill>
                  <a:srgbClr val="A83F2C"/>
                </a:solidFill>
                <a:latin typeface="Consolas"/>
              </a:rPr>
              <a:t>26</a:t>
            </a:r>
          </a:p>
          <a:p>
            <a:pPr algn="ctr"/>
            <a:r>
              <a:rPr sz="950" b="0" i="0">
                <a:solidFill>
                  <a:srgbClr val="59636D"/>
                </a:solidFill>
                <a:latin typeface="Consolas"/>
              </a:rPr>
              <a:t>FN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38747" y="4032504"/>
            <a:ext cx="1344625" cy="960120"/>
          </a:xfrm>
          <a:prstGeom prst="rect">
            <a:avLst/>
          </a:prstGeom>
          <a:solidFill>
            <a:srgbClr val="DF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2000" b="1" i="0">
                <a:solidFill>
                  <a:srgbClr val="3F7D58"/>
                </a:solidFill>
                <a:latin typeface="Consolas"/>
              </a:rPr>
              <a:t>311</a:t>
            </a:r>
          </a:p>
          <a:p>
            <a:pPr algn="ctr"/>
            <a:r>
              <a:rPr sz="950" b="0" i="0">
                <a:solidFill>
                  <a:srgbClr val="59636D"/>
                </a:solidFill>
                <a:latin typeface="Consolas"/>
              </a:rPr>
              <a:t>VP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8276" y="2194560"/>
            <a:ext cx="348477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59636D"/>
                </a:solidFill>
                <a:latin typeface="Consolas"/>
              </a:rPr>
              <a:t>SEMAINE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4076" y="2697480"/>
            <a:ext cx="139948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9636D"/>
                </a:solidFill>
                <a:latin typeface="Consolas"/>
              </a:rPr>
              <a:t>pas d'alerte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3565" y="2697480"/>
            <a:ext cx="139948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9636D"/>
                </a:solidFill>
                <a:latin typeface="Consolas"/>
              </a:rPr>
              <a:t>alerte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8276" y="3017520"/>
            <a:ext cx="63093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9636D"/>
                </a:solidFill>
                <a:latin typeface="Consolas"/>
              </a:rPr>
              <a:t>non-fraude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44076" y="3017520"/>
            <a:ext cx="1344625" cy="960120"/>
          </a:xfrm>
          <a:prstGeom prst="rect">
            <a:avLst/>
          </a:prstGeom>
          <a:solidFill>
            <a:srgbClr val="DF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2000" b="1" i="0">
                <a:solidFill>
                  <a:srgbClr val="3F7D58"/>
                </a:solidFill>
                <a:latin typeface="Consolas"/>
              </a:rPr>
              <a:t>2023</a:t>
            </a:r>
          </a:p>
          <a:p>
            <a:pPr algn="ctr"/>
            <a:r>
              <a:rPr sz="950" b="0" i="0">
                <a:solidFill>
                  <a:srgbClr val="59636D"/>
                </a:solidFill>
                <a:latin typeface="Consolas"/>
              </a:rPr>
              <a:t>VN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3565" y="3017520"/>
            <a:ext cx="1344625" cy="960120"/>
          </a:xfrm>
          <a:prstGeom prst="rect">
            <a:avLst/>
          </a:prstGeom>
          <a:solidFill>
            <a:srgbClr val="F4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2000" b="1" i="0">
                <a:solidFill>
                  <a:srgbClr val="A83F2C"/>
                </a:solidFill>
                <a:latin typeface="Consolas"/>
              </a:rPr>
              <a:t>810</a:t>
            </a:r>
          </a:p>
          <a:p>
            <a:pPr algn="ctr"/>
            <a:r>
              <a:rPr sz="950" b="0" i="0">
                <a:solidFill>
                  <a:srgbClr val="59636D"/>
                </a:solidFill>
                <a:latin typeface="Consolas"/>
              </a:rPr>
              <a:t>FP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8276" y="4032504"/>
            <a:ext cx="63093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9636D"/>
                </a:solidFill>
                <a:latin typeface="Consolas"/>
              </a:rPr>
              <a:t>fraude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44076" y="4032504"/>
            <a:ext cx="1344625" cy="960120"/>
          </a:xfrm>
          <a:prstGeom prst="rect">
            <a:avLst/>
          </a:prstGeom>
          <a:solidFill>
            <a:srgbClr val="F4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2000" b="1" i="0">
                <a:solidFill>
                  <a:srgbClr val="A83F2C"/>
                </a:solidFill>
                <a:latin typeface="Consolas"/>
              </a:rPr>
              <a:t>155</a:t>
            </a:r>
          </a:p>
          <a:p>
            <a:pPr algn="ctr"/>
            <a:r>
              <a:rPr sz="950" b="0" i="0">
                <a:solidFill>
                  <a:srgbClr val="59636D"/>
                </a:solidFill>
                <a:latin typeface="Consolas"/>
              </a:rPr>
              <a:t>FN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3565" y="4032504"/>
            <a:ext cx="1344625" cy="960120"/>
          </a:xfrm>
          <a:prstGeom prst="rect">
            <a:avLst/>
          </a:prstGeom>
          <a:solidFill>
            <a:srgbClr val="DF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2000" b="1" i="0">
                <a:solidFill>
                  <a:srgbClr val="3F7D58"/>
                </a:solidFill>
                <a:latin typeface="Consolas"/>
              </a:rPr>
              <a:t>12</a:t>
            </a:r>
          </a:p>
          <a:p>
            <a:pPr algn="ctr"/>
            <a:r>
              <a:rPr sz="950" b="0" i="0">
                <a:solidFill>
                  <a:srgbClr val="59636D"/>
                </a:solidFill>
                <a:latin typeface="Consolas"/>
              </a:rPr>
              <a:t>VP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349240"/>
            <a:ext cx="10789920" cy="1005840"/>
          </a:xfrm>
          <a:prstGeom prst="rect">
            <a:avLst/>
          </a:prstGeom>
          <a:solidFill>
            <a:srgbClr val="DB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/>
            <a:r>
              <a:rPr sz="1300" b="0" i="0">
                <a:solidFill>
                  <a:srgbClr val="171B22"/>
                </a:solidFill>
                <a:latin typeface="Segoe UI"/>
              </a:rPr>
              <a:t>Semaine 3 : sur 167 fraudes réelles, seules 12 sont détectées (155 FN) — malgré une accuracy encore à 67,8 %. La classe rare noie l'échec dans la masse des non-fraudes bien classées : l'accuracy ne raconte rien ici (Q14 du TP).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4406B"/>
                </a:solidFill>
                <a:latin typeface="Consolas"/>
              </a:rPr>
              <a:t>COMPLÉMENT — MOYENNES CONDITIONNELLES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71B22"/>
                </a:solidFill>
                <a:latin typeface="Georgia"/>
              </a:rPr>
              <a:t>Le profil de la fraude s'inverse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59636D"/>
                </a:solidFill>
                <a:latin typeface="Segoe UI"/>
              </a:rPr>
              <a:t>PSI et KS regardent P(X) seule, jamais sa relation au label. Une fois les labels disponibles, groupby('fraude').mean() sur data/reference.csv et data/courant_semaineX.csv + labels révèle la relation X → fraude.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423160"/>
          <a:ext cx="107899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87040"/>
                <a:gridCol w="2987040"/>
                <a:gridCol w="29870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Jeu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montant_eur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anciennete_client_j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distance_domicile_km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1B22"/>
                          </a:solidFill>
                          <a:latin typeface="Segoe UI"/>
                        </a:rPr>
                        <a:t>Référence</a:t>
                      </a:r>
                    </a:p>
                  </a:txBody>
                  <a:tcPr marL="73152" marR="73152" marT="36576" marB="36576" anchor="ctr">
                    <a:solidFill>
                      <a:srgbClr val="DFEEE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F7D58"/>
                          </a:solidFill>
                          <a:latin typeface="Consolas"/>
                        </a:rPr>
                        <a:t>43.8 → 79.8  ↑</a:t>
                      </a:r>
                    </a:p>
                  </a:txBody>
                  <a:tcPr marL="73152" marR="73152" marT="36576" marB="36576" anchor="ctr">
                    <a:solidFill>
                      <a:srgbClr val="DFEEE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F7D58"/>
                          </a:solidFill>
                          <a:latin typeface="Consolas"/>
                        </a:rPr>
                        <a:t>433 → 207  ↓</a:t>
                      </a:r>
                    </a:p>
                  </a:txBody>
                  <a:tcPr marL="73152" marR="73152" marT="36576" marB="36576" anchor="ctr">
                    <a:solidFill>
                      <a:srgbClr val="DFEEE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F7D58"/>
                          </a:solidFill>
                          <a:latin typeface="Consolas"/>
                        </a:rPr>
                        <a:t>10.6 → 22.9  ↑</a:t>
                      </a:r>
                    </a:p>
                  </a:txBody>
                  <a:tcPr marL="73152" marR="73152" marT="36576" marB="36576" anchor="ctr">
                    <a:solidFill>
                      <a:srgbClr val="DFEE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1B22"/>
                          </a:solidFill>
                          <a:latin typeface="Segoe UI"/>
                        </a:rPr>
                        <a:t>Semaine 1</a:t>
                      </a:r>
                    </a:p>
                  </a:txBody>
                  <a:tcPr marL="73152" marR="73152" marT="36576" marB="36576" anchor="ctr">
                    <a:solidFill>
                      <a:srgbClr val="DFEEE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F7D58"/>
                          </a:solidFill>
                          <a:latin typeface="Consolas"/>
                        </a:rPr>
                        <a:t>43 → 85  ↑</a:t>
                      </a:r>
                    </a:p>
                  </a:txBody>
                  <a:tcPr marL="73152" marR="73152" marT="36576" marB="36576" anchor="ctr">
                    <a:solidFill>
                      <a:srgbClr val="DFEEE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F7D58"/>
                          </a:solidFill>
                          <a:latin typeface="Consolas"/>
                        </a:rPr>
                        <a:t>443 → 238  ↓</a:t>
                      </a:r>
                    </a:p>
                  </a:txBody>
                  <a:tcPr marL="73152" marR="73152" marT="36576" marB="36576" anchor="ctr">
                    <a:solidFill>
                      <a:srgbClr val="DFEEE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F7D58"/>
                          </a:solidFill>
                          <a:latin typeface="Consolas"/>
                        </a:rPr>
                        <a:t>10 → 20  ↑</a:t>
                      </a:r>
                    </a:p>
                  </a:txBody>
                  <a:tcPr marL="73152" marR="73152" marT="36576" marB="36576" anchor="ctr">
                    <a:solidFill>
                      <a:srgbClr val="DFEE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1B22"/>
                          </a:solidFill>
                          <a:latin typeface="Segoe UI"/>
                        </a:rPr>
                        <a:t>Semaine 2</a:t>
                      </a:r>
                    </a:p>
                  </a:txBody>
                  <a:tcPr marL="73152" marR="73152" marT="36576" marB="36576" anchor="ctr">
                    <a:solidFill>
                      <a:srgbClr val="DFEEE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F7D58"/>
                          </a:solidFill>
                          <a:latin typeface="Consolas"/>
                        </a:rPr>
                        <a:t>72.5 → 137.5  ↑</a:t>
                      </a:r>
                    </a:p>
                  </a:txBody>
                  <a:tcPr marL="73152" marR="73152" marT="36576" marB="36576" anchor="ctr">
                    <a:solidFill>
                      <a:srgbClr val="DFEEE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F7D58"/>
                          </a:solidFill>
                          <a:latin typeface="Consolas"/>
                        </a:rPr>
                        <a:t>257 → 136  ↓</a:t>
                      </a:r>
                    </a:p>
                  </a:txBody>
                  <a:tcPr marL="73152" marR="73152" marT="36576" marB="36576" anchor="ctr">
                    <a:solidFill>
                      <a:srgbClr val="DFEEE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3F7D58"/>
                          </a:solidFill>
                          <a:latin typeface="Consolas"/>
                        </a:rPr>
                        <a:t>10.5 → 19.7  ↑</a:t>
                      </a:r>
                    </a:p>
                  </a:txBody>
                  <a:tcPr marL="73152" marR="73152" marT="36576" marB="36576" anchor="ctr">
                    <a:solidFill>
                      <a:srgbClr val="DFEE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1B22"/>
                          </a:solidFill>
                          <a:latin typeface="Segoe UI"/>
                        </a:rPr>
                        <a:t>Semaine 3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A83F2C"/>
                          </a:solidFill>
                          <a:latin typeface="Consolas"/>
                        </a:rPr>
                        <a:t>45.7 → 32.5  ↓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A83F2C"/>
                          </a:solidFill>
                          <a:latin typeface="Consolas"/>
                        </a:rPr>
                        <a:t>413 → 627  ↑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A83F2C"/>
                          </a:solidFill>
                          <a:latin typeface="Consolas"/>
                        </a:rPr>
                        <a:t>11.4 → 7  ↓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983480"/>
            <a:ext cx="10789920" cy="1371600"/>
          </a:xfrm>
          <a:prstGeom prst="rect">
            <a:avLst/>
          </a:prstGeom>
          <a:solidFill>
            <a:srgbClr val="F4DCD4"/>
          </a:solidFill>
          <a:ln w="12700">
            <a:solidFill>
              <a:srgbClr val="A83F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/>
            <a:r>
              <a:rPr sz="1350" b="0" i="0">
                <a:solidFill>
                  <a:srgbClr val="171B22"/>
                </a:solidFill>
                <a:latin typeface="Segoe UI"/>
              </a:rPr>
              <a:t>Sur la référence et les semaines 1-2, la fraude est associée à un montant plus élevé, un compte plus récent, une livraison plus loin du domicile. En semaine 3, les trois signes s'inversent : le modèle continue de chercher l'ancien pattern — d'où la ROC-AUC à 0,278. Pas un bug de données (P(X) est saine, PSI ~0), un vrai changement du comportement de fraude, invisible sans les labels.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4406B"/>
                </a:solidFill>
                <a:latin typeface="Consolas"/>
              </a:rPr>
              <a:t>LE RAPPEL S'EFFONDRE-T-IL VRAIMENT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71B22"/>
                </a:solidFill>
                <a:latin typeface="Georgia"/>
              </a:rPr>
              <a:t>Un effondrement, pas du bruit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59636D"/>
                </a:solidFill>
                <a:latin typeface="Segoe UI"/>
              </a:rPr>
              <a:t>Intervalle de confiance à 95 % sur le rappel — la semaine 3 ne compte que 167 fraudes confirmées : l'écart peut-il être un simple effet d'échantillon 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346960"/>
                <a:gridCol w="2346960"/>
                <a:gridCol w="2346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Semaine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Rappel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n fraudes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IC 95 %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1B22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0,786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131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[0,716 ; 0,856]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1B22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0,923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337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[0,894 ; 0,951]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1B22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0,072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167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[0,033 ; 0,111]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343400"/>
            <a:ext cx="10789920" cy="1828800"/>
          </a:xfrm>
          <a:prstGeom prst="rect">
            <a:avLst/>
          </a:prstGeom>
          <a:solidFill>
            <a:srgbClr val="DB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54864" bIns="54864"/>
          <a:lstStyle/>
          <a:p>
            <a:pPr algn="l"/>
            <a:r>
              <a:rPr sz="1400" b="0" i="0">
                <a:solidFill>
                  <a:srgbClr val="171B22"/>
                </a:solidFill>
                <a:latin typeface="Segoe UI"/>
              </a:rPr>
              <a:t>La borne haute de l'IC en semaine 3 (0,111) reste très en dessous de la borne basse de la semaine 1 (0,716), et 6× sous le plancher de la drift spec (0,70). L'effondrement du rappel n'est pas un artefact d'échantillonnage — même avec seulement 167 fraudes confirmées, le signal est sans ambiguïté.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4406B"/>
                </a:solidFill>
                <a:latin typeface="Consolas"/>
              </a:rPr>
              <a:t>ACCURACY ET PRÉCISION, RESITUÉES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71B22"/>
                </a:solidFill>
                <a:latin typeface="Georgia"/>
              </a:rPr>
              <a:t>Deux métriques à ne pas lire brutes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59636D"/>
                </a:solidFill>
                <a:latin typeface="Segoe UI"/>
              </a:rPr>
              <a:t>L'accuracy contre un classifieur qui n'alerte jamais ; la précision normalisée par la prévalence (qui change chaque semaine).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48840"/>
          <a:ext cx="107899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630680"/>
                <a:gridCol w="1630680"/>
                <a:gridCol w="1630680"/>
                <a:gridCol w="1630680"/>
                <a:gridCol w="1630680"/>
                <a:gridCol w="163068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Semaine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Accuracy modèle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Baseline « jamais alerter »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Écart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Précision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Prévalence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Lift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71B22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71B22"/>
                          </a:solidFill>
                          <a:latin typeface="Consolas"/>
                        </a:rPr>
                        <a:t>0,749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71B22"/>
                          </a:solidFill>
                          <a:latin typeface="Consolas"/>
                        </a:rPr>
                        <a:t>0,956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71B22"/>
                          </a:solidFill>
                          <a:latin typeface="Consolas"/>
                        </a:rPr>
                        <a:t>−0,207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71B22"/>
                          </a:solidFill>
                          <a:latin typeface="Consolas"/>
                        </a:rPr>
                        <a:t>0,124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71B22"/>
                          </a:solidFill>
                          <a:latin typeface="Consolas"/>
                        </a:rPr>
                        <a:t>4,4 %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71B22"/>
                          </a:solidFill>
                          <a:latin typeface="Consolas"/>
                        </a:rPr>
                        <a:t>2,85×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71B22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71B22"/>
                          </a:solidFill>
                          <a:latin typeface="Consolas"/>
                        </a:rPr>
                        <a:t>0,529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71B22"/>
                          </a:solidFill>
                          <a:latin typeface="Consolas"/>
                        </a:rPr>
                        <a:t>0,888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71B22"/>
                          </a:solidFill>
                          <a:latin typeface="Consolas"/>
                        </a:rPr>
                        <a:t>−0,359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71B22"/>
                          </a:solidFill>
                          <a:latin typeface="Consolas"/>
                        </a:rPr>
                        <a:t>0,183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71B22"/>
                          </a:solidFill>
                          <a:latin typeface="Consolas"/>
                        </a:rPr>
                        <a:t>11,2 %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71B22"/>
                          </a:solidFill>
                          <a:latin typeface="Consolas"/>
                        </a:rPr>
                        <a:t>1,63×</a:t>
                      </a:r>
                    </a:p>
                  </a:txBody>
                  <a:tcPr marL="73152" marR="73152" marT="36576" marB="36576" anchor="ctr">
                    <a:solidFill>
                      <a:srgbClr val="F3F5F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71B22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71B22"/>
                          </a:solidFill>
                          <a:latin typeface="Consolas"/>
                        </a:rPr>
                        <a:t>0,678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71B22"/>
                          </a:solidFill>
                          <a:latin typeface="Consolas"/>
                        </a:rPr>
                        <a:t>0,944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71B22"/>
                          </a:solidFill>
                          <a:latin typeface="Consolas"/>
                        </a:rPr>
                        <a:t>−0,266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71B22"/>
                          </a:solidFill>
                          <a:latin typeface="Consolas"/>
                        </a:rPr>
                        <a:t>0,015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71B22"/>
                          </a:solidFill>
                          <a:latin typeface="Consolas"/>
                        </a:rPr>
                        <a:t>5,6 %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71B22"/>
                          </a:solidFill>
                          <a:latin typeface="Consolas"/>
                        </a:rPr>
                        <a:t>0,26×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160520"/>
            <a:ext cx="5257800" cy="1920240"/>
          </a:xfrm>
          <a:prstGeom prst="rect">
            <a:avLst/>
          </a:prstGeom>
          <a:solidFill>
            <a:srgbClr val="DB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54864" bIns="54864"/>
          <a:lstStyle/>
          <a:p>
            <a:pPr algn="l"/>
            <a:r>
              <a:rPr sz="1300" b="0" i="0">
                <a:solidFill>
                  <a:srgbClr val="171B22"/>
                </a:solidFill>
                <a:latin typeface="Segoe UI"/>
              </a:rPr>
              <a:t>ACCURACY — le modèle fait toujours moins bien qu'un classifieur qui n'alerte jamais. Normal : le seuil coût-optimal sacrifie l'accuracy pour le rappel (725 à 1387 FP/semaine plutôt que rater des fraudes à 50 €).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4160520"/>
            <a:ext cx="5257800" cy="1920240"/>
          </a:xfrm>
          <a:prstGeom prst="rect">
            <a:avLst/>
          </a:prstGeom>
          <a:solidFill>
            <a:srgbClr val="F4D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54864" bIns="54864"/>
          <a:lstStyle/>
          <a:p>
            <a:pPr algn="l"/>
            <a:r>
              <a:rPr sz="1300" b="0" i="0">
                <a:solidFill>
                  <a:srgbClr val="171B22"/>
                </a:solidFill>
                <a:latin typeface="Segoe UI"/>
              </a:rPr>
              <a:t>PRÉCISION (lift = précision / prévalence) — le modèle reste 1,6 à 2,9× meilleur que le hasard en semaines 1-2. En semaine 3 : lift 0,26× — pire qu'un tirage au sort, cohérent avec la ROC-AUC à 0,278.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4406B"/>
                </a:solidFill>
                <a:latin typeface="Consolas"/>
              </a:rPr>
              <a:t>SYNTHÈSE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71B22"/>
                </a:solidFill>
                <a:latin typeface="Georgia"/>
              </a:rPr>
              <a:t>Quel type de dérive, chaque semaine 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1188720"/>
                <a:gridCol w="1188720"/>
                <a:gridCol w="539496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Semaine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PSI entrées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Rappel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Alertes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Type de dérive</a:t>
                      </a:r>
                    </a:p>
                  </a:txBody>
                  <a:tcPr marL="73152" marR="73152" marT="36576" marB="36576" anchor="ctr">
                    <a:solidFill>
                      <a:srgbClr val="24406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1B22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DFEE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RAS (max 0,008)</a:t>
                      </a:r>
                    </a:p>
                  </a:txBody>
                  <a:tcPr marL="73152" marR="73152" marT="36576" marB="36576" anchor="ctr">
                    <a:solidFill>
                      <a:srgbClr val="DFEEE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0,786</a:t>
                      </a:r>
                    </a:p>
                  </a:txBody>
                  <a:tcPr marL="73152" marR="73152" marT="36576" marB="36576" anchor="ctr">
                    <a:solidFill>
                      <a:srgbClr val="DFEEE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27,6 %</a:t>
                      </a:r>
                    </a:p>
                  </a:txBody>
                  <a:tcPr marL="73152" marR="73152" marT="36576" marB="36576" anchor="ctr">
                    <a:solidFill>
                      <a:srgbClr val="DFEE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Aucune — conforme à la référence</a:t>
                      </a:r>
                    </a:p>
                  </a:txBody>
                  <a:tcPr marL="73152" marR="73152" marT="36576" marB="36576" anchor="ctr">
                    <a:solidFill>
                      <a:srgbClr val="DFEEE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1B22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DBE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forte (jusqu'à 0,471)</a:t>
                      </a:r>
                    </a:p>
                  </a:txBody>
                  <a:tcPr marL="73152" marR="73152" marT="36576" marB="36576" anchor="ctr">
                    <a:solidFill>
                      <a:srgbClr val="DBE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0,923</a:t>
                      </a:r>
                    </a:p>
                  </a:txBody>
                  <a:tcPr marL="73152" marR="73152" marT="36576" marB="36576" anchor="ctr">
                    <a:solidFill>
                      <a:srgbClr val="DBE4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56,6 %</a:t>
                      </a:r>
                    </a:p>
                  </a:txBody>
                  <a:tcPr marL="73152" marR="73152" marT="36576" marB="36576" anchor="ctr">
                    <a:solidFill>
                      <a:srgbClr val="DBE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Covariate drift — visible en amont, sans casse du modèle</a:t>
                      </a:r>
                    </a:p>
                  </a:txBody>
                  <a:tcPr marL="73152" marR="73152" marT="36576" marB="36576" anchor="ctr">
                    <a:solidFill>
                      <a:srgbClr val="DBE4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1B22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RAS (max 0,006)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0,072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27,4 %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1B22"/>
                          </a:solidFill>
                          <a:latin typeface="Consolas"/>
                        </a:rPr>
                        <a:t>Concept drift — invisible en amont, modèle cassé</a:t>
                      </a:r>
                    </a:p>
                  </a:txBody>
                  <a:tcPr marL="73152" marR="73152" marT="36576" marB="36576" anchor="ctr">
                    <a:solidFill>
                      <a:srgbClr val="F4DCD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892040"/>
            <a:ext cx="107899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500" b="0" i="0">
                <a:solidFill>
                  <a:srgbClr val="171B22"/>
                </a:solidFill>
                <a:latin typeface="Segoe UI"/>
              </a:rPr>
              <a:t>Le point pédagogique du TP : le monitoring des entrées (PSI/KS) est structurellement aveugle au concept drift. P(X) inchangée n'implique pas P(Y|X) inchangée — seuls les labels, en retard de plusieurs semaines, le révèlent.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83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4406B"/>
                </a:solidFill>
                <a:latin typeface="Consolas"/>
              </a:rPr>
              <a:t>CE QUE ÇA RÉVÈLE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71B22"/>
                </a:solidFill>
                <a:latin typeface="Georgia"/>
              </a:rPr>
              <a:t>La limite structurelle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0" i="0">
                <a:solidFill>
                  <a:srgbClr val="171B22"/>
                </a:solidFill>
                <a:latin typeface="Segoe UI"/>
              </a:rPr>
              <a:t>PSI et KS ne mesurent qu'une chose : P(X), la distribution des entrées. Ils ne regardent jamais la relation entre ces entrées et le label — P(Y|X).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5364327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F7D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64592" bIns="164592"/>
          <a:lstStyle/>
          <a:p>
            <a:pPr algn="ctr"/>
            <a:r>
              <a:rPr sz="1700" b="1" i="0">
                <a:solidFill>
                  <a:srgbClr val="171B22"/>
                </a:solidFill>
                <a:latin typeface="Georgia"/>
              </a:rPr>
              <a:t>Covariate drift</a:t>
            </a:r>
            <a:r>
              <a:rPr sz="1100" b="0" i="0">
                <a:solidFill>
                  <a:srgbClr val="59636D"/>
                </a:solidFill>
                <a:latin typeface="Consolas"/>
              </a:rPr>
              <a:t>  semaine 2</a:t>
            </a:r>
          </a:p>
          <a:p>
            <a:pPr>
              <a:spcBef>
                <a:spcPts val="1000"/>
              </a:spcBef>
            </a:pPr>
            <a:r>
              <a:rPr sz="1000" b="1" i="0">
                <a:solidFill>
                  <a:srgbClr val="59636D"/>
                </a:solidFill>
                <a:latin typeface="Consolas"/>
              </a:rPr>
              <a:t>CE QUI BOUGE  </a:t>
            </a:r>
            <a:r>
              <a:rPr sz="1300" b="1" i="0">
                <a:solidFill>
                  <a:srgbClr val="3F7D58"/>
                </a:solidFill>
                <a:latin typeface="Segoe UI"/>
              </a:rPr>
              <a:t>P(X) — les habitudes d'achat</a:t>
            </a:r>
          </a:p>
          <a:p>
            <a:pPr>
              <a:spcBef>
                <a:spcPts val="1000"/>
              </a:spcBef>
            </a:pPr>
            <a:r>
              <a:rPr sz="1000" b="1" i="0">
                <a:solidFill>
                  <a:srgbClr val="59636D"/>
                </a:solidFill>
                <a:latin typeface="Consolas"/>
              </a:rPr>
              <a:t>PSI LE VOIT ?  </a:t>
            </a:r>
            <a:r>
              <a:rPr sz="1300" b="1" i="0">
                <a:solidFill>
                  <a:srgbClr val="3F7D58"/>
                </a:solidFill>
                <a:latin typeface="Segoe UI"/>
              </a:rPr>
              <a:t>Oui — jusqu'à 0,47</a:t>
            </a:r>
          </a:p>
          <a:p>
            <a:pPr>
              <a:spcBef>
                <a:spcPts val="1000"/>
              </a:spcBef>
            </a:pPr>
            <a:r>
              <a:rPr sz="1000" b="1" i="0">
                <a:solidFill>
                  <a:srgbClr val="59636D"/>
                </a:solidFill>
                <a:latin typeface="Consolas"/>
              </a:rPr>
              <a:t>LE MODÈLE  </a:t>
            </a:r>
            <a:r>
              <a:rPr sz="1300" b="1" i="0">
                <a:solidFill>
                  <a:srgbClr val="3F7D58"/>
                </a:solidFill>
                <a:latin typeface="Segoe UI"/>
              </a:rPr>
              <a:t>continue de fonctionner (rappel 0,92)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727" y="2468880"/>
            <a:ext cx="5364327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A83F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64592" bIns="164592"/>
          <a:lstStyle/>
          <a:p>
            <a:pPr algn="ctr"/>
            <a:r>
              <a:rPr sz="1700" b="1" i="0">
                <a:solidFill>
                  <a:srgbClr val="171B22"/>
                </a:solidFill>
                <a:latin typeface="Georgia"/>
              </a:rPr>
              <a:t>Concept drift</a:t>
            </a:r>
            <a:r>
              <a:rPr sz="1100" b="0" i="0">
                <a:solidFill>
                  <a:srgbClr val="59636D"/>
                </a:solidFill>
                <a:latin typeface="Consolas"/>
              </a:rPr>
              <a:t>  semaine 3</a:t>
            </a:r>
          </a:p>
          <a:p>
            <a:pPr>
              <a:spcBef>
                <a:spcPts val="1000"/>
              </a:spcBef>
            </a:pPr>
            <a:r>
              <a:rPr sz="1000" b="1" i="0">
                <a:solidFill>
                  <a:srgbClr val="59636D"/>
                </a:solidFill>
                <a:latin typeface="Consolas"/>
              </a:rPr>
              <a:t>CE QUI BOUGE  </a:t>
            </a:r>
            <a:r>
              <a:rPr sz="1300" b="1" i="0">
                <a:solidFill>
                  <a:srgbClr val="A83F2C"/>
                </a:solidFill>
                <a:latin typeface="Segoe UI"/>
              </a:rPr>
              <a:t>P(Y|X) — le sens même de la fraude</a:t>
            </a:r>
          </a:p>
          <a:p>
            <a:pPr>
              <a:spcBef>
                <a:spcPts val="1000"/>
              </a:spcBef>
            </a:pPr>
            <a:r>
              <a:rPr sz="1000" b="1" i="0">
                <a:solidFill>
                  <a:srgbClr val="59636D"/>
                </a:solidFill>
                <a:latin typeface="Consolas"/>
              </a:rPr>
              <a:t>PSI LE VOIT ?  </a:t>
            </a:r>
            <a:r>
              <a:rPr sz="1300" b="1" i="0">
                <a:solidFill>
                  <a:srgbClr val="A83F2C"/>
                </a:solidFill>
                <a:latin typeface="Segoe UI"/>
              </a:rPr>
              <a:t>Non — max 0,006, RAS partout</a:t>
            </a:r>
          </a:p>
          <a:p>
            <a:pPr>
              <a:spcBef>
                <a:spcPts val="1000"/>
              </a:spcBef>
            </a:pPr>
            <a:r>
              <a:rPr sz="1000" b="1" i="0">
                <a:solidFill>
                  <a:srgbClr val="59636D"/>
                </a:solidFill>
                <a:latin typeface="Consolas"/>
              </a:rPr>
              <a:t>LE MODÈLE  </a:t>
            </a:r>
            <a:r>
              <a:rPr sz="1300" b="1" i="0">
                <a:solidFill>
                  <a:srgbClr val="A83F2C"/>
                </a:solidFill>
                <a:latin typeface="Segoe UI"/>
              </a:rPr>
              <a:t>s'effondre (rappel 0,072, ROC-AUC 0,278)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617720"/>
            <a:ext cx="1078992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617720"/>
            <a:ext cx="38000" cy="1051560"/>
          </a:xfrm>
          <a:prstGeom prst="rect">
            <a:avLst/>
          </a:prstGeom>
          <a:solidFill>
            <a:srgbClr val="17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4241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900" b="1" i="0">
                <a:solidFill>
                  <a:srgbClr val="171B22"/>
                </a:solidFill>
                <a:latin typeface="Georgia"/>
              </a:rPr>
              <a:t>Ce n'est pas un bug à corriger. Aucune version plus fine de PSI ou de KS ne comblera cet angle mort : par construction, ces tests ne regardent que les entrées.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064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59636D"/>
                </a:solidFill>
                <a:latin typeface="Segoe UI"/>
              </a:rPr>
              <a:t>Conséquence actée dans la drift spec : la surveillance amont ne peut jamais garantir que le modèle fonctionne — seul le KPI métier (le rappel), disponible une fois les labels arrivés, peut le confirmer.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4406B"/>
                </a:solidFill>
                <a:latin typeface="Consolas"/>
              </a:rPr>
              <a:t>ÉTAPE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71B22"/>
                </a:solidFill>
                <a:latin typeface="Georgia"/>
              </a:rPr>
              <a:t>La drift spec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4406B"/>
                </a:solidFill>
                <a:latin typeface="Consolas"/>
              </a:rPr>
              <a:t>reports/drift_spec_payguard.md </a:t>
            </a:r>
            <a:r>
              <a:rPr sz="1400" b="0" i="0">
                <a:solidFill>
                  <a:srgbClr val="59636D"/>
                </a:solidFill>
                <a:latin typeface="Segoe UI"/>
              </a:rPr>
              <a:t>fige les décisions pour que la surveillance cesse d'être arbitraire 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541004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100" b="1" i="0">
                <a:solidFill>
                  <a:srgbClr val="24406B"/>
                </a:solidFill>
                <a:latin typeface="Consolas"/>
              </a:rPr>
              <a:t>RÉFÉRENCE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300" b="0" i="0">
                <a:solidFill>
                  <a:srgbClr val="171B22"/>
                </a:solidFill>
                <a:latin typeface="Segoe UI"/>
              </a:rPr>
              <a:t>20 000 transactions, gelée avec le modèle — remplacée uniquement lors d'un réentraînement officiel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7" y="2194560"/>
            <a:ext cx="541004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100" b="1" i="0">
                <a:solidFill>
                  <a:srgbClr val="24406B"/>
                </a:solidFill>
                <a:latin typeface="Consolas"/>
              </a:rPr>
              <a:t>FENÊTRE &amp; FRÉQUENCE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300" b="0" i="0">
                <a:solidFill>
                  <a:srgbClr val="171B22"/>
                </a:solidFill>
                <a:latin typeface="Segoe UI"/>
              </a:rPr>
              <a:t>1 semaine glissante, calcul hebdomadaire, ≥ 1 000 transactions minimum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31920"/>
            <a:ext cx="541004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100" b="1" i="0">
                <a:solidFill>
                  <a:srgbClr val="24406B"/>
                </a:solidFill>
                <a:latin typeface="Consolas"/>
              </a:rPr>
              <a:t>SEUIL D'ALERTE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300" b="0" i="0">
                <a:solidFill>
                  <a:srgbClr val="171B22"/>
                </a:solidFill>
                <a:latin typeface="Segoe UI"/>
              </a:rPr>
              <a:t>PSI &gt; 0,25 sur ≥ 2 features · rappel &lt; 0,70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3931920"/>
            <a:ext cx="541004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100" b="1" i="0">
                <a:solidFill>
                  <a:srgbClr val="24406B"/>
                </a:solidFill>
                <a:latin typeface="Consolas"/>
              </a:rPr>
              <a:t>KPI MÉTIER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300" b="0" i="0">
                <a:solidFill>
                  <a:srgbClr val="171B22"/>
                </a:solidFill>
                <a:latin typeface="Segoe UI"/>
              </a:rPr>
              <a:t>rappel fraude au seuil gelé, dès que les labels tombent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0"/>
            <a:ext cx="541004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100" b="1" i="0">
                <a:solidFill>
                  <a:srgbClr val="24406B"/>
                </a:solidFill>
                <a:latin typeface="Consolas"/>
              </a:rPr>
              <a:t>RÉACTION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300" b="0" i="0">
                <a:solidFill>
                  <a:srgbClr val="171B22"/>
                </a:solidFill>
                <a:latin typeface="Segoe UI"/>
              </a:rPr>
              <a:t>PSI seul → investiguer, rapprocher d'un événement métier · rappel sous plancher → réentraînement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669280"/>
            <a:ext cx="5410047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100" b="1" i="0">
                <a:solidFill>
                  <a:srgbClr val="24406B"/>
                </a:solidFill>
                <a:latin typeface="Consolas"/>
              </a:rPr>
              <a:t>LIMITE CONNUE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300" b="0" i="0">
                <a:solidFill>
                  <a:srgbClr val="171B22"/>
                </a:solidFill>
                <a:latin typeface="Segoe UI"/>
              </a:rPr>
              <a:t>structurellement aveugle au concept drift — la semaine 3 en est la preuve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24406B"/>
                </a:solidFill>
                <a:latin typeface="Consolas"/>
              </a:rPr>
              <a:t>BILAN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71B22"/>
                </a:solidFill>
                <a:latin typeface="Georgia"/>
              </a:rPr>
              <a:t>Definition of done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901952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71B22"/>
                </a:solidFill>
                <a:latin typeface="Consolas"/>
              </a:rPr>
              <a:t>uv run python -m pytest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59636D"/>
                </a:solidFill>
                <a:latin typeface="Segoe UI"/>
              </a:rPr>
              <a:t>12 tests verts, 0 échec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862072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71B22"/>
                </a:solidFill>
                <a:latin typeface="Consolas"/>
              </a:rPr>
              <a:t>reports/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59636D"/>
                </a:solidFill>
                <a:latin typeface="Segoe UI"/>
              </a:rPr>
              <a:t>3 tables de dérive, figures/, suivi_semaines.csv, drift_spec_payguard.md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822192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71B22"/>
                </a:solidFill>
                <a:latin typeface="Consolas"/>
              </a:rPr>
              <a:t>drift_lab.py et evaluate_semaine.py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59636D"/>
                </a:solidFill>
                <a:latin typeface="Segoe UI"/>
              </a:rPr>
              <a:t>entièrement complétés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 w="19050">
            <a:solidFill>
              <a:srgbClr val="5963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782312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59636D"/>
                </a:solidFill>
                <a:latin typeface="Consolas"/>
              </a:rPr>
              <a:t>Réponses écrites Q1 → Q18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59636D"/>
                </a:solidFill>
                <a:latin typeface="Segoe UI"/>
              </a:rPr>
              <a:t>hors dépôt, à discuter en correction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