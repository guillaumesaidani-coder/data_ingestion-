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50000"/>
            <a:ext cx="10500000" cy="4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4FC3F7"/>
                </a:solidFill>
                <a:latin typeface="Segoe UI"/>
              </a:rPr>
              <a:t>SPRINT 3 CISIA · JOURNÉE DU 2 SEPTEMBRE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00000"/>
            <a:ext cx="10500000" cy="11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400" b="1">
                <a:solidFill>
                  <a:srgbClr val="E8EDF2"/>
                </a:solidFill>
                <a:latin typeface="Segoe UI"/>
              </a:rPr>
              <a:t>Sécuriser, orchestrer, empaqueter, surveiller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00000"/>
            <a:ext cx="10200000" cy="7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>
                <a:solidFill>
                  <a:srgbClr val="93A3B3"/>
                </a:solidFill>
                <a:latin typeface="Segoe UI"/>
              </a:rPr>
              <a:t>Quatre modules du parcours InduSense / PayGuard bouclés dans la même journée — d'un contrôle d'API à la détection de dérive d'un modèle en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50000"/>
            <a:ext cx="2600000" cy="7000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960" y="4650000"/>
            <a:ext cx="2300000" cy="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>
                <a:solidFill>
                  <a:srgbClr val="4FC3F7"/>
                </a:solidFill>
                <a:latin typeface="Consolas"/>
              </a:rPr>
              <a:t>M26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960" y="4930000"/>
            <a:ext cx="2300000" cy="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50" b="0">
                <a:solidFill>
                  <a:srgbClr val="E8EDF2"/>
                </a:solidFill>
                <a:latin typeface="Segoe UI"/>
              </a:rPr>
              <a:t>Sécurité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2960" y="4550000"/>
            <a:ext cx="2600000" cy="7000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2960" y="4650000"/>
            <a:ext cx="2300000" cy="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>
                <a:solidFill>
                  <a:srgbClr val="4FC3F7"/>
                </a:solidFill>
                <a:latin typeface="Consolas"/>
              </a:rPr>
              <a:t>M29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960" y="4930000"/>
            <a:ext cx="2300000" cy="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50" b="0">
                <a:solidFill>
                  <a:srgbClr val="E8EDF2"/>
                </a:solidFill>
                <a:latin typeface="Segoe UI"/>
              </a:rPr>
              <a:t>Pipeline Prefect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2960" y="4550000"/>
            <a:ext cx="2600000" cy="7000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2960" y="4650000"/>
            <a:ext cx="2300000" cy="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>
                <a:solidFill>
                  <a:srgbClr val="4FC3F7"/>
                </a:solidFill>
                <a:latin typeface="Consolas"/>
              </a:rPr>
              <a:t>M30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2960" y="4930000"/>
            <a:ext cx="2300000" cy="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50" b="0">
                <a:solidFill>
                  <a:srgbClr val="E8EDF2"/>
                </a:solidFill>
                <a:latin typeface="Segoe UI"/>
              </a:rPr>
              <a:t>Docker + Postgres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2960" y="4550000"/>
            <a:ext cx="2600000" cy="7000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2960" y="4650000"/>
            <a:ext cx="2300000" cy="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>
                <a:solidFill>
                  <a:srgbClr val="4FC3F7"/>
                </a:solidFill>
                <a:latin typeface="Consolas"/>
              </a:rPr>
              <a:t>M31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2960" y="4930000"/>
            <a:ext cx="2300000" cy="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50" b="0">
                <a:solidFill>
                  <a:srgbClr val="E8EDF2"/>
                </a:solidFill>
                <a:latin typeface="Segoe UI"/>
              </a:rPr>
              <a:t>Data drift · PayGuard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0528"/>
            <a:ext cx="8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 — Bilan pédagogique de journée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0000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50" b="1">
                <a:solidFill>
                  <a:srgbClr val="4FC3F7"/>
                </a:solidFill>
                <a:latin typeface="Segoe UI"/>
              </a:rP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02/09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E8EDF2"/>
                </a:solidFill>
                <a:latin typeface="Segoe UI"/>
              </a:rPr>
              <a:t>Quatre modules, une même préoccupation : le prouver, pas le supposer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0000"/>
            <a:ext cx="11155680" cy="4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4FC3F7"/>
                </a:solidFill>
                <a:latin typeface="Segoe UI"/>
              </a:rPr>
              <a:t>01 · M26 — Sécurité</a:t>
            </a:r>
          </a:p>
          <a:p>
            <a:pPr>
              <a:spcAft>
                <a:spcPts val="1600"/>
              </a:spcAft>
            </a:pPr>
            <a:r>
              <a:rPr sz="1350" b="0">
                <a:solidFill>
                  <a:srgbClr val="93A3B3"/>
                </a:solidFill>
                <a:latin typeface="Segoe UI"/>
              </a:rPr>
              <a:t>Quatre contrôles d'API prouvés par des tests, un cinquième assumé comme dette.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4FC3F7"/>
                </a:solidFill>
                <a:latin typeface="Segoe UI"/>
              </a:rPr>
              <a:t>02 · M29 — Pipeline Prefect</a:t>
            </a:r>
          </a:p>
          <a:p>
            <a:pPr>
              <a:spcAft>
                <a:spcPts val="1600"/>
              </a:spcAft>
            </a:pPr>
            <a:r>
              <a:rPr sz="1350" b="0">
                <a:solidFill>
                  <a:srgbClr val="93A3B3"/>
                </a:solidFill>
                <a:latin typeface="Segoe UI"/>
              </a:rPr>
              <a:t>Un script devient un flow rejouable : cache d'empreinte, stockage idempotent.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4FC3F7"/>
                </a:solidFill>
                <a:latin typeface="Segoe UI"/>
              </a:rPr>
              <a:t>03 · M30 — Empaqueter le flow, brancher Postgres</a:t>
            </a:r>
          </a:p>
          <a:p>
            <a:pPr>
              <a:spcAft>
                <a:spcPts val="1600"/>
              </a:spcAft>
            </a:pPr>
            <a:r>
              <a:rPr sz="1350" b="0">
                <a:solidFill>
                  <a:srgbClr val="93A3B3"/>
                </a:solidFill>
                <a:latin typeface="Segoe UI"/>
              </a:rPr>
              <a:t>Le paquet, pas le script racine, entre dans l'image — un seul SQL pour SQLite et Postgres.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4FC3F7"/>
                </a:solidFill>
                <a:latin typeface="Segoe UI"/>
              </a:rPr>
              <a:t>04 · M31 — Data drift, l'affaire PayGuard</a:t>
            </a:r>
          </a:p>
          <a:p>
            <a:pPr>
              <a:spcAft>
                <a:spcPts val="1600"/>
              </a:spcAft>
            </a:pPr>
            <a:r>
              <a:rPr sz="1350" b="0">
                <a:solidFill>
                  <a:srgbClr val="93A3B3"/>
                </a:solidFill>
                <a:latin typeface="Segoe UI"/>
              </a:rPr>
              <a:t>PSI/KS codés à la main ; trois semaines de production auditées, un concept drift démasqué.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0000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50" b="1">
                <a:solidFill>
                  <a:srgbClr val="4FC3F7"/>
                </a:solidFill>
                <a:latin typeface="Segoe UI"/>
              </a:rPr>
              <a:t>01 · M26 — SÉCURITÉ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03/09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E8EDF2"/>
                </a:solidFill>
                <a:latin typeface="Segoe UI"/>
              </a:rPr>
              <a:t>Quatre contrôles prouvés, un cinquième assumé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0000"/>
            <a:ext cx="5450000" cy="3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Démarche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penser comme un attaquant (grille STRIDE) plutôt que cocher une checklist générique.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Preuve, pas déclaration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chaque contrôle « Implémenté » a un test qui déclenche le code d'erreur attendu.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La dette assumée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l'audit logging reste « Planifié v0 » : le X-Request-ID trace une requête, ce n'est pas un événement de sécurité structuré.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00000" y="1500000"/>
          <a:ext cx="5560000" cy="21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0000"/>
                <a:gridCol w="1450000"/>
                <a:gridCol w="2560000"/>
              </a:tblGrid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Contrôle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Statut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Preuve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1C784"/>
                          </a:solidFill>
                          <a:latin typeface="Segoe UI"/>
                        </a:rPr>
                        <a:t>Implémenté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401 sans clé / clé invalide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1C784"/>
                          </a:solidFill>
                          <a:latin typeface="Segoe UI"/>
                        </a:rPr>
                        <a:t>Implémenté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422 payload invalide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Rate limit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1C784"/>
                          </a:solidFill>
                          <a:latin typeface="Segoe UI"/>
                        </a:rPr>
                        <a:t>Implémenté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429 au 61ᵉ appel/min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Taille payload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1C784"/>
                          </a:solidFill>
                          <a:latin typeface="Segoe UI"/>
                        </a:rPr>
                        <a:t>Implémenté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413 &gt; 64 Ko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Audit logging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2B84B"/>
                          </a:solidFill>
                          <a:latin typeface="Segoe UI"/>
                        </a:rPr>
                        <a:t>Planifié v0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aucun événement structuré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100000"/>
            <a:ext cx="11155680" cy="10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50" b="1">
                <a:solidFill>
                  <a:srgbClr val="4FC3F7"/>
                </a:solidFill>
                <a:latin typeface="Segoe UI"/>
              </a:rPr>
              <a:t>À retenir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un contrôle « fait » veut dire : un test l'exerce et échoue si on le retire. Le reste est une intention, pas une preuve.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0000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50" b="1">
                <a:solidFill>
                  <a:srgbClr val="4FC3F7"/>
                </a:solidFill>
                <a:latin typeface="Segoe UI"/>
              </a:rPr>
              <a:t>02 · M29 — PIPELINE PREFECT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04/09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E8EDF2"/>
                </a:solidFill>
                <a:latin typeface="Segoe UI"/>
              </a:rPr>
              <a:t>D'un script anxiogène à un flow rejouable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50000"/>
            <a:ext cx="5450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Deux fichiers, une logique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flows/pipeline.py (façade, 17 lignes) délègue tout à src/indusense/flows/predict_flow.py.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4 tasks enchaînées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build_gold_dataset → ensure_model → predict_latest → store_predictions.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Cache par empreinte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build_gold_dataset est décorée cache_key_fn=... : pas de recalcul si les fichiers source n'ont pas changé.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Reprise sur le modèle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ensure_model réutilise le modèle existant au lieu de le ré-entraîner à chaque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1450000"/>
            <a:ext cx="5560000" cy="39000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1620000"/>
            <a:ext cx="5060000" cy="32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93A3B3"/>
                </a:solidFill>
                <a:latin typeface="Segoe UI"/>
              </a:rPr>
              <a:t>STORE_PREDICTIONS — L'UPSERT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1980000"/>
            <a:ext cx="5060000" cy="32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INSERT INTO predictions</a:t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  (machine, observed_at, score,</a:t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   decision, model_version, scored_at)</a:t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VALUES (...)</a:t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ON CONFLICT (machine, observed_at)</a:t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DO UPDATE SET</a:t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  score = excluded.score, ...</a:t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/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-&gt; relancer le flow plusieurs fois</a:t>
            </a:r>
          </a:p>
          <a:p>
            <a:pPr algn="l"/>
            <a:r>
              <a:rPr sz="1250" b="0">
                <a:solidFill>
                  <a:srgbClr val="E8EDF2"/>
                </a:solidFill>
                <a:latin typeface="Consolas"/>
              </a:rPr>
              <a:t>   ne fait JAMAIS grossir la 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550000"/>
            <a:ext cx="11155680" cy="7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50" b="1">
                <a:solidFill>
                  <a:srgbClr val="4FC3F7"/>
                </a:solidFill>
                <a:latin typeface="Segoe UI"/>
              </a:rPr>
              <a:t>Preuve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demo_prefect_idempotence.py relance le flow deux fois et vérifie que rows_in_db ne bouge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0000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50" b="1">
                <a:solidFill>
                  <a:srgbClr val="4FC3F7"/>
                </a:solidFill>
                <a:latin typeface="Segoe UI"/>
              </a:rPr>
              <a:t>03 · M30 — EMPAQUETER LE FLOW, BRANCHER POSTGRES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05/09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E8EDF2"/>
                </a:solidFill>
                <a:latin typeface="Segoe UI"/>
              </a:rPr>
              <a:t>Le paquet est la vérité, le script racine une façade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50000"/>
            <a:ext cx="545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4FC3F7"/>
                </a:solidFill>
                <a:latin typeface="Segoe UI"/>
              </a:rPr>
              <a:t>Le piège — </a:t>
            </a:r>
            <a:r>
              <a:rPr sz="1300" b="0">
                <a:solidFill>
                  <a:srgbClr val="E8EDF2"/>
                </a:solidFill>
                <a:latin typeface="Segoe UI"/>
              </a:rPr>
              <a:t>COPY src ./src : seul src/ entre dans l'image Docker. Un script resté à la racine n'existe pas dans le conteneur.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4FC3F7"/>
                </a:solidFill>
                <a:latin typeface="Segoe UI"/>
              </a:rPr>
              <a:t>La solution — </a:t>
            </a:r>
            <a:r>
              <a:rPr sz="1300" b="0">
                <a:solidFill>
                  <a:srgbClr val="E8EDF2"/>
                </a:solidFill>
                <a:latin typeface="Segoe UI"/>
              </a:rPr>
              <a:t>la logique canonique vit sous src/indusense/flows/ ; le script racine ne fait qu'importer et appeler main().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4FC3F7"/>
                </a:solidFill>
                <a:latin typeface="Segoe UI"/>
              </a:rPr>
              <a:t>Le stockage portable — </a:t>
            </a:r>
            <a:r>
              <a:rPr sz="1300" b="0">
                <a:solidFill>
                  <a:srgbClr val="E8EDF2"/>
                </a:solidFill>
                <a:latin typeface="Segoe UI"/>
              </a:rPr>
              <a:t>une URL (INDUSENSE_DB_URL) pilote un engine SQLAlchemy ; le même upsert marche sur SQLite et PostgreSQL.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00000" y="1450000"/>
          <a:ext cx="5560000" cy="24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/>
                <a:gridCol w="1350000"/>
                <a:gridCol w="2310000"/>
              </a:tblGrid>
              <a:tr h="49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Contrôle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Statut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Preuve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Flow empaqueté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1C784"/>
                          </a:solidFill>
                          <a:latin typeface="Segoe UI"/>
                        </a:rPr>
                        <a:t>Implémenté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src/indusense/flows/predict_flow.py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Stockage portable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1C784"/>
                          </a:solidFill>
                          <a:latin typeface="Segoe UI"/>
                        </a:rPr>
                        <a:t>Implémenté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même upsert SQLite / Postgres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Idempotence Postgres réel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1C784"/>
                          </a:solidFill>
                          <a:latin typeface="Segoe UI"/>
                        </a:rPr>
                        <a:t>Implémenté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count = 4 après 2 exécutions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Non-régression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1C784"/>
                          </a:solidFill>
                          <a:latin typeface="Segoe UI"/>
                        </a:rPr>
                        <a:t>Implémenté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pytest -q -&gt; 26 passed, 5 skipped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00000"/>
            <a:ext cx="11155680" cy="19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Ajouté aujourd'hui au support du module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une slide « LE MÉCANISME » qui déplie le chemin d'une écriture : INDUSENSE_DB_URL → create_engine(url) → Engine SQLAlchemy → sqlite:/// ou postgresql+psycopg://... → engine.execute(_UPSERT_SQL) — même texte SQL des deux côtés.</a:t>
            </a:r>
          </a:p>
          <a:p>
            <a:pPr algn="l"/>
            <a:r>
              <a:rPr sz="1350" b="1">
                <a:solidFill>
                  <a:srgbClr val="4FC3F7"/>
                </a:solidFill>
                <a:latin typeface="Segoe UI"/>
              </a:rPr>
              <a:t>Piège rencontré (Windows)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Git Bash réécrit les chemins Unix passés à docker compose ; export MSYS_NO_PATHCONV=1 corrige — ce n'est pas un bug du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0000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50" b="1">
                <a:solidFill>
                  <a:srgbClr val="4FC3F7"/>
                </a:solidFill>
                <a:latin typeface="Segoe UI"/>
              </a:rPr>
              <a:t>04 · M31 — DATA DRIFT, L'AFFAIRE PAYGUARD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06/09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E8EDF2"/>
                </a:solidFill>
                <a:latin typeface="Segoe UI"/>
              </a:rPr>
              <a:t>Le monitoring des entrées peut être aveugle — et se taire au pire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50000"/>
            <a:ext cx="5450000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4FC3F7"/>
                </a:solidFill>
                <a:latin typeface="Segoe UI"/>
              </a:rPr>
              <a:t>Le dispositif — </a:t>
            </a:r>
            <a:r>
              <a:rPr sz="1300" b="0">
                <a:solidFill>
                  <a:srgbClr val="E8EDF2"/>
                </a:solidFill>
                <a:latin typeface="Segoe UI"/>
              </a:rPr>
              <a:t>PSI et KS codés à la main (scripts/drift_lab.py) pour auditer 3 semaines de production sans labels.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4FC3F7"/>
                </a:solidFill>
                <a:latin typeface="Segoe UI"/>
              </a:rPr>
              <a:t>Le seuil gelé — </a:t>
            </a:r>
            <a:r>
              <a:rPr sz="1300" b="0">
                <a:solidFill>
                  <a:srgbClr val="E8EDF2"/>
                </a:solidFill>
                <a:latin typeface="Segoe UI"/>
              </a:rPr>
              <a:t>modèle et seuil (0,03) figés sur la validation, coût FN 50 € ≫ FP 2 € — jamais rechoisis sur la production.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4FC3F7"/>
                </a:solidFill>
                <a:latin typeface="Segoe UI"/>
              </a:rPr>
              <a:t>Le piège pédagogique — </a:t>
            </a:r>
            <a:r>
              <a:rPr sz="1300" b="0">
                <a:solidFill>
                  <a:srgbClr val="E8EDF2"/>
                </a:solidFill>
                <a:latin typeface="Segoe UI"/>
              </a:rPr>
              <a:t>semaine 3 : PSI/KS restent muets sur les entrées, alors que le modèle s'effondre une fois les labels arrivés.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00000" y="1450000"/>
          <a:ext cx="5560000" cy="24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/>
                <a:gridCol w="1830000"/>
                <a:gridCol w="1830000"/>
              </a:tblGrid>
              <a:tr h="612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Semaine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PSI entrées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Rappel · ROC-AUC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</a:tr>
              <a:tr h="612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1 — normale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0,008 · RAS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0,786 · 0,851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612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2 — Vente Flash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0,471 · ALERTE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0,923 · 0,824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612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3 — silencieuse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0,006 · RAS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0,072 · 0,278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00000"/>
            <a:ext cx="11155680" cy="19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Verdict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semaine 2 = covariate drift, visible et bruyant sans les labels ; semaine 3 = concept drift, invisible pour PSI/KS (P(X) inchangée) mais un rappel qui tombe à 0,072 et une ROC-AUC à 0,278 (pire que le hasard).</a:t>
            </a:r>
          </a:p>
          <a:p>
            <a:pPr algn="l"/>
            <a:r>
              <a:rPr sz="1350" b="1">
                <a:solidFill>
                  <a:srgbClr val="4FC3F7"/>
                </a:solidFill>
                <a:latin typeface="Segoe UI"/>
              </a:rPr>
              <a:t>Où trouver le détail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dossier complet (20 slides, 18 questions traitées) dans reports/dossier_payguard.pptx, dépôt CISIA_24082026_PayGuard, branche guillaume-saidani.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0000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50" b="1">
                <a:solidFill>
                  <a:srgbClr val="4FC3F7"/>
                </a:solidFill>
                <a:latin typeface="Segoe UI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07/09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E8EDF2"/>
                </a:solidFill>
                <a:latin typeface="Segoe UI"/>
              </a:rPr>
              <a:t>Ce que ces quatre modules ont en commun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0000"/>
            <a:ext cx="1115568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4FC3F7"/>
                </a:solidFill>
                <a:latin typeface="Segoe UI"/>
              </a:rPr>
              <a:t>Prouver, pas déclarer — </a:t>
            </a:r>
            <a:r>
              <a:rPr sz="1450" b="0">
                <a:solidFill>
                  <a:srgbClr val="E8EDF2"/>
                </a:solidFill>
                <a:latin typeface="Segoe UI"/>
              </a:rPr>
              <a:t>un test rouge/vert (M26), une table qui ne grossit pas après 2 exécutions (M29, M30), un rappel mesuré après coup contre un verdict PSI donné avant (M31).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4FC3F7"/>
                </a:solidFill>
                <a:latin typeface="Segoe UI"/>
              </a:rPr>
              <a:t>Une seule logique, plusieurs façades — </a:t>
            </a:r>
            <a:r>
              <a:rPr sz="1450" b="0">
                <a:solidFill>
                  <a:srgbClr val="E8EDF2"/>
                </a:solidFill>
                <a:latin typeface="Segoe UI"/>
              </a:rPr>
              <a:t>flows/pipeline.py délègue à src/indusense/ (M29-M30) ; la drift spec (M31) fige des décisions que l'outil (Evidently ou fait main) ne fait qu'exécuter.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4FC3F7"/>
                </a:solidFill>
                <a:latin typeface="Segoe UI"/>
              </a:rPr>
              <a:t>Un seuil ou un contrôle gelé n'est honnête que figé — </a:t>
            </a:r>
            <a:r>
              <a:rPr sz="1450" b="0">
                <a:solidFill>
                  <a:srgbClr val="E8EDF2"/>
                </a:solidFill>
                <a:latin typeface="Segoe UI"/>
              </a:rPr>
              <a:t>le seuil de coût (M31) et les contrôles d'API (M26) ne se recalibrent pas après coup sur les données qu'ils sont censés surveiller.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4FC3F7"/>
                </a:solidFill>
                <a:latin typeface="Segoe UI"/>
              </a:rPr>
              <a:t>La limite structurelle vient toujours après la preuve — </a:t>
            </a:r>
            <a:r>
              <a:rPr sz="1450" b="0">
                <a:solidFill>
                  <a:srgbClr val="E8EDF2"/>
                </a:solidFill>
                <a:latin typeface="Segoe UI"/>
              </a:rPr>
              <a:t>l'audit logging manquant (M26), le concept drift invisible (M31) : savoir ce qu'un dispositif ne voit pas fait partie du dispositif.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0000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50" b="1">
                <a:solidFill>
                  <a:srgbClr val="4FC3F7"/>
                </a:solidFill>
                <a:latin typeface="Segoe UI"/>
              </a:rPr>
              <a:t>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08/09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E8EDF2"/>
                </a:solidFill>
                <a:latin typeface="Segoe UI"/>
              </a:rPr>
              <a:t>Definition of done — ce qui a été prouvé aujourd'hui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0000"/>
          <a:ext cx="11155680" cy="3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0000"/>
                <a:gridCol w="5860000"/>
                <a:gridCol w="1495680"/>
              </a:tblGrid>
              <a:tr h="6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Preuve principale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3A3B3"/>
                          </a:solidFill>
                          <a:latin typeface="Segoe UI"/>
                        </a:rPr>
                        <a:t>Statut</a:t>
                      </a:r>
                    </a:p>
                  </a:txBody>
                  <a:tcPr marL="91440" marT="45720" marB="45720" anchor="ctr">
                    <a:solidFill>
                      <a:srgbClr val="2A3644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M26 — Sécurité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DF2"/>
                          </a:solidFill>
                          <a:latin typeface="Segoe UI"/>
                        </a:rPr>
                        <a:t>4/5 contrôles testés (401/422/429/413)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Vert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M29 — Pipeline Prefect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DF2"/>
                          </a:solidFill>
                          <a:latin typeface="Segoe UI"/>
                        </a:rPr>
                        <a:t>demo_prefect_idempotence.py : rows_in_db stable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Vert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M30 — Docker + Postgres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DF2"/>
                          </a:solidFill>
                          <a:latin typeface="Segoe UI"/>
                        </a:rPr>
                        <a:t>pytest -q -&gt; 26 passed, 5 skipped ; count=4 en Postgres réel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Vert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Segoe UI"/>
                        </a:rPr>
                        <a:t>M31 — PayGuard / drift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DF2"/>
                          </a:solidFill>
                          <a:latin typeface="Segoe UI"/>
                        </a:rPr>
                        <a:t>uv run python -m pytest -&gt; 12 passed, 0 failed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DF2"/>
                          </a:solidFill>
                          <a:latin typeface="Consolas"/>
                        </a:rPr>
                        <a:t>Vert</a:t>
                      </a:r>
                    </a:p>
                  </a:txBody>
                  <a:tcPr marL="91440" marT="36576" marB="36576" anchor="ctr">
                    <a:solidFill>
                      <a:srgbClr val="171F2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100000"/>
            <a:ext cx="11155680" cy="10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50" b="1">
                <a:solidFill>
                  <a:srgbClr val="4FC3F7"/>
                </a:solidFill>
                <a:latin typeface="Segoe UI"/>
              </a:rPr>
              <a:t>Reste à faire — </a:t>
            </a:r>
            <a:r>
              <a:rPr sz="1350" b="0">
                <a:solidFill>
                  <a:srgbClr val="E8EDF2"/>
                </a:solidFill>
                <a:latin typeface="Segoe UI"/>
              </a:rPr>
              <a:t>réponses écrites Q1→Q18 du TP PayGuard (à rédiger par l'apprenant, discutées en correction) ; rien n'est commité ni poussé sur les deux dépôts.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00000"/>
            <a:ext cx="8000000" cy="5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>
                <a:solidFill>
                  <a:srgbClr val="4FC3F7"/>
                </a:solidFill>
                <a:latin typeface="Segoe UI"/>
              </a:rPr>
              <a:t>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0000"/>
            <a:ext cx="1115568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E8EDF2"/>
                </a:solidFill>
                <a:latin typeface="Segoe UI"/>
              </a:rPr>
              <a:t>▸  Sécuriser un service, c'est le tester en échec, pas décrire ses intentions (M26).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DF2"/>
                </a:solidFill>
                <a:latin typeface="Segoe UI"/>
              </a:rPr>
              <a:t>▸  Orchestrer, c'est rendre un script rejouable sans dupliquer sa logique (M29).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DF2"/>
                </a:solidFill>
                <a:latin typeface="Segoe UI"/>
              </a:rPr>
              <a:t>▸  Empaqueter, c'est décider ce qui vit dans le paquet et ce qui reste une façade (M30).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8EDF2"/>
                </a:solidFill>
                <a:latin typeface="Segoe UI"/>
              </a:rPr>
              <a:t>▸  Surveiller, c'est savoir ce que son propre dispositif est structurellement incapable de voir (M31).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00000"/>
            <a:ext cx="11155680" cy="7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4FC3F7"/>
                </a:solidFill>
                <a:latin typeface="Segoe UI"/>
              </a:rPr>
              <a:t>Suite du parcours — </a:t>
            </a:r>
            <a:r>
              <a:rPr sz="1400" b="0">
                <a:solidFill>
                  <a:srgbClr val="93A3B3"/>
                </a:solidFill>
                <a:latin typeface="Segoe UI"/>
              </a:rPr>
              <a:t>M32 automatise la drift spec dans le flow Prefect (rapport + alerte anti-bruit) ; M33-M34 branchent l'observabilité (Prometheus/Grafana) sur InduSense.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00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50" b="0">
                <a:solidFill>
                  <a:srgbClr val="93A3B3"/>
                </a:solidFill>
                <a:latin typeface="Segoe UI"/>
              </a:rPr>
              <a:t>InduSense · Sprint 3 CISIA — Bilan pédagogique de journée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