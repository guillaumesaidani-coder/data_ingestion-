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A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F6FED"/>
                </a:solidFill>
                <a:latin typeface="Calibri"/>
              </a:rPr>
              <a:t>MODULE 29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56032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Du script au flow Prefect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5661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C7D2E3"/>
                </a:solidFill>
                <a:latin typeface="Calibri"/>
              </a:rPr>
              <a:t>Reprise sans duplication, cache intelligent et stockage idempotent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B6677"/>
                </a:solidFill>
                <a:latin typeface="Calibri"/>
              </a:rPr>
              <a:t>InduSense — pipeline ingest → gold → train → predict → store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F6FED"/>
                </a:solidFill>
                <a:latin typeface="Calibri"/>
              </a:rPr>
              <a:t>CONTEXTE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11A2B"/>
                </a:solidFill>
                <a:latin typeface="Calibri"/>
              </a:rPr>
              <a:t>Le problème d'un script relancé à la main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005840" cy="4572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737360"/>
            <a:ext cx="6583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1">
                <a:solidFill>
                  <a:srgbClr val="111A2B"/>
                </a:solidFill>
                <a:latin typeface="Calibri"/>
              </a:rPr>
              <a:t>« Si je relance ce script, est-ce que ça va dupliquer quelque chose ? 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60320"/>
            <a:ext cx="63093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111A2B"/>
                </a:solidFill>
                <a:latin typeface="Calibri"/>
              </a:rPr>
              <a:t>▸ Un script d'entraînement/prédiction classique n'a pas de mémoire</a:t>
            </a:r>
          </a:p>
          <a:p>
            <a:pPr lvl="1">
              <a:spcAft>
                <a:spcPts val="1000"/>
              </a:spcAft>
            </a:pPr>
            <a:r>
              <a:rPr sz="1500" b="0">
                <a:solidFill>
                  <a:srgbClr val="5B6677"/>
                </a:solidFill>
                <a:latin typeface="Calibri"/>
              </a:rPr>
              <a:t>– Chaque exécution repart de zéro : relire les fichiers, réentraîner, réécrire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111A2B"/>
                </a:solidFill>
                <a:latin typeface="Calibri"/>
              </a:rPr>
              <a:t>▸ Deux risques concrets</a:t>
            </a:r>
          </a:p>
          <a:p>
            <a:pPr lvl="1">
              <a:spcAft>
                <a:spcPts val="1000"/>
              </a:spcAft>
            </a:pPr>
            <a:r>
              <a:rPr sz="1500" b="0">
                <a:solidFill>
                  <a:srgbClr val="5B6677"/>
                </a:solidFill>
                <a:latin typeface="Calibri"/>
              </a:rPr>
              <a:t>– Duplication : les prédictions s'accumulent en base à chaque run</a:t>
            </a:r>
          </a:p>
          <a:p>
            <a:pPr lvl="1">
              <a:spcAft>
                <a:spcPts val="1000"/>
              </a:spcAft>
            </a:pPr>
            <a:r>
              <a:rPr sz="1500" b="0">
                <a:solidFill>
                  <a:srgbClr val="5B6677"/>
                </a:solidFill>
                <a:latin typeface="Calibri"/>
              </a:rPr>
              <a:t>– Gaspillage : on refait un travail déjà fait (ingestion, entraînement)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111A2B"/>
                </a:solidFill>
                <a:latin typeface="Calibri"/>
              </a:rPr>
              <a:t>▸ Objectif du module 29</a:t>
            </a:r>
          </a:p>
          <a:p>
            <a:pPr lvl="1">
              <a:spcAft>
                <a:spcPts val="1000"/>
              </a:spcAft>
            </a:pPr>
            <a:r>
              <a:rPr sz="1500" b="0">
                <a:solidFill>
                  <a:srgbClr val="5B6677"/>
                </a:solidFill>
                <a:latin typeface="Calibri"/>
              </a:rPr>
              <a:t>– Transformer ce script en flow Prefect : étapes nommées, reprise, stockage idempotent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7406640" y="1828800"/>
            <a:ext cx="4206240" cy="3840480"/>
          </a:xfrm>
          <a:prstGeom prst="rect">
            <a:avLst/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0" y="20116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F6FED"/>
                </a:solidFill>
                <a:latin typeface="Calibri"/>
              </a:rPr>
              <a:t>Un flow, si.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0" y="2468880"/>
            <a:ext cx="36576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11A2B"/>
                </a:solidFill>
                <a:latin typeface="Calibri"/>
              </a:rPr>
              <a:t>Prefect ajoute une couche de mémoire au script : cache par empreinte de données, tasks nommées et rejouables, run identifiable — sans changer la logique métier.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B6677"/>
                </a:solidFill>
                <a:latin typeface="Calibri"/>
              </a:rPr>
              <a:t>Module 29 — Pipeline Prefect (InduSense)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B6677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F6FED"/>
                </a:solidFill>
                <a:latin typeface="Calibri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11A2B"/>
                </a:solidFill>
                <a:latin typeface="Calibri"/>
              </a:rPr>
              <a:t>Deux fichiers, une seule logique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005840" cy="4572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5120640" cy="146304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6596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11A2B"/>
                </a:solidFill>
                <a:latin typeface="Calibri"/>
              </a:rPr>
              <a:t>flows/pipeline.py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331720"/>
            <a:ext cx="4663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B6677"/>
                </a:solidFill>
                <a:latin typeface="Calibri"/>
              </a:rPr>
              <a:t>Point d'entrée fin (17 lignes). Aucune logique propre : délègue à indusense.flows.predict_flow. Sert de commande de preuve pour le jalon.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806440" y="2331720"/>
            <a:ext cx="822960" cy="457200"/>
          </a:xfrm>
          <a:prstGeom prst="rightArrow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766560" y="1828800"/>
            <a:ext cx="4892040" cy="1463040"/>
          </a:xfrm>
          <a:prstGeom prst="rect">
            <a:avLst/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95160" y="196596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F6FED"/>
                </a:solidFill>
                <a:latin typeface="Calibri"/>
              </a:rPr>
              <a:t>indusense/flows/predict_flow.py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95160" y="2331720"/>
            <a:ext cx="4480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11A2B"/>
                </a:solidFill>
                <a:latin typeface="Calibri"/>
              </a:rPr>
              <a:t>Le vrai flow Prefect : 4 tasks + logique de cache/reprise/upsert. Empaqueté, réutilisable en conteneur (module 30).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56616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11A2B"/>
                </a:solidFill>
                <a:latin typeface="Calibri"/>
              </a:rPr>
              <a:t>Deux points d'exécution possibles 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97763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111A2B"/>
                </a:solidFill>
                <a:latin typeface="Calibri"/>
              </a:rPr>
              <a:t>▸ uv run --frozen python flows/pipeline.py  →  preuve locale du jalon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11A2B"/>
                </a:solidFill>
                <a:latin typeface="Calibri"/>
              </a:rPr>
              <a:t>▸ python -m indusense.flows.predict_flow  →  exécution dans le conteneur API (docker compose run, module 30)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1206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1">
                <a:solidFill>
                  <a:srgbClr val="5B6677"/>
                </a:solidFill>
                <a:latin typeface="Calibri"/>
              </a:rPr>
              <a:t>Pourquoi séparer ? Pour ne jamais dupliquer la logique du flow entre le script racine et le module empaqueté : un seul et même code, deux façons de le lancer.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B6677"/>
                </a:solidFill>
                <a:latin typeface="Calibri"/>
              </a:rPr>
              <a:t>Module 29 — Pipeline Prefect (InduSense)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B6677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F6FED"/>
                </a:solidFill>
                <a:latin typeface="Calibri"/>
              </a:rPr>
              <a:t>LE FLOW PREFECT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11A2B"/>
                </a:solidFill>
                <a:latin typeface="Calibri"/>
              </a:rPr>
              <a:t>indusense_pipeline : 4 tasks enchaînées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005840" cy="4572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2011680"/>
            <a:ext cx="2651760" cy="27432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011680"/>
            <a:ext cx="2651760" cy="64008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1945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11A2B"/>
                </a:solidFill>
                <a:latin typeface="Calibri"/>
              </a:rPr>
              <a:t>1. build_gold_dataset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880360"/>
            <a:ext cx="2377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B6677"/>
                </a:solidFill>
                <a:latin typeface="Calibri"/>
              </a:rPr>
              <a:t>Ingestion + jointure + features temporelles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3977640"/>
            <a:ext cx="2377440" cy="594360"/>
          </a:xfrm>
          <a:prstGeom prst="rect">
            <a:avLst/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4041648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11A2B"/>
                </a:solidFill>
                <a:latin typeface="Calibri"/>
              </a:rPr>
              <a:t>Cache par empreinte
des fichiers source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136391" y="3246120"/>
            <a:ext cx="274320" cy="274320"/>
          </a:xfrm>
          <a:prstGeom prst="rightArrow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29000" y="2011680"/>
            <a:ext cx="2651760" cy="27432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29000" y="2011680"/>
            <a:ext cx="2651760" cy="64008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66160" y="21945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11A2B"/>
                </a:solidFill>
                <a:latin typeface="Calibri"/>
              </a:rPr>
              <a:t>2. ensure_model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880360"/>
            <a:ext cx="2377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B6677"/>
                </a:solidFill>
                <a:latin typeface="Calibri"/>
              </a:rPr>
              <a:t>Entraîne le modèle (RandomForest)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66160" y="3977640"/>
            <a:ext cx="2377440" cy="594360"/>
          </a:xfrm>
          <a:prstGeom prst="rect">
            <a:avLst/>
          </a:prstGeom>
          <a:solidFill>
            <a:srgbClr val="EE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0" y="4041648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11A2B"/>
                </a:solidFill>
                <a:latin typeface="Calibri"/>
              </a:rPr>
              <a:t>Reprise : réutilise
le modèle existant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6108192" y="3246120"/>
            <a:ext cx="274320" cy="274320"/>
          </a:xfrm>
          <a:prstGeom prst="rightArrow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0" y="2011680"/>
            <a:ext cx="2651760" cy="27432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0" y="2011680"/>
            <a:ext cx="2651760" cy="64008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37960" y="21945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11A2B"/>
                </a:solidFill>
                <a:latin typeface="Calibri"/>
              </a:rPr>
              <a:t>3. predict_latest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2880360"/>
            <a:ext cx="2377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B6677"/>
                </a:solidFill>
                <a:latin typeface="Calibri"/>
              </a:rPr>
              <a:t>Score la dernière observation
de chaque machine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37960" y="3977640"/>
            <a:ext cx="2377440" cy="594360"/>
          </a:xfrm>
          <a:prstGeom prst="rect">
            <a:avLst/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29400" y="4041648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11A2B"/>
                </a:solidFill>
                <a:latin typeface="Calibri"/>
              </a:rPr>
              <a:t>Pas de recalcul
de l'historique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9079992" y="3246120"/>
            <a:ext cx="274320" cy="274320"/>
          </a:xfrm>
          <a:prstGeom prst="rightArrow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372600" y="2011680"/>
            <a:ext cx="2651760" cy="27432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372600" y="2011680"/>
            <a:ext cx="2651760" cy="64008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509760" y="21945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11A2B"/>
                </a:solidFill>
                <a:latin typeface="Calibri"/>
              </a:rPr>
              <a:t>4. store_predictions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09760" y="2880360"/>
            <a:ext cx="2377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B6677"/>
                </a:solidFill>
                <a:latin typeface="Calibri"/>
              </a:rPr>
              <a:t>Écrit les scores en base
(Postgres / SQLite)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09760" y="3977640"/>
            <a:ext cx="2377440" cy="594360"/>
          </a:xfrm>
          <a:prstGeom prst="rect">
            <a:avLst/>
          </a:prstGeom>
          <a:solidFill>
            <a:srgbClr val="EE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01200" y="4041648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11A2B"/>
                </a:solidFill>
                <a:latin typeface="Calibri"/>
              </a:rPr>
              <a:t>Upsert = idempotent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51206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1">
                <a:solidFill>
                  <a:srgbClr val="5B6677"/>
                </a:solidFill>
                <a:latin typeface="Calibri"/>
              </a:rPr>
              <a:t>Résultat renvoyé : { rows_scored, rows_in_db, db_url } — traçable, réutilisé par la preuve d'idempotence.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B6677"/>
                </a:solidFill>
                <a:latin typeface="Calibri"/>
              </a:rPr>
              <a:t>Module 29 — Pipeline Prefect (InduSense)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33856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B6677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F6FED"/>
                </a:solidFill>
                <a:latin typeface="Calibri"/>
              </a:rPr>
              <a:t>MÉCANISME CLÉ #1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11A2B"/>
                </a:solidFill>
                <a:latin typeface="Calibri"/>
              </a:rPr>
              <a:t>Le cache par empreinte de données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005840" cy="4572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60350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50" b="1">
                <a:solidFill>
                  <a:srgbClr val="111A2B"/>
                </a:solidFill>
                <a:latin typeface="Calibri"/>
              </a:rPr>
              <a:t>▸ build_gold_dataset est décorée @task(cache_key_fn=..., persist_result=True)</a:t>
            </a:r>
          </a:p>
          <a:p>
            <a:pPr>
              <a:spcAft>
                <a:spcPts val="1000"/>
              </a:spcAft>
            </a:pPr>
            <a:r>
              <a:rPr sz="1650" b="1">
                <a:solidFill>
                  <a:srgbClr val="111A2B"/>
                </a:solidFill>
                <a:latin typeface="Calibri"/>
              </a:rPr>
              <a:t>▸ La clé de cache = un hash SHA-256 des 3 fichiers source</a:t>
            </a:r>
          </a:p>
          <a:p>
            <a:pPr lvl="1">
              <a:spcAft>
                <a:spcPts val="1000"/>
              </a:spcAft>
            </a:pPr>
            <a:r>
              <a:rPr sz="1450" b="0">
                <a:solidFill>
                  <a:srgbClr val="5B6677"/>
                </a:solidFill>
                <a:latin typeface="Calibri"/>
              </a:rPr>
              <a:t>– mtime + taille de chaque fichier, + le paramètre window_hours</a:t>
            </a:r>
          </a:p>
          <a:p>
            <a:pPr>
              <a:spcAft>
                <a:spcPts val="1000"/>
              </a:spcAft>
            </a:pPr>
            <a:r>
              <a:rPr sz="1650" b="1">
                <a:solidFill>
                  <a:srgbClr val="111A2B"/>
                </a:solidFill>
                <a:latin typeface="Calibri"/>
              </a:rPr>
              <a:t>▸ Si rien n'a changé → Prefect rejoue le résultat en cache</a:t>
            </a:r>
          </a:p>
          <a:p>
            <a:pPr lvl="1">
              <a:spcAft>
                <a:spcPts val="1000"/>
              </a:spcAft>
            </a:pPr>
            <a:r>
              <a:rPr sz="1450" b="0">
                <a:solidFill>
                  <a:srgbClr val="5B6677"/>
                </a:solidFill>
                <a:latin typeface="Calibri"/>
              </a:rPr>
              <a:t>– Pas de relecture, pas de rejointure : gain de temps et stabilité</a:t>
            </a:r>
          </a:p>
          <a:p>
            <a:pPr>
              <a:spcAft>
                <a:spcPts val="1000"/>
              </a:spcAft>
            </a:pPr>
            <a:r>
              <a:rPr sz="1650" b="1">
                <a:solidFill>
                  <a:srgbClr val="111A2B"/>
                </a:solidFill>
                <a:latin typeface="Calibri"/>
              </a:rPr>
              <a:t>▸ Si un fichier change (mtime/taille) ou un paramètre diffère</a:t>
            </a:r>
          </a:p>
          <a:p>
            <a:pPr lvl="1">
              <a:spcAft>
                <a:spcPts val="1000"/>
              </a:spcAft>
            </a:pPr>
            <a:r>
              <a:rPr sz="1450" b="0">
                <a:solidFill>
                  <a:srgbClr val="5B6677"/>
                </a:solidFill>
                <a:latin typeface="Calibri"/>
              </a:rPr>
              <a:t>– La clé change → le calcul est relancé automatiquement</a:t>
            </a:r>
          </a:p>
          <a:p>
            <a:pPr>
              <a:spcAft>
                <a:spcPts val="1000"/>
              </a:spcAft>
            </a:pPr>
            <a:r>
              <a:rPr sz="1650" b="1">
                <a:solidFill>
                  <a:srgbClr val="111A2B"/>
                </a:solidFill>
                <a:latin typeface="Calibri"/>
              </a:rPr>
              <a:t>▸ Même logique pour ensure_model</a:t>
            </a:r>
          </a:p>
          <a:p>
            <a:pPr lvl="1">
              <a:spcAft>
                <a:spcPts val="1000"/>
              </a:spcAft>
            </a:pPr>
            <a:r>
              <a:rPr sz="1450" b="0">
                <a:solidFill>
                  <a:srgbClr val="5B6677"/>
                </a:solidFill>
                <a:latin typeface="Calibri"/>
              </a:rPr>
              <a:t>– Si rf.joblib existe déjà et retrain=False → modèle réutilisé tel quel</a:t>
            </a:r>
          </a:p>
        </p:txBody>
      </p:sp>
      <p:sp>
        <p:nvSpPr>
          <p:cNvPr id="7" name="Rectangle 6"/>
          <p:cNvSpPr/>
          <p:nvPr/>
        </p:nvSpPr>
        <p:spPr>
          <a:xfrm>
            <a:off x="6949440" y="1828800"/>
            <a:ext cx="4709160" cy="402336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78040" y="201168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F6FED"/>
                </a:solidFill>
                <a:latin typeface="Calibri"/>
              </a:rPr>
              <a:t>Extrait — clé de cache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78040" y="2423160"/>
            <a:ext cx="42976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111A2B"/>
                </a:solidFill>
                <a:latin typeface="Consolas"/>
              </a:rPr>
              <a:t>def _sources_cache_key(context, parameters):
    data_dir = Path(parameters["data_dir"])
    fp = [f"window_hours="
          f"{parameters.get('window_hours')}"]
    for name in RAW_FILES:
        stat = (data_dir / name).stat()
        fp.append(f"{name}:{stat.st_mtime_ns}:"
                  f"{stat.st_size}")
    return hashlib.sha256(
        "|".join(fp).encode()
    ).hexdigest()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B6677"/>
                </a:solidFill>
                <a:latin typeface="Calibri"/>
              </a:rPr>
              <a:t>Module 29 — Pipeline Prefect (InduSense)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B6677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F6FED"/>
                </a:solidFill>
                <a:latin typeface="Calibri"/>
              </a:rPr>
              <a:t>MÉCANISME CLÉ #2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11A2B"/>
                </a:solidFill>
                <a:latin typeface="Calibri"/>
              </a:rPr>
              <a:t>Le stockage idempotent (upsert)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005840" cy="4572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60350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50" b="1">
                <a:solidFill>
                  <a:srgbClr val="111A2B"/>
                </a:solidFill>
                <a:latin typeface="Calibri"/>
              </a:rPr>
              <a:t>▸ store_predictions écrit via SQLAlchemy dans une table predictions</a:t>
            </a:r>
          </a:p>
          <a:p>
            <a:pPr>
              <a:spcAft>
                <a:spcPts val="1000"/>
              </a:spcAft>
            </a:pPr>
            <a:r>
              <a:rPr sz="1650" b="1">
                <a:solidFill>
                  <a:srgbClr val="111A2B"/>
                </a:solidFill>
                <a:latin typeface="Calibri"/>
              </a:rPr>
              <a:t>▸ Clé primaire composite : (machine, observed_at)</a:t>
            </a:r>
          </a:p>
          <a:p>
            <a:pPr>
              <a:spcAft>
                <a:spcPts val="1000"/>
              </a:spcAft>
            </a:pPr>
            <a:r>
              <a:rPr sz="1650" b="1">
                <a:solidFill>
                  <a:srgbClr val="111A2B"/>
                </a:solidFill>
                <a:latin typeface="Calibri"/>
              </a:rPr>
              <a:t>▸ Requête : INSERT ... ON CONFLICT ... DO UPDATE</a:t>
            </a:r>
          </a:p>
          <a:p>
            <a:pPr lvl="1">
              <a:spcAft>
                <a:spcPts val="1000"/>
              </a:spcAft>
            </a:pPr>
            <a:r>
              <a:rPr sz="1450" b="0">
                <a:solidFill>
                  <a:srgbClr val="5B6677"/>
                </a:solidFill>
                <a:latin typeface="Calibri"/>
              </a:rPr>
              <a:t>– Si la ligne existe déjà → mise à jour des colonnes (score, decision...)</a:t>
            </a:r>
          </a:p>
          <a:p>
            <a:pPr lvl="1">
              <a:spcAft>
                <a:spcPts val="1000"/>
              </a:spcAft>
            </a:pPr>
            <a:r>
              <a:rPr sz="1450" b="0">
                <a:solidFill>
                  <a:srgbClr val="5B6677"/>
                </a:solidFill>
                <a:latin typeface="Calibri"/>
              </a:rPr>
              <a:t>– Si la ligne n'existe pas → insertion normale</a:t>
            </a:r>
          </a:p>
          <a:p>
            <a:pPr>
              <a:spcAft>
                <a:spcPts val="1000"/>
              </a:spcAft>
            </a:pPr>
            <a:r>
              <a:rPr sz="1650" b="1">
                <a:solidFill>
                  <a:srgbClr val="111A2B"/>
                </a:solidFill>
                <a:latin typeface="Calibri"/>
              </a:rPr>
              <a:t>▸ Conséquence directe</a:t>
            </a:r>
          </a:p>
          <a:p>
            <a:pPr lvl="1">
              <a:spcAft>
                <a:spcPts val="1000"/>
              </a:spcAft>
            </a:pPr>
            <a:r>
              <a:rPr sz="1450" b="0">
                <a:solidFill>
                  <a:srgbClr val="5B6677"/>
                </a:solidFill>
                <a:latin typeface="Calibri"/>
              </a:rPr>
              <a:t>– Relancer le flow plusieurs fois ne fait JAMAIS grossir la table</a:t>
            </a:r>
          </a:p>
          <a:p>
            <a:pPr>
              <a:spcAft>
                <a:spcPts val="1000"/>
              </a:spcAft>
            </a:pPr>
            <a:r>
              <a:rPr sz="1650" b="1">
                <a:solidFill>
                  <a:srgbClr val="111A2B"/>
                </a:solidFill>
                <a:latin typeface="Calibri"/>
              </a:rPr>
              <a:t>▸ Portabilité</a:t>
            </a:r>
          </a:p>
          <a:p>
            <a:pPr lvl="1">
              <a:spcAft>
                <a:spcPts val="1000"/>
              </a:spcAft>
            </a:pPr>
            <a:r>
              <a:rPr sz="1450" b="0">
                <a:solidFill>
                  <a:srgbClr val="5B6677"/>
                </a:solidFill>
                <a:latin typeface="Calibri"/>
              </a:rPr>
              <a:t>– Même requête SQL pour Postgres (Compose) et SQLite (local/QA)</a:t>
            </a:r>
          </a:p>
          <a:p>
            <a:pPr lvl="1">
              <a:spcAft>
                <a:spcPts val="1000"/>
              </a:spcAft>
            </a:pPr>
            <a:r>
              <a:rPr sz="1450" b="0">
                <a:solidFill>
                  <a:srgbClr val="5B6677"/>
                </a:solidFill>
                <a:latin typeface="Calibri"/>
              </a:rPr>
              <a:t>– Le dialecte change via db_url, la logique métier ne bouge pas</a:t>
            </a:r>
          </a:p>
        </p:txBody>
      </p:sp>
      <p:sp>
        <p:nvSpPr>
          <p:cNvPr id="7" name="Rectangle 6"/>
          <p:cNvSpPr/>
          <p:nvPr/>
        </p:nvSpPr>
        <p:spPr>
          <a:xfrm>
            <a:off x="6949440" y="1828800"/>
            <a:ext cx="4709160" cy="402336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78040" y="201168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F6FED"/>
                </a:solidFill>
                <a:latin typeface="Calibri"/>
              </a:rPr>
              <a:t>Extrait — upsert SQL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78040" y="2423160"/>
            <a:ext cx="42976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11A2B"/>
                </a:solidFill>
                <a:latin typeface="Consolas"/>
              </a:rPr>
              <a:t>INSERT INTO predictions
  (machine, observed_at, score,
   decision, model_version, scored_at)
VALUES
  (:machine, :observed_at, :score,
   :decision, :model_version,
   :scored_at)
ON CONFLICT (machine, observed_at)
DO UPDATE SET
  score = excluded.score,
  decision = excluded.decision,
  model_version = excluded.model_version,
  scored_at = excluded.scored_at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B6677"/>
                </a:solidFill>
                <a:latin typeface="Calibri"/>
              </a:rPr>
              <a:t>Module 29 — Pipeline Prefect (InduSense)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B6677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F6FED"/>
                </a:solidFill>
                <a:latin typeface="Calibri"/>
              </a:rPr>
              <a:t>TP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11A2B"/>
                </a:solidFill>
                <a:latin typeface="Calibri"/>
              </a:rPr>
              <a:t>Découper le script en tasks, assembler le 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005840" cy="4572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108813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111A2B"/>
                </a:solidFill>
                <a:latin typeface="Calibri"/>
              </a:rPr>
              <a:t>▸ Objectif : transformer le script d'entraînement/prédiction linéaire en flow Prefect</a:t>
            </a:r>
          </a:p>
          <a:p>
            <a:pPr lvl="1">
              <a:spcAft>
                <a:spcPts val="1000"/>
              </a:spcAft>
            </a:pPr>
            <a:r>
              <a:rPr sz="1500" b="0">
                <a:solidFill>
                  <a:srgbClr val="5B6677"/>
                </a:solidFill>
                <a:latin typeface="Calibri"/>
              </a:rPr>
              <a:t>– Découpage en tasks nommées : build-gold-dataset, ensure-model, predict-latest, store-predictions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111A2B"/>
                </a:solidFill>
                <a:latin typeface="Calibri"/>
              </a:rPr>
              <a:t>▸ Assemblage dans un @flow nommé indusense-pipeline</a:t>
            </a:r>
          </a:p>
          <a:p>
            <a:pPr lvl="1">
              <a:spcAft>
                <a:spcPts val="1000"/>
              </a:spcAft>
            </a:pPr>
            <a:r>
              <a:rPr sz="1500" b="0">
                <a:solidFill>
                  <a:srgbClr val="5B6677"/>
                </a:solidFill>
                <a:latin typeface="Calibri"/>
              </a:rPr>
              <a:t>– flow_run_name dynamique : indusense-pipeline-&lt;data_dir&gt;-&lt;horodatage&gt;, pour identifier chaque run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111A2B"/>
                </a:solidFill>
                <a:latin typeface="Calibri"/>
              </a:rPr>
              <a:t>▸ Commande de vérification</a:t>
            </a:r>
          </a:p>
          <a:p>
            <a:pPr lvl="1">
              <a:spcAft>
                <a:spcPts val="1000"/>
              </a:spcAft>
            </a:pPr>
            <a:r>
              <a:rPr sz="1500" b="0">
                <a:solidFill>
                  <a:srgbClr val="5B6677"/>
                </a:solidFill>
                <a:latin typeface="Calibri"/>
              </a:rPr>
              <a:t>– uv run --frozen python flows/pipeline.py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4663440"/>
            <a:ext cx="10881360" cy="1371600"/>
          </a:xfrm>
          <a:prstGeom prst="rect">
            <a:avLst/>
          </a:prstGeom>
          <a:solidFill>
            <a:srgbClr val="F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4663440"/>
            <a:ext cx="73152" cy="1371600"/>
          </a:xfrm>
          <a:prstGeom prst="rect">
            <a:avLst/>
          </a:prstGeom>
          <a:solidFill>
            <a:srgbClr val="D3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480060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33B3B"/>
                </a:solidFill>
                <a:latin typeface="Calibri"/>
              </a:rPr>
              <a:t>Piège rencontré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5166360"/>
            <a:ext cx="10241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A2B"/>
                </a:solidFill>
                <a:latin typeface="Calibri"/>
              </a:rPr>
              <a:t>uv run python flows/pipeline.py (sans --frozen) reste bloqué sans rien afficher, sans accès réseau sortant : uv tente de re-résoudre le lock avant de lancer quoi que ce soit. --frozen force l'usage strict de uv.lock et démarre instantanément.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B6677"/>
                </a:solidFill>
                <a:latin typeface="Calibri"/>
              </a:rPr>
              <a:t>Module 29 — Pipeline Prefect (InduSense)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B6677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F6FED"/>
                </a:solidFill>
                <a:latin typeface="Calibri"/>
              </a:rPr>
              <a:t>PREUVE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11A2B"/>
                </a:solidFill>
                <a:latin typeface="Calibri"/>
              </a:rPr>
              <a:t>demo_prefect_idempotence.py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005840" cy="4572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60350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50" b="1">
                <a:solidFill>
                  <a:srgbClr val="111A2B"/>
                </a:solidFill>
                <a:latin typeface="Calibri"/>
              </a:rPr>
              <a:t>▸ Script de preuve autonome, pas un script métier</a:t>
            </a:r>
          </a:p>
          <a:p>
            <a:pPr>
              <a:spcAft>
                <a:spcPts val="1000"/>
              </a:spcAft>
            </a:pPr>
            <a:r>
              <a:rPr sz="1550" b="1">
                <a:solidFill>
                  <a:srgbClr val="111A2B"/>
                </a:solidFill>
                <a:latin typeface="Calibri"/>
              </a:rPr>
              <a:t>▸ Protocole</a:t>
            </a:r>
          </a:p>
          <a:p>
            <a:pPr lvl="1">
              <a:spcAft>
                <a:spcPts val="1000"/>
              </a:spcAft>
            </a:pPr>
            <a:r>
              <a:rPr sz="1350" b="0">
                <a:solidFill>
                  <a:srgbClr val="5B6677"/>
                </a:solidFill>
                <a:latin typeface="Calibri"/>
              </a:rPr>
              <a:t>– Crée une base SQLite neuve dans un dossier temporaire</a:t>
            </a:r>
          </a:p>
          <a:p>
            <a:pPr lvl="1">
              <a:spcAft>
                <a:spcPts val="1000"/>
              </a:spcAft>
            </a:pPr>
            <a:r>
              <a:rPr sz="1350" b="0">
                <a:solidFill>
                  <a:srgbClr val="5B6677"/>
                </a:solidFill>
                <a:latin typeface="Calibri"/>
              </a:rPr>
              <a:t>– assert que le fichier de base n'existe pas encore (preuve non truquée)</a:t>
            </a:r>
          </a:p>
          <a:p>
            <a:pPr lvl="1">
              <a:spcAft>
                <a:spcPts val="1000"/>
              </a:spcAft>
            </a:pPr>
            <a:r>
              <a:rPr sz="1350" b="0">
                <a:solidFill>
                  <a:srgbClr val="5B6677"/>
                </a:solidFill>
                <a:latin typeface="Calibri"/>
              </a:rPr>
              <a:t>– Exécute indusense_pipeline() une 1ère fois → compte les lignes</a:t>
            </a:r>
          </a:p>
          <a:p>
            <a:pPr lvl="1">
              <a:spcAft>
                <a:spcPts val="1000"/>
              </a:spcAft>
            </a:pPr>
            <a:r>
              <a:rPr sz="1350" b="0">
                <a:solidFill>
                  <a:srgbClr val="5B6677"/>
                </a:solidFill>
                <a:latin typeface="Calibri"/>
              </a:rPr>
              <a:t>– Exécute indusense_pipeline() une 2e fois, même base → recompte</a:t>
            </a:r>
          </a:p>
          <a:p>
            <a:pPr>
              <a:spcAft>
                <a:spcPts val="1000"/>
              </a:spcAft>
            </a:pPr>
            <a:r>
              <a:rPr sz="1550" b="1">
                <a:solidFill>
                  <a:srgbClr val="111A2B"/>
                </a:solidFill>
                <a:latin typeface="Calibri"/>
              </a:rPr>
              <a:t>▸ Verdict</a:t>
            </a:r>
          </a:p>
          <a:p>
            <a:pPr lvl="1">
              <a:spcAft>
                <a:spcPts val="1000"/>
              </a:spcAft>
            </a:pPr>
            <a:r>
              <a:rPr sz="1350" b="0">
                <a:solidFill>
                  <a:srgbClr val="5B6677"/>
                </a:solidFill>
                <a:latin typeface="Calibri"/>
              </a:rPr>
              <a:t>– Si le compte diverge → échec explicite, exit code 1</a:t>
            </a:r>
          </a:p>
          <a:p>
            <a:pPr lvl="1">
              <a:spcAft>
                <a:spcPts val="1000"/>
              </a:spcAft>
            </a:pPr>
            <a:r>
              <a:rPr sz="1350" b="0">
                <a:solidFill>
                  <a:srgbClr val="5B6677"/>
                </a:solidFill>
                <a:latin typeface="Calibri"/>
              </a:rPr>
              <a:t>– Si le compte est stable → OK idempotence, exit code 0</a:t>
            </a:r>
          </a:p>
          <a:p>
            <a:pPr>
              <a:spcAft>
                <a:spcPts val="1000"/>
              </a:spcAft>
            </a:pPr>
            <a:r>
              <a:rPr sz="1550" b="1">
                <a:solidFill>
                  <a:srgbClr val="111A2B"/>
                </a:solidFill>
                <a:latin typeface="Calibri"/>
              </a:rPr>
              <a:t>▸ Commande</a:t>
            </a:r>
          </a:p>
          <a:p>
            <a:pPr lvl="1">
              <a:spcAft>
                <a:spcPts val="1000"/>
              </a:spcAft>
            </a:pPr>
            <a:r>
              <a:rPr sz="1350" b="0">
                <a:solidFill>
                  <a:srgbClr val="5B6677"/>
                </a:solidFill>
                <a:latin typeface="Calibri"/>
              </a:rPr>
              <a:t>– uv run --frozen python scripts/demo_prefect_idempotence.py</a:t>
            </a:r>
          </a:p>
        </p:txBody>
      </p:sp>
      <p:sp>
        <p:nvSpPr>
          <p:cNvPr id="7" name="Rectangle 6"/>
          <p:cNvSpPr/>
          <p:nvPr/>
        </p:nvSpPr>
        <p:spPr>
          <a:xfrm>
            <a:off x="6949440" y="1828800"/>
            <a:ext cx="4709160" cy="4023360"/>
          </a:xfrm>
          <a:prstGeom prst="rect">
            <a:avLst/>
          </a:prstGeom>
          <a:solidFill>
            <a:srgbClr val="EE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78040" y="201168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9D55"/>
                </a:solidFill>
                <a:latin typeface="Calibri"/>
              </a:rPr>
              <a:t>Sortie attendue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78040" y="2468880"/>
            <a:ext cx="42976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111A2B"/>
                </a:solidFill>
                <a:latin typeface="Consolas"/>
              </a:rPr>
              <a:t>1er passage : rows_scored=12 rows_in_db=12
2e  passage : rows_scored=12 rows_in_db=12
OK idempotence : 12 lignes stables
apres 2 passages (sqlite:///...)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8040" y="4937760"/>
            <a:ext cx="4297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1">
                <a:solidFill>
                  <a:srgbClr val="5B6677"/>
                </a:solidFill>
                <a:latin typeface="Calibri"/>
              </a:rPr>
              <a:t>Le nombre de lignes stockées ne bouge pas entre les deux passages : la preuve que relancer le pipeline ne duplique rien.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B6677"/>
                </a:solidFill>
                <a:latin typeface="Calibri"/>
              </a:rPr>
              <a:t>Module 29 — Pipeline Prefect (InduSense)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B6677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F6FED"/>
                </a:solidFill>
                <a:latin typeface="Calibri"/>
              </a:rPr>
              <a:t>AVANT / APRÈS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11A2B"/>
                </a:solidFill>
                <a:latin typeface="Calibri"/>
              </a:rPr>
              <a:t>Ce que Prefect change concrètement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005840" cy="4572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5303520" cy="3931920"/>
          </a:xfrm>
          <a:prstGeom prst="rect">
            <a:avLst/>
          </a:prstGeom>
          <a:solidFill>
            <a:srgbClr val="F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0116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33B3B"/>
                </a:solidFill>
                <a:latin typeface="Calibri"/>
              </a:rPr>
              <a:t>Avant — script simple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514600"/>
            <a:ext cx="48463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50" b="1">
                <a:solidFill>
                  <a:srgbClr val="111A2B"/>
                </a:solidFill>
                <a:latin typeface="Calibri"/>
              </a:rPr>
              <a:t>▸ Aucune mémoire entre deux exécutions</a:t>
            </a:r>
          </a:p>
          <a:p>
            <a:pPr>
              <a:spcAft>
                <a:spcPts val="1000"/>
              </a:spcAft>
            </a:pPr>
            <a:r>
              <a:rPr sz="1450" b="1">
                <a:solidFill>
                  <a:srgbClr val="111A2B"/>
                </a:solidFill>
                <a:latin typeface="Calibri"/>
              </a:rPr>
              <a:t>▸ Ré-ingestion et ré-entraînement systématiques</a:t>
            </a:r>
          </a:p>
          <a:p>
            <a:pPr>
              <a:spcAft>
                <a:spcPts val="1000"/>
              </a:spcAft>
            </a:pPr>
            <a:r>
              <a:rPr sz="1450" b="1">
                <a:solidFill>
                  <a:srgbClr val="111A2B"/>
                </a:solidFill>
                <a:latin typeface="Calibri"/>
              </a:rPr>
              <a:t>▸ Écriture en base = ajout brut</a:t>
            </a:r>
          </a:p>
          <a:p>
            <a:pPr>
              <a:spcAft>
                <a:spcPts val="1000"/>
              </a:spcAft>
            </a:pPr>
            <a:r>
              <a:rPr sz="1450" b="1">
                <a:solidFill>
                  <a:srgbClr val="111A2B"/>
                </a:solidFill>
                <a:latin typeface="Calibri"/>
              </a:rPr>
              <a:t>▸ Relancer = risque de duplication</a:t>
            </a:r>
          </a:p>
          <a:p>
            <a:pPr>
              <a:spcAft>
                <a:spcPts val="1000"/>
              </a:spcAft>
            </a:pPr>
            <a:r>
              <a:rPr sz="1450" b="1">
                <a:solidFill>
                  <a:srgbClr val="111A2B"/>
                </a:solidFill>
                <a:latin typeface="Calibri"/>
              </a:rPr>
              <a:t>▸ Aucune étape nommée, difficile à observer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828800"/>
            <a:ext cx="5303520" cy="3931920"/>
          </a:xfrm>
          <a:prstGeom prst="rect">
            <a:avLst/>
          </a:prstGeom>
          <a:solidFill>
            <a:srgbClr val="EE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20116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9D55"/>
                </a:solidFill>
                <a:latin typeface="Calibri"/>
              </a:rPr>
              <a:t>Après — flow Prefect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514600"/>
            <a:ext cx="48463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50" b="1">
                <a:solidFill>
                  <a:srgbClr val="111A2B"/>
                </a:solidFill>
                <a:latin typeface="Calibri"/>
              </a:rPr>
              <a:t>▸ Cache par empreinte : reprise sans recalcul inutile</a:t>
            </a:r>
          </a:p>
          <a:p>
            <a:pPr>
              <a:spcAft>
                <a:spcPts val="1000"/>
              </a:spcAft>
            </a:pPr>
            <a:r>
              <a:rPr sz="1450" b="1">
                <a:solidFill>
                  <a:srgbClr val="111A2B"/>
                </a:solidFill>
                <a:latin typeface="Calibri"/>
              </a:rPr>
              <a:t>▸ Modèle réutilisé si déjà entraîné (sauf retrain=True)</a:t>
            </a:r>
          </a:p>
          <a:p>
            <a:pPr>
              <a:spcAft>
                <a:spcPts val="1000"/>
              </a:spcAft>
            </a:pPr>
            <a:r>
              <a:rPr sz="1450" b="1">
                <a:solidFill>
                  <a:srgbClr val="111A2B"/>
                </a:solidFill>
                <a:latin typeface="Calibri"/>
              </a:rPr>
              <a:t>▸ Écriture en base = upsert (remplace, n'ajoute pas)</a:t>
            </a:r>
          </a:p>
          <a:p>
            <a:pPr>
              <a:spcAft>
                <a:spcPts val="1000"/>
              </a:spcAft>
            </a:pPr>
            <a:r>
              <a:rPr sz="1450" b="1">
                <a:solidFill>
                  <a:srgbClr val="111A2B"/>
                </a:solidFill>
                <a:latin typeface="Calibri"/>
              </a:rPr>
              <a:t>▸ Relancer = résultat stable, prouvé par un test dédié</a:t>
            </a:r>
          </a:p>
          <a:p>
            <a:pPr>
              <a:spcAft>
                <a:spcPts val="1000"/>
              </a:spcAft>
            </a:pPr>
            <a:r>
              <a:rPr sz="1450" b="1">
                <a:solidFill>
                  <a:srgbClr val="111A2B"/>
                </a:solidFill>
                <a:latin typeface="Calibri"/>
              </a:rPr>
              <a:t>▸ 4 tasks nommées, run identifiable (flow_run_name)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B6677"/>
                </a:solidFill>
                <a:latin typeface="Calibri"/>
              </a:rPr>
              <a:t>Module 29 — Pipeline Prefect (InduSense)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B6677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A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F6FED"/>
                </a:solidFill>
                <a:latin typeface="Calibri"/>
              </a:rPr>
              <a:t>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3327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900" b="1">
                <a:solidFill>
                  <a:srgbClr val="FFFFFF"/>
                </a:solidFill>
                <a:latin typeface="Calibri"/>
              </a:rPr>
              <a:t>▸ Prefect transforme un script anxiogène en flow rejouable en confiance</a:t>
            </a:r>
          </a:p>
          <a:p>
            <a:pPr>
              <a:spcAft>
                <a:spcPts val="1600"/>
              </a:spcAft>
            </a:pPr>
            <a:r>
              <a:rPr sz="1900" b="1">
                <a:solidFill>
                  <a:srgbClr val="FFFFFF"/>
                </a:solidFill>
                <a:latin typeface="Calibri"/>
              </a:rPr>
              <a:t>▸ Deux fichiers, une seule logique : flows/pipeline.py délègue à indusense.flows.predict_flow</a:t>
            </a:r>
          </a:p>
          <a:p>
            <a:pPr>
              <a:spcAft>
                <a:spcPts val="1600"/>
              </a:spcAft>
            </a:pPr>
            <a:r>
              <a:rPr sz="1900" b="1">
                <a:solidFill>
                  <a:srgbClr val="FFFFFF"/>
                </a:solidFill>
                <a:latin typeface="Calibri"/>
              </a:rPr>
              <a:t>▸ Cache d'empreinte = pas de recalcul inutile (ingestion, entraînement)</a:t>
            </a:r>
          </a:p>
          <a:p>
            <a:pPr>
              <a:spcAft>
                <a:spcPts val="1600"/>
              </a:spcAft>
            </a:pPr>
            <a:r>
              <a:rPr sz="1900" b="1">
                <a:solidFill>
                  <a:srgbClr val="FFFFFF"/>
                </a:solidFill>
                <a:latin typeface="Calibri"/>
              </a:rPr>
              <a:t>▸ Upsert = idempotence garantie côté stockage</a:t>
            </a:r>
          </a:p>
          <a:p>
            <a:pPr>
              <a:spcAft>
                <a:spcPts val="1600"/>
              </a:spcAft>
            </a:pPr>
            <a:r>
              <a:rPr sz="1900" b="1">
                <a:solidFill>
                  <a:srgbClr val="FFFFFF"/>
                </a:solidFill>
                <a:latin typeface="Calibri"/>
              </a:rPr>
              <a:t>▸ Une preuve automatisée (demo_prefect_idempotence.py) valide la propriété plutôt que de l'espérer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B6677"/>
                </a:solidFill>
                <a:latin typeface="Calibri"/>
              </a:rPr>
              <a:t>Module 29 — Pipeline Prefect (InduSense)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B6677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