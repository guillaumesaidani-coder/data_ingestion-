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5" r:id="rId16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31720"/>
            <a:ext cx="82296" cy="173736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4FC3F7"/>
                </a:solidFill>
                <a:latin typeface="Segoe UI"/>
              </a:rPr>
              <a:t>SUPPORT PÉDAGOGIQUE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200" b="1" i="0">
                <a:solidFill>
                  <a:srgbClr val="E8EDF2"/>
                </a:solidFill>
                <a:latin typeface="Segoe UI"/>
              </a:rPr>
              <a:t>Empaqueter le flow, brancher Postgres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0">
                <a:solidFill>
                  <a:srgbClr val="93A3B3"/>
                </a:solidFill>
                <a:latin typeface="Segoe UI"/>
              </a:rPr>
              <a:t>Pourquoi un script racine ne rentre pas dans une image Docker — et comment le même flow écrit dans SQLite ou PostgreSQL sans dupliquer une ligne de logique.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93A3B3"/>
                </a:solidFill>
                <a:latin typeface="Segoe UI"/>
              </a:rPr>
              <a:t>Projet InduSense — Sprint 3 CISIA · Module 30 (jalon 07)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600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4FC3F7"/>
                </a:solidFill>
                <a:latin typeface="Segoe UI"/>
              </a:rPr>
              <a:t>01 · LE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9000" y="292608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3A3B3"/>
                </a:solidFill>
                <a:latin typeface="Segoe UI"/>
              </a:rPr>
              <a:t>02/10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E8EDF2"/>
                </a:solidFill>
                <a:latin typeface="Segoe UI"/>
              </a:rPr>
              <a:t>Ce qui marche en local ne rentre pas dans un conteneur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93A3B3"/>
                </a:solidFill>
                <a:latin typeface="Segoe UI"/>
              </a:rPr>
              <a:t>InduSense — Module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51052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3A3B3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5669280" cy="3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250"/>
              </a:spcAft>
            </a:pPr>
            <a:r>
              <a:rPr sz="1450" b="1" i="0">
                <a:solidFill>
                  <a:srgbClr val="4FC3F7"/>
                </a:solidFill>
                <a:latin typeface="Segoe UI"/>
              </a:rPr>
              <a:t>M29 — </a:t>
            </a:r>
            <a:r>
              <a:rPr sz="1450" b="0" i="0">
                <a:solidFill>
                  <a:srgbClr val="E8EDF2"/>
                </a:solidFill>
                <a:latin typeface="Segoe UI"/>
              </a:rPr>
              <a:t>le flow flows/pipeline.py vit à la racine du dépôt, hors du paquet indusense.</a:t>
            </a:r>
          </a:p>
          <a:p>
            <a:pPr>
              <a:spcAft>
                <a:spcPts val="2250"/>
              </a:spcAft>
            </a:pPr>
            <a:r>
              <a:rPr sz="1450" b="1" i="0">
                <a:solidFill>
                  <a:srgbClr val="4FC3F7"/>
                </a:solidFill>
                <a:latin typeface="Segoe UI"/>
              </a:rPr>
              <a:t>M30 — </a:t>
            </a:r>
            <a:r>
              <a:rPr sz="1450" b="0" i="0">
                <a:solidFill>
                  <a:srgbClr val="E8EDF2"/>
                </a:solidFill>
                <a:latin typeface="Segoe UI"/>
              </a:rPr>
              <a:t>le guide demande docker compose run ... api python -m indusense.flows.predict_flow.</a:t>
            </a:r>
          </a:p>
          <a:p>
            <a:pPr>
              <a:spcAft>
                <a:spcPts val="2250"/>
              </a:spcAft>
            </a:pPr>
            <a:r>
              <a:rPr sz="1450" b="1" i="0">
                <a:solidFill>
                  <a:srgbClr val="4FC3F7"/>
                </a:solidFill>
                <a:latin typeface="Segoe UI"/>
              </a:rPr>
              <a:t>Le blocage — </a:t>
            </a:r>
            <a:r>
              <a:rPr sz="1450" b="0" i="0">
                <a:solidFill>
                  <a:srgbClr val="E8EDF2"/>
                </a:solidFill>
                <a:latin typeface="Segoe UI"/>
              </a:rPr>
              <a:t>ce chemin d'import n'existe nulle part dans l'image construite par le Dockerfile.</a:t>
            </a:r>
          </a:p>
          <a:p>
            <a:pPr>
              <a:spcAft>
                <a:spcPts val="2250"/>
              </a:spcAft>
            </a:pPr>
            <a:r>
              <a:rPr sz="1450" b="1" i="0">
                <a:solidFill>
                  <a:srgbClr val="4FC3F7"/>
                </a:solidFill>
                <a:latin typeface="Segoe UI"/>
              </a:rPr>
              <a:t>La cause — </a:t>
            </a:r>
            <a:r>
              <a:rPr sz="1450" b="0" i="0">
                <a:solidFill>
                  <a:srgbClr val="E8EDF2"/>
                </a:solidFill>
                <a:latin typeface="Segoe UI"/>
              </a:rPr>
              <a:t>COPY src ./src : seul src/ entre dans l'image, jamais la racine du dépôt.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417320"/>
            <a:ext cx="5120640" cy="470916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61848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93A3B3"/>
                </a:solidFill>
                <a:latin typeface="Segoe UI"/>
              </a:rPr>
              <a:t>DOCKERFILE — CE QUI ENTRE DANS L'IMAGE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039112"/>
            <a:ext cx="4480560" cy="6000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7728" y="2112264"/>
            <a:ext cx="42611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E8EDF2"/>
                </a:solidFill>
                <a:latin typeface="Segoe UI"/>
              </a:rPr>
              <a:t>COPY pyproject.toml uv.lock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2386584"/>
            <a:ext cx="426110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93A3B3"/>
                </a:solidFill>
                <a:latin typeface="Segoe UI"/>
              </a:rPr>
              <a:t>manifeste de dépendances</a:t>
            </a:r>
          </a:p>
        </p:txBody>
      </p:sp>
      <p:sp>
        <p:nvSpPr>
          <p:cNvPr id="15" name="Chevron 14"/>
          <p:cNvSpPr/>
          <p:nvPr/>
        </p:nvSpPr>
        <p:spPr>
          <a:xfrm>
            <a:off x="8869680" y="2607108"/>
            <a:ext cx="457200" cy="201168"/>
          </a:xfrm>
          <a:prstGeom prst="chevron">
            <a:avLst>
              <a:gd name="adj" fmla="val 50000"/>
            </a:avLst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0" y="2776272"/>
            <a:ext cx="4480560" cy="6000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67728" y="2849424"/>
            <a:ext cx="42611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E8EDF2"/>
                </a:solidFill>
                <a:latin typeface="Segoe UI"/>
              </a:rPr>
              <a:t>RUN uv sync --frozen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3123744"/>
            <a:ext cx="426110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93A3B3"/>
                </a:solidFill>
                <a:latin typeface="Segoe UI"/>
              </a:rPr>
              <a:t>dépendances installées, verrouillées</a:t>
            </a:r>
          </a:p>
        </p:txBody>
      </p:sp>
      <p:sp>
        <p:nvSpPr>
          <p:cNvPr id="19" name="Chevron 18"/>
          <p:cNvSpPr/>
          <p:nvPr/>
        </p:nvSpPr>
        <p:spPr>
          <a:xfrm>
            <a:off x="8869680" y="3344268"/>
            <a:ext cx="457200" cy="201168"/>
          </a:xfrm>
          <a:prstGeom prst="chevron">
            <a:avLst>
              <a:gd name="adj" fmla="val 50000"/>
            </a:avLst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0" y="3513432"/>
            <a:ext cx="4480560" cy="6000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B08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67728" y="3586584"/>
            <a:ext cx="42611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E8EDF2"/>
                </a:solidFill>
                <a:latin typeface="Segoe UI"/>
              </a:rPr>
              <a:t>COPY src ./src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3860904"/>
            <a:ext cx="426110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93A3B3"/>
                </a:solidFill>
                <a:latin typeface="Segoe UI"/>
              </a:rPr>
              <a:t>le paquet indusense entier</a:t>
            </a:r>
          </a:p>
        </p:txBody>
      </p:sp>
      <p:sp>
        <p:nvSpPr>
          <p:cNvPr id="23" name="Chevron 22"/>
          <p:cNvSpPr/>
          <p:nvPr/>
        </p:nvSpPr>
        <p:spPr>
          <a:xfrm>
            <a:off x="8869680" y="4081428"/>
            <a:ext cx="457200" cy="201168"/>
          </a:xfrm>
          <a:prstGeom prst="chevron">
            <a:avLst>
              <a:gd name="adj" fmla="val 50000"/>
            </a:avLst>
          </a:prstGeom>
          <a:solidFill>
            <a:srgbClr val="B08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0" y="4250592"/>
            <a:ext cx="4480560" cy="6000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B08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7728" y="4323744"/>
            <a:ext cx="42611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E8EDF2"/>
                </a:solidFill>
                <a:latin typeface="Segoe UI"/>
              </a:rPr>
              <a:t>RUN uv sync --no-editable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4598064"/>
            <a:ext cx="426110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93A3B3"/>
                </a:solidFill>
                <a:latin typeface="Segoe UI"/>
              </a:rPr>
              <a:t>wheel construite et installée</a:t>
            </a:r>
          </a:p>
        </p:txBody>
      </p:sp>
      <p:sp>
        <p:nvSpPr>
          <p:cNvPr id="27" name="Chevron 26"/>
          <p:cNvSpPr/>
          <p:nvPr/>
        </p:nvSpPr>
        <p:spPr>
          <a:xfrm>
            <a:off x="8869680" y="4818588"/>
            <a:ext cx="457200" cy="201168"/>
          </a:xfrm>
          <a:prstGeom prst="chevron">
            <a:avLst>
              <a:gd name="adj" fmla="val 50000"/>
            </a:avLst>
          </a:prstGeom>
          <a:solidFill>
            <a:srgbClr val="B08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0" y="4987752"/>
            <a:ext cx="4480560" cy="6000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F2B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67728" y="5060904"/>
            <a:ext cx="42611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E8EDF2"/>
                </a:solidFill>
                <a:latin typeface="Segoe UI"/>
              </a:rPr>
              <a:t>COPY artifacts/models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5335224"/>
            <a:ext cx="426110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93A3B3"/>
                </a:solidFill>
                <a:latin typeface="Segoe UI"/>
              </a:rPr>
              <a:t>modèle Variante A embarqué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600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4FC3F7"/>
                </a:solidFill>
                <a:latin typeface="Segoe UI"/>
              </a:rPr>
              <a:t>02 · LE PIÈGE —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9000" y="292608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3A3B3"/>
                </a:solidFill>
                <a:latin typeface="Segoe UI"/>
              </a:rPr>
              <a:t>03/10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E8EDF2"/>
                </a:solidFill>
                <a:latin typeface="Segoe UI"/>
              </a:rPr>
              <a:t>Un script racine ne rentre pas dans une image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93A3B3"/>
                </a:solidFill>
                <a:latin typeface="Segoe UI"/>
              </a:rPr>
              <a:t>InduSense — Module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51052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3A3B3"/>
                </a:solidFill>
                <a:latin typeface="Segoe U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440680" cy="365760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15875">
            <a:solidFill>
              <a:srgbClr val="7CE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459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7CE38A"/>
                </a:solidFill>
                <a:latin typeface="Segoe UI"/>
              </a:rPr>
              <a:t>DANS L'IMAGE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4892040" cy="27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300" b="1" i="0">
                <a:solidFill>
                  <a:srgbClr val="7CE38A"/>
                </a:solidFill>
                <a:latin typeface="Segoe UI"/>
              </a:rPr>
              <a:t>src/ — </a:t>
            </a:r>
            <a:r>
              <a:rPr sz="1300" b="0" i="0">
                <a:solidFill>
                  <a:srgbClr val="E8EDF2"/>
                </a:solidFill>
                <a:latin typeface="Segoe UI"/>
              </a:rPr>
              <a:t>le paquet indusense entier (copié par COPY src ./src).</a:t>
            </a:r>
          </a:p>
          <a:p>
            <a:pPr>
              <a:spcAft>
                <a:spcPts val="1400"/>
              </a:spcAft>
            </a:pPr>
            <a:r>
              <a:rPr sz="1300" b="1" i="0">
                <a:solidFill>
                  <a:srgbClr val="7CE38A"/>
                </a:solidFill>
                <a:latin typeface="Segoe UI"/>
              </a:rPr>
              <a:t>artifacts/models/ — </a:t>
            </a:r>
            <a:r>
              <a:rPr sz="1300" b="0" i="0">
                <a:solidFill>
                  <a:srgbClr val="E8EDF2"/>
                </a:solidFill>
                <a:latin typeface="Segoe UI"/>
              </a:rPr>
              <a:t>le modèle Variante A, pré-entraîné et embarqué.</a:t>
            </a:r>
          </a:p>
          <a:p>
            <a:pPr>
              <a:spcAft>
                <a:spcPts val="1400"/>
              </a:spcAft>
            </a:pPr>
            <a:r>
              <a:rPr sz="1300" b="1" i="0">
                <a:solidFill>
                  <a:srgbClr val="7CE38A"/>
                </a:solidFill>
                <a:latin typeface="Segoe UI"/>
              </a:rPr>
              <a:t>.venv — </a:t>
            </a:r>
            <a:r>
              <a:rPr sz="1300" b="0" i="0">
                <a:solidFill>
                  <a:srgbClr val="E8EDF2"/>
                </a:solidFill>
                <a:latin typeface="Segoe UI"/>
              </a:rPr>
              <a:t>installé par uv sync --frozen --no-editable, wheel figée.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440680" cy="365760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15875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459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E06C75"/>
                </a:solidFill>
                <a:latin typeface="Segoe UI"/>
              </a:rPr>
              <a:t>HORS DE L'IMAGE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03120"/>
            <a:ext cx="4892040" cy="27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300" b="1" i="0">
                <a:solidFill>
                  <a:srgbClr val="E06C75"/>
                </a:solidFill>
                <a:latin typeface="Segoe UI"/>
              </a:rPr>
              <a:t>flows/ — </a:t>
            </a:r>
            <a:r>
              <a:rPr sz="1300" b="0" i="0">
                <a:solidFill>
                  <a:srgbClr val="E8EDF2"/>
                </a:solidFill>
                <a:latin typeface="Segoe UI"/>
              </a:rPr>
              <a:t>le script racine du module 29, jamais copié dans l'image.</a:t>
            </a:r>
          </a:p>
          <a:p>
            <a:pPr>
              <a:spcAft>
                <a:spcPts val="1400"/>
              </a:spcAft>
            </a:pPr>
            <a:r>
              <a:rPr sz="1300" b="1" i="0">
                <a:solidFill>
                  <a:srgbClr val="E06C75"/>
                </a:solidFill>
                <a:latin typeface="Segoe UI"/>
              </a:rPr>
              <a:t>data/ — </a:t>
            </a:r>
            <a:r>
              <a:rPr sz="1300" b="0" i="0">
                <a:solidFill>
                  <a:srgbClr val="E8EDF2"/>
                </a:solidFill>
                <a:latin typeface="Segoe UI"/>
              </a:rPr>
              <a:t>données brutes, montées en volume au runtime, jamais copiées.</a:t>
            </a:r>
          </a:p>
          <a:p>
            <a:pPr>
              <a:spcAft>
                <a:spcPts val="1400"/>
              </a:spcAft>
            </a:pPr>
            <a:r>
              <a:rPr sz="1300" b="1" i="0">
                <a:solidFill>
                  <a:srgbClr val="E06C75"/>
                </a:solidFill>
                <a:latin typeface="Segoe UI"/>
              </a:rPr>
              <a:t>tests/, .git/, *.md — </a:t>
            </a:r>
            <a:r>
              <a:rPr sz="1300" b="0" i="0">
                <a:solidFill>
                  <a:srgbClr val="E8EDF2"/>
                </a:solidFill>
                <a:latin typeface="Segoe UI"/>
              </a:rPr>
              <a:t>tout ce qui sert au dépôt, inutile à l'exécution.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250000"/>
            <a:ext cx="1115568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2B64B"/>
                </a:solidFill>
                <a:latin typeface="Segoe UI"/>
              </a:rPr>
              <a:t>Conséquence directe : </a:t>
            </a:r>
            <a:r>
              <a:rPr sz="1300" b="0" i="0">
                <a:solidFill>
                  <a:srgbClr val="E8EDF2"/>
                </a:solidFill>
                <a:latin typeface="Segoe UI"/>
              </a:rPr>
              <a:t>python -m indusense.flows.predict_flow ne fonctionne dans le conteneur que si predict_flow.py vit sous src/indusense/flows/.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600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4FC3F7"/>
                </a:solidFill>
                <a:latin typeface="Segoe UI"/>
              </a:rPr>
              <a:t>03 · LA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9000" y="292608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3A3B3"/>
                </a:solidFill>
                <a:latin typeface="Segoe UI"/>
              </a:rPr>
              <a:t>04/10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E8EDF2"/>
                </a:solidFill>
                <a:latin typeface="Segoe UI"/>
              </a:rPr>
              <a:t>Le paquet est la vérité, le script racine une façade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93A3B3"/>
                </a:solidFill>
                <a:latin typeface="Segoe UI"/>
              </a:rPr>
              <a:t>InduSense — Module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51052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3A3B3"/>
                </a:solidFill>
                <a:latin typeface="Segoe U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566160" cy="1310000"/>
          </a:xfrm>
          <a:prstGeom prst="roundRect">
            <a:avLst>
              <a:gd name="adj" fmla="val 10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3200400" cy="852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E8EDF2"/>
                </a:solidFill>
                <a:latin typeface="Segoe UI"/>
              </a:rPr>
              <a:t>src/indusense/flows/predict_flow.py</a:t>
            </a:r>
          </a:p>
          <a:p>
            <a:pPr>
              <a:spcBef>
                <a:spcPts val="600"/>
              </a:spcBef>
            </a:pPr>
            <a:r>
              <a:rPr sz="1000" b="0" i="0">
                <a:solidFill>
                  <a:srgbClr val="93A3B3"/>
                </a:solidFill>
                <a:latin typeface="Segoe UI"/>
              </a:rPr>
              <a:t>logique canonique : tasks + flow + stockage</a:t>
            </a:r>
          </a:p>
        </p:txBody>
      </p:sp>
      <p:sp>
        <p:nvSpPr>
          <p:cNvPr id="11" name="Chevron 10"/>
          <p:cNvSpPr/>
          <p:nvPr/>
        </p:nvSpPr>
        <p:spPr>
          <a:xfrm>
            <a:off x="4069080" y="1958020"/>
            <a:ext cx="228600" cy="228600"/>
          </a:xfrm>
          <a:prstGeom prst="chevron">
            <a:avLst>
              <a:gd name="adj" fmla="val 50000"/>
            </a:avLst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1417320"/>
            <a:ext cx="3566160" cy="1310000"/>
          </a:xfrm>
          <a:prstGeom prst="roundRect">
            <a:avLst>
              <a:gd name="adj" fmla="val 10000"/>
            </a:avLst>
          </a:prstGeom>
          <a:solidFill>
            <a:srgbClr val="1D2733"/>
          </a:solidFill>
          <a:ln w="15875">
            <a:solidFill>
              <a:srgbClr val="B08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645920"/>
            <a:ext cx="3200400" cy="852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E8EDF2"/>
                </a:solidFill>
                <a:latin typeface="Segoe UI"/>
              </a:rPr>
              <a:t>flows/pipeline.py</a:t>
            </a:r>
          </a:p>
          <a:p>
            <a:pPr>
              <a:spcBef>
                <a:spcPts val="600"/>
              </a:spcBef>
            </a:pPr>
            <a:r>
              <a:rPr sz="1000" b="0" i="0">
                <a:solidFill>
                  <a:srgbClr val="93A3B3"/>
                </a:solidFill>
                <a:latin typeface="Segoe UI"/>
              </a:rPr>
              <a:t>façade locale — uv run python flows/pipeline.py</a:t>
            </a:r>
          </a:p>
        </p:txBody>
      </p:sp>
      <p:sp>
        <p:nvSpPr>
          <p:cNvPr id="14" name="Chevron 13"/>
          <p:cNvSpPr/>
          <p:nvPr/>
        </p:nvSpPr>
        <p:spPr>
          <a:xfrm>
            <a:off x="7863840" y="1958020"/>
            <a:ext cx="228600" cy="228600"/>
          </a:xfrm>
          <a:prstGeom prst="chevron">
            <a:avLst>
              <a:gd name="adj" fmla="val 50000"/>
            </a:avLst>
          </a:prstGeom>
          <a:solidFill>
            <a:srgbClr val="B08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566160" cy="1310000"/>
          </a:xfrm>
          <a:prstGeom prst="roundRect">
            <a:avLst>
              <a:gd name="adj" fmla="val 10000"/>
            </a:avLst>
          </a:prstGeom>
          <a:solidFill>
            <a:srgbClr val="1D2733"/>
          </a:solidFill>
          <a:ln w="15875">
            <a:solidFill>
              <a:srgbClr val="F2B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645920"/>
            <a:ext cx="3200400" cy="852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E8EDF2"/>
                </a:solidFill>
                <a:latin typeface="Segoe UI"/>
              </a:rPr>
              <a:t>python -m indusense.flows.predict_flow</a:t>
            </a:r>
          </a:p>
          <a:p>
            <a:pPr>
              <a:spcBef>
                <a:spcPts val="600"/>
              </a:spcBef>
            </a:pPr>
            <a:r>
              <a:rPr sz="1000" b="0" i="0">
                <a:solidFill>
                  <a:srgbClr val="93A3B3"/>
                </a:solidFill>
                <a:latin typeface="Segoe UI"/>
              </a:rPr>
              <a:t>entrée conteneur — docker compose run api 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914008"/>
            <a:ext cx="11155680" cy="228600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09688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93A3B3"/>
                </a:solidFill>
                <a:latin typeface="Segoe UI"/>
              </a:rPr>
              <a:t>FLOWS/PIPELINE.PY — LE FICHIER EN ENTIER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35216"/>
            <a:ext cx="10607040" cy="15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E8EDF2"/>
                </a:solidFill>
                <a:latin typeface="Consolas"/>
              </a:rPr>
              <a:t>from indusense.flows.predict_flow import indusense_pipeline, main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E8EDF2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E8EDF2"/>
                </a:solidFill>
                <a:latin typeface="Consolas"/>
              </a:rPr>
              <a:t>if __name__ == "__main__":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E8EDF2"/>
                </a:solidFill>
                <a:latin typeface="Consolas"/>
              </a:rPr>
              <a:t>    main()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486400"/>
            <a:ext cx="1115568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4FC3F7"/>
                </a:solidFill>
                <a:latin typeface="Segoe UI"/>
              </a:rPr>
              <a:t>Zéro logique dupliquée entre les deux points d'entrée : </a:t>
            </a:r>
            <a:r>
              <a:rPr sz="1300" b="0" i="0">
                <a:solidFill>
                  <a:srgbClr val="E8EDF2"/>
                </a:solidFill>
                <a:latin typeface="Segoe UI"/>
              </a:rPr>
              <a:t>un seul endroit à corriger si le flow change.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600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4FC3F7"/>
                </a:solidFill>
                <a:latin typeface="Segoe UI"/>
              </a:rPr>
              <a:t>04 · STOCKAGE PORTABLE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9000" y="292608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3A3B3"/>
                </a:solidFill>
                <a:latin typeface="Segoe UI"/>
              </a:rPr>
              <a:t>05/10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E8EDF2"/>
                </a:solidFill>
                <a:latin typeface="Segoe UI"/>
              </a:rPr>
              <a:t>Le même SQL, deux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93A3B3"/>
                </a:solidFill>
                <a:latin typeface="Segoe UI"/>
              </a:rPr>
              <a:t>InduSense — Module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51052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3A3B3"/>
                </a:solidFill>
                <a:latin typeface="Segoe U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5486400" cy="3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250"/>
              </a:spcAft>
            </a:pPr>
            <a:r>
              <a:rPr sz="1450" b="1" i="0">
                <a:solidFill>
                  <a:srgbClr val="4FC3F7"/>
                </a:solidFill>
                <a:latin typeface="Segoe UI"/>
              </a:rPr>
              <a:t>Une URL — </a:t>
            </a:r>
            <a:r>
              <a:rPr sz="1450" b="0" i="0">
                <a:solidFill>
                  <a:srgbClr val="E8EDF2"/>
                </a:solidFill>
                <a:latin typeface="Segoe UI"/>
              </a:rPr>
              <a:t>INDUSENSE_DB_URL : sqlite:///... en local, postgresql+psycopg://...@db:5432/postgres sous Compose.</a:t>
            </a:r>
          </a:p>
          <a:p>
            <a:pPr>
              <a:spcAft>
                <a:spcPts val="2250"/>
              </a:spcAft>
            </a:pPr>
            <a:r>
              <a:rPr sz="1450" b="1" i="0">
                <a:solidFill>
                  <a:srgbClr val="4FC3F7"/>
                </a:solidFill>
                <a:latin typeface="Segoe UI"/>
              </a:rPr>
              <a:t>Un seul upsert — </a:t>
            </a:r>
            <a:r>
              <a:rPr sz="1450" b="0" i="0">
                <a:solidFill>
                  <a:srgbClr val="E8EDF2"/>
                </a:solidFill>
                <a:latin typeface="Segoe UI"/>
              </a:rPr>
              <a:t>INSERT ... ON CONFLICT ... DO UPDATE, supporté nativement par SQLite (≥3.24) et PostgreSQL.</a:t>
            </a:r>
          </a:p>
          <a:p>
            <a:pPr>
              <a:spcAft>
                <a:spcPts val="2250"/>
              </a:spcAft>
            </a:pPr>
            <a:r>
              <a:rPr sz="1450" b="1" i="0">
                <a:solidFill>
                  <a:srgbClr val="4FC3F7"/>
                </a:solidFill>
                <a:latin typeface="Segoe UI"/>
              </a:rPr>
              <a:t>Types portables — </a:t>
            </a:r>
            <a:r>
              <a:rPr sz="1450" b="0" i="0">
                <a:solidFill>
                  <a:srgbClr val="E8EDF2"/>
                </a:solidFill>
                <a:latin typeface="Segoe UI"/>
              </a:rPr>
              <a:t>TEXT et DOUBLE PRECISION : valides en Postgres, acceptés par le typage dynamique de SQLite.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440680" cy="402336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93A3B3"/>
                </a:solidFill>
                <a:latin typeface="Segoe UI"/>
              </a:rPr>
              <a:t>PREDICT_FLOW.PY — _UPSERT_SQL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38528"/>
            <a:ext cx="4892040" cy="33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INSERT INTO predictions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  (machine, observed_at, score,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   decision, model_version, scored_at)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VALUES (:machine, :observed_at, :score,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        :decision, :model_version, :scored_at)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ON CONFLICT (machine, observed_at)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DO UPDATE SET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    score = excluded.score,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    decision = excluded.decision,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    model_version = excluded.model_version,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    scored_at = excluded.scored_at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600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4FC3F7"/>
                </a:solidFill>
                <a:latin typeface="Segoe UI"/>
              </a:rPr>
              <a:t>06 · PREUVE RÉELLE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9000" y="292608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3A3B3"/>
                </a:solidFill>
                <a:latin typeface="Segoe UI"/>
              </a:rPr>
              <a:t>07/10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E8EDF2"/>
                </a:solidFill>
                <a:latin typeface="Segoe UI"/>
              </a:rPr>
              <a:t>Deux passages, une base Postgres qui ne bouge 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93A3B3"/>
                </a:solidFill>
                <a:latin typeface="Segoe UI"/>
              </a:rPr>
              <a:t>InduSense — Module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51052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3A3B3"/>
                </a:solidFill>
                <a:latin typeface="Segoe U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11155680" cy="182880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93A3B3"/>
                </a:solidFill>
                <a:latin typeface="Segoe UI"/>
              </a:rPr>
              <a:t>DOCKER COMPOSE — DEUX EXÉCUTIONS DU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38528"/>
            <a:ext cx="10607040" cy="11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docker compose up -d --wait db                         → db-1 Healthy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docker compose run --rm --no-deps api \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    python -m indusense.flows.predict_flow             → rows_in_db=4   (1er passage)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docker compose run --rm --no-deps api \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    python -m indusense.flows.predict_flow             → rows_in_db=4   (2e passage)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11155680" cy="109728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5760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93A3B3"/>
                </a:solidFill>
                <a:latin typeface="Segoe UI"/>
              </a:rPr>
              <a:t>VÉRIFICATION INDÉPENDANTE — DIRECTEMENT DANS POSTGRES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95928"/>
            <a:ext cx="10607040" cy="3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docker compose exec db psql -U postgres \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    -c "SELECT COUNT(*) FROM predictions;"             → count =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00600"/>
            <a:ext cx="1115568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7CE38A"/>
                </a:solidFill>
                <a:latin typeface="Segoe UI"/>
              </a:rPr>
              <a:t>Ce que ça prouve — </a:t>
            </a:r>
            <a:r>
              <a:rPr sz="1300" b="0" i="0">
                <a:solidFill>
                  <a:srgbClr val="E8EDF2"/>
                </a:solidFill>
                <a:latin typeface="Segoe UI"/>
              </a:rPr>
              <a:t>pas seulement en local avec SQLite : le même module, exécuté deux fois dans le vrai conteneur contre le vrai service Postgres démarré par Compose, laisse toujours 4 lignes.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600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4FC3F7"/>
                </a:solidFill>
                <a:latin typeface="Segoe UI"/>
              </a:rPr>
              <a:t>07 · PIÈGE RENCONTRÉ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9000" y="292608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3A3B3"/>
                </a:solidFill>
                <a:latin typeface="Segoe UI"/>
              </a:rPr>
              <a:t>08/10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E8EDF2"/>
                </a:solidFill>
                <a:latin typeface="Segoe UI"/>
              </a:rPr>
              <a:t>MSYS_NO_PATHCONV, pas un bug du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93A3B3"/>
                </a:solidFill>
                <a:latin typeface="Segoe UI"/>
              </a:rPr>
              <a:t>InduSense — Module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51052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3A3B3"/>
                </a:solidFill>
                <a:latin typeface="Segoe U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11155680" cy="297180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93A3B3"/>
                </a:solidFill>
                <a:latin typeface="Segoe UI"/>
              </a:rPr>
              <a:t>SYMPTÔME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38528"/>
            <a:ext cx="5166360" cy="22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E8EDF2"/>
                </a:solidFill>
                <a:latin typeface="Consolas"/>
              </a:rPr>
              <a:t>-e INDUSENSE_DATA_DIR=/app/data/run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E8EDF2"/>
                </a:solidFill>
                <a:latin typeface="Consolas"/>
              </a:rPr>
              <a:t/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E8EDF2"/>
                </a:solidFill>
                <a:latin typeface="Consolas"/>
              </a:rPr>
              <a:t>→ FileNotFoundError: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E8EDF2"/>
                </a:solidFill>
                <a:latin typeface="Consolas"/>
              </a:rPr>
              <a:t>  C:/Program Files/Git/app/data/run/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E8EDF2"/>
                </a:solidFill>
                <a:latin typeface="Consolas"/>
              </a:rPr>
              <a:t>  capteurs_temperature.csv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600200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93A3B3"/>
                </a:solidFill>
                <a:latin typeface="Segoe UI"/>
              </a:rPr>
              <a:t>CORRECTIF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938528"/>
            <a:ext cx="5166360" cy="22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E8EDF2"/>
                </a:solidFill>
                <a:latin typeface="Consolas"/>
              </a:rPr>
              <a:t>export MSYS_NO_PATHCONV=1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E8EDF2"/>
                </a:solidFill>
                <a:latin typeface="Consolas"/>
              </a:rPr>
              <a:t/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E8EDF2"/>
                </a:solidFill>
                <a:latin typeface="Consolas"/>
              </a:rPr>
              <a:t>docker compose run --rm --no-deps \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E8EDF2"/>
                </a:solidFill>
                <a:latin typeface="Consolas"/>
              </a:rPr>
              <a:t>  -e INDUSENSE_DATA_DIR=/app/data/run \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E8EDF2"/>
                </a:solidFill>
                <a:latin typeface="Consolas"/>
              </a:rPr>
              <a:t>  api python -m indusense.flows.predict_flow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646280"/>
            <a:ext cx="1115568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E8EDF2"/>
                </a:solidFill>
                <a:latin typeface="Segoe UI"/>
              </a:rPr>
              <a:t>Sous Git Bash sur Windows, </a:t>
            </a:r>
            <a:r>
              <a:rPr sz="1300" b="0" i="0">
                <a:solidFill>
                  <a:srgbClr val="93A3B3"/>
                </a:solidFill>
                <a:latin typeface="Segoe UI"/>
              </a:rPr>
              <a:t>tout argument ressemblant à un chemin absolu Unix est réécrit en chemin Windows par la conversion automatique MSYS avant d'atteindre Docker. Rien à changer côté code Python — une particularité du shell, pas du pipeline.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600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4FC3F7"/>
                </a:solidFill>
                <a:latin typeface="Segoe UI"/>
              </a:rPr>
              <a:t>ANNEXE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9000" y="292608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3A3B3"/>
                </a:solidFill>
                <a:latin typeface="Segoe UI"/>
              </a:rPr>
              <a:t>09/10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E8EDF2"/>
                </a:solidFill>
                <a:latin typeface="Segoe UI"/>
              </a:rPr>
              <a:t>Glossaire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93A3B3"/>
                </a:solidFill>
                <a:latin typeface="Segoe UI"/>
              </a:rPr>
              <a:t>InduSense — Module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51052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3A3B3"/>
                </a:solidFill>
                <a:latin typeface="Segoe U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4FC3F7"/>
                </a:solidFill>
                <a:latin typeface="Segoe UI"/>
              </a:rPr>
              <a:t>Engine SQLAlchemy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00784"/>
            <a:ext cx="5440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E8EDF2"/>
                </a:solidFill>
                <a:latin typeface="Segoe UI"/>
              </a:rPr>
              <a:t>objet créé par create_engine(url) : gère la connexion, change de backend en changeant l'URL, jamais le code SQL.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4FC3F7"/>
                </a:solidFill>
                <a:latin typeface="Segoe UI"/>
              </a:rPr>
              <a:t>Upsert portable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00784"/>
            <a:ext cx="5440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E8EDF2"/>
                </a:solidFill>
                <a:latin typeface="Segoe UI"/>
              </a:rPr>
              <a:t>INSERT ... ON CONFLICT ... DO UPDATE, syntaxe partagée par SQLite (≥3.24) et PostgreSQL.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14600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4FC3F7"/>
                </a:solidFill>
                <a:latin typeface="Segoe UI"/>
              </a:rPr>
              <a:t>Façade (délégation)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43784"/>
            <a:ext cx="5440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E8EDF2"/>
                </a:solidFill>
                <a:latin typeface="Segoe UI"/>
              </a:rPr>
              <a:t>module qui importe et appelle la logique réelle, pour n'avoir qu'une seule implémentation à maintenir.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514600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4FC3F7"/>
                </a:solidFill>
                <a:latin typeface="Segoe UI"/>
              </a:rPr>
              <a:t>--no-deps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843784"/>
            <a:ext cx="5440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E8EDF2"/>
                </a:solidFill>
                <a:latin typeface="Segoe UI"/>
              </a:rPr>
              <a:t>option de docker compose run qui exécute une commande sans démarrer les services dont dépend le service ciblé.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657600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4FC3F7"/>
                </a:solidFill>
                <a:latin typeface="Segoe UI"/>
              </a:rPr>
              <a:t>Volume :ro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986784"/>
            <a:ext cx="5440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E8EDF2"/>
                </a:solidFill>
                <a:latin typeface="Segoe UI"/>
              </a:rPr>
              <a:t>montage en lecture seule : le conteneur lit les données hôte sans jamais pouvoir les modifier.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657600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4FC3F7"/>
                </a:solidFill>
                <a:latin typeface="Segoe UI"/>
              </a:rPr>
              <a:t>MSYS_NO_PATHCONV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986784"/>
            <a:ext cx="5440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E8EDF2"/>
                </a:solidFill>
                <a:latin typeface="Segoe UI"/>
              </a:rPr>
              <a:t>variable qui désactive la conversion automatique des chemins Unix en chemins Windows par Git Bash.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00600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Segoe UI"/>
              </a:rPr>
              <a:t>Paquet (Python)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129784"/>
            <a:ext cx="5440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E8EDF2"/>
                </a:solidFill>
                <a:latin typeface="Segoe UI"/>
              </a:rPr>
              <a:t>dossier de code avec __init__.py, installable (pip/uv) et importable via import nom_paquet ; ici, src/indusense/.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800600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Segoe UI"/>
              </a:rPr>
              <a:t>Script (racine)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129784"/>
            <a:ext cx="5440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E8EDF2"/>
                </a:solidFill>
                <a:latin typeface="Segoe UI"/>
              </a:rPr>
              <a:t>fichier exécuté directement, non installé, non importable de l'extérieur — absent de l'image Docker, qui ne copie que src/.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0"/>
            <a:ext cx="82296" cy="1097280"/>
          </a:xfrm>
          <a:prstGeom prst="rect">
            <a:avLst/>
          </a:prstGeom>
          <a:solidFill>
            <a:srgbClr val="7CE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E8EDF2"/>
                </a:solidFill>
                <a:latin typeface="Segoe UI"/>
              </a:rPr>
              <a:t>À retenir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 i="0">
                <a:solidFill>
                  <a:srgbClr val="93A3B3"/>
                </a:solidFill>
                <a:latin typeface="Segoe UI"/>
              </a:rPr>
              <a:t>Le conteneur ne voit que ce que le Dockerfile copie : la logique doit vivre dans le paquet, pas à la racine du dépôt. Un stockage « portable » ne se prouve qu'en le testant pour de vrai contre les deux bases — pas en le supposant.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93A3B3"/>
                </a:solidFill>
                <a:latin typeface="Segoe UI"/>
              </a:rPr>
              <a:t>Prochaine étape : jalon 08 (masqué) — M31-M32, PayGuard &amp; drift InduSense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93A3B3"/>
                </a:solidFill>
                <a:latin typeface="Segoe UI"/>
              </a:rPr>
              <a:t>InduSense — Module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51052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3A3B3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600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4FC3F7"/>
                </a:solidFill>
                <a:latin typeface="Segoe UI"/>
              </a:rPr>
              <a:t>05 · STOCKAGE PORTABLE — LE MÉCANISME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9000" y="292608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93A3B3"/>
                </a:solidFill>
                <a:latin typeface="Segoe UI"/>
              </a:rPr>
              <a:t>06/10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E8EDF2"/>
                </a:solidFill>
                <a:latin typeface="Segoe UI"/>
              </a:rPr>
              <a:t>Une URL choisit le moteur, jamais le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93A3B3"/>
                </a:solidFill>
                <a:latin typeface="Segoe UI"/>
              </a:rPr>
              <a:t>InduSense — Module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51052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3A3B3"/>
                </a:solidFill>
                <a:latin typeface="Segoe U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5486400" cy="3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250"/>
              </a:spcAft>
            </a:pPr>
            <a:r>
              <a:rPr sz="1450" b="1" i="0">
                <a:solidFill>
                  <a:srgbClr val="4FC3F7"/>
                </a:solidFill>
                <a:latin typeface="Segoe UI"/>
              </a:rPr>
              <a:t>Une seule URL lue — </a:t>
            </a:r>
            <a:r>
              <a:rPr sz="1450" b="0" i="0">
                <a:solidFill>
                  <a:srgbClr val="E8EDF2"/>
                </a:solidFill>
                <a:latin typeface="Segoe UI"/>
              </a:rPr>
              <a:t>INDUSENSE_DB_URL est le seul endroit du code qui sait si on parle à SQLite ou à PostgreSQL.</a:t>
            </a:r>
          </a:p>
          <a:p>
            <a:pPr>
              <a:spcAft>
                <a:spcPts val="2250"/>
              </a:spcAft>
            </a:pPr>
            <a:r>
              <a:rPr sz="1450" b="1" i="0">
                <a:solidFill>
                  <a:srgbClr val="4FC3F7"/>
                </a:solidFill>
                <a:latin typeface="Segoe UI"/>
              </a:rPr>
              <a:t>Un engine, peu importe la base — </a:t>
            </a:r>
            <a:r>
              <a:rPr sz="1450" b="0" i="0">
                <a:solidFill>
                  <a:srgbClr val="E8EDF2"/>
                </a:solidFill>
                <a:latin typeface="Segoe UI"/>
              </a:rPr>
              <a:t>create_engine(INDUSENSE_DB_URL) construit l'objet SQLAlchemy qui route vers le bon moteur, selon le préfixe de l'URL.</a:t>
            </a:r>
          </a:p>
          <a:p>
            <a:pPr>
              <a:spcAft>
                <a:spcPts val="2250"/>
              </a:spcAft>
            </a:pPr>
            <a:r>
              <a:rPr sz="1450" b="1" i="0">
                <a:solidFill>
                  <a:srgbClr val="4FC3F7"/>
                </a:solidFill>
                <a:latin typeface="Segoe UI"/>
              </a:rPr>
              <a:t>Le même SQL part vers les deux — </a:t>
            </a:r>
            <a:r>
              <a:rPr sz="1450" b="0" i="0">
                <a:solidFill>
                  <a:srgbClr val="E8EDF2"/>
                </a:solidFill>
                <a:latin typeface="Segoe UI"/>
              </a:rPr>
              <a:t>L'upsert (_UPSERT_SQL) est un seul texte, exécuté tel quel par engine.execute(...) — rien n'est traduit ni réécrit.</a:t>
            </a:r>
          </a:p>
          <a:p>
            <a:pPr>
              <a:spcAft>
                <a:spcPts val="2250"/>
              </a:spcAft>
            </a:pPr>
            <a:r>
              <a:rPr sz="1450" b="1" i="0">
                <a:solidFill>
                  <a:srgbClr val="4FC3F7"/>
                </a:solidFill>
                <a:latin typeface="Segoe UI"/>
              </a:rPr>
              <a:t>Changer de base = changer une variable — </a:t>
            </a:r>
            <a:r>
              <a:rPr sz="1450" b="0" i="0">
                <a:solidFill>
                  <a:srgbClr val="E8EDF2"/>
                </a:solidFill>
                <a:latin typeface="Segoe UI"/>
              </a:rPr>
              <a:t>Passer de SQLite à PostgreSQL ne touche aucune ligne de predict_flow.py : seule INDUSENSE_DB_URL change.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440680" cy="402336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93A3B3"/>
                </a:solidFill>
                <a:latin typeface="Segoe UI"/>
              </a:rPr>
              <a:t>LE CHEMIN D'UNE ÉCRITURE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38528"/>
            <a:ext cx="4892040" cy="33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INDUSENSE_DB_URL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    |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    v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create_engine(url)            (un seul appel, dans le code)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    |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    v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Engine SQLAlchemy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    |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    +-&gt; sqlite:///local.db                    (dev, local)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    |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    +-&gt; postgresql+psycopg://...@db:5432/...  (Compose)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    |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    v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DF2"/>
                </a:solidFill>
                <a:latin typeface="Consolas"/>
              </a:rPr>
              <a:t>engine.execute(_UPSERT_SQL)   (même SQL, 2 branches)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