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0" r:id="rId30"/>
    <p:sldId id="260" r:id="rId6"/>
    <p:sldId id="261" r:id="rId7"/>
    <p:sldId id="262" r:id="rId8"/>
    <p:sldId id="263" r:id="rId9"/>
    <p:sldId id="287" r:id="rId37"/>
    <p:sldId id="268" r:id="rId18"/>
    <p:sldId id="288" r:id="rId38"/>
    <p:sldId id="269" r:id="rId19"/>
    <p:sldId id="273" r:id="rId23"/>
    <p:sldId id="274" r:id="rId24"/>
    <p:sldId id="275" r:id="rId25"/>
    <p:sldId id="276" r:id="rId26"/>
    <p:sldId id="271" r:id="rId21"/>
    <p:sldId id="270" r:id="rId20"/>
    <p:sldId id="272" r:id="rId22"/>
    <p:sldId id="266" r:id="rId16"/>
    <p:sldId id="267" r:id="rId17"/>
    <p:sldId id="290" r:id="rId40"/>
    <p:sldId id="264" r:id="rId10"/>
    <p:sldId id="265" r:id="rId11"/>
    <p:sldId id="277" r:id="rId27"/>
    <p:sldId id="278" r:id="rId28"/>
    <p:sldId id="279" r:id="rId29"/>
    <p:sldId id="281" r:id="rId31"/>
    <p:sldId id="282" r:id="rId32"/>
    <p:sldId id="286" r:id="rId36"/>
    <p:sldId id="283" r:id="rId33"/>
    <p:sldId id="284" r:id="rId34"/>
    <p:sldId id="285" r:id="rId35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24.xml"/><Relationship Id="rId11" Type="http://schemas.openxmlformats.org/officeDocument/2006/relationships/slide" Target="slides/slide25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9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5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1.xml"/><Relationship Id="rId37" Type="http://schemas.openxmlformats.org/officeDocument/2006/relationships/slide" Target="slides/slide10.xml"/><Relationship Id="rId38" Type="http://schemas.openxmlformats.org/officeDocument/2006/relationships/slide" Target="slides/slide12.xml"/><Relationship Id="rId39" Type="http://schemas.openxmlformats.org/officeDocument/2006/relationships/slide" Target="slides/slide35.xml"/><Relationship Id="rId40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Git : structure, branches et 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Repo, dépôt local, branches et jalons pédagogiques — CISIA_24082026_Parcours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module CI/versioning (M24)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Qu'est-ce que Git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Système de gestion de versions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distribué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(VCS)</a:t>
            </a: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Chaque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copie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du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dépôt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contient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tout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l'historique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: pas de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serveur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central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obligatoire</a:t>
            </a:r>
            <a:endParaRPr sz="1600" b="0" i="0" dirty="0">
              <a:solidFill>
                <a:srgbClr val="1B1F24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Git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prend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des «photos» (commits) de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l'état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du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projet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à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chaque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validation</a:t>
            </a: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Un commit = un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instantané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+ un message + un auteur + un hash unique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Objectif : tracer les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évolutions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,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permettre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le travail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parallèle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et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revenir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en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arrière</a:t>
            </a:r>
            <a:endParaRPr sz="1800" b="1" i="0" dirty="0">
              <a:solidFill>
                <a:srgbClr val="1B1F24"/>
              </a:solidFill>
              <a:latin typeface="Calibri"/>
            </a:endParaRP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Utilisé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ici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pour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versionner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le code, les données de config, les tests et la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Repository (repo)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727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Le projet suivi par Git : historique + fichiers + métadonnées (.git/)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500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Une copie du repo hébergée ailleurs (ex. GitHub) — nommée par défaut «origin»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272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La copie du repo sur votre machine, avec votre working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04487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 instantané validé de l'état du projet, identifié par un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Branch (branche)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81727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Une ligne de développement indépendante pointant vers un 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4589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Fusion de l'historique de deux branches en une seule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Dépôt local vs dépôt distant (origin)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53491"/>
            <a:ext cx="3291840" cy="9144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GitHub
origin
(thomasfesq/CISIA_24082026_Parcours)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04851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296391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jalon/01 … jalon/12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587731"/>
            <a:ext cx="2743200" cy="914400"/>
          </a:xfrm>
          <a:prstGeom prst="roundRect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Dépôt local
(votre machine)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8678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guillaume-saidani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7822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main (locale)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6966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sauvegarde/*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410691"/>
            <a:ext cx="914400" cy="0"/>
          </a:xfrm>
          <a:prstGeom prst="bentConnector3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7" idx="3"/>
          </p:cNvCxnSpPr>
          <p:nvPr/>
        </p:nvCxnSpPr>
        <p:spPr>
          <a:xfrm flipV="1">
            <a:off x="7863840" y="2410691"/>
            <a:ext cx="822960" cy="251460"/>
          </a:xfrm>
          <a:prstGeom prst="bentConnector3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36771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36E"/>
                </a:solidFill>
                <a:latin typeface="Calibri"/>
              </a:rPr>
              <a:t>git clone / git fetch / git pull : rapatrient les commits de origin vers le local.
git push : envoie les commits locaux vers origin.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Un dépôt local, deux remotes : origin et industrialisation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50000"/>
            <a:ext cx="3300000" cy="15000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 — origin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(thomasfesq/CISIA_24082026_Parcours)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main, jalon/01 … jalon/12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6000" y="2250000"/>
            <a:ext cx="3300000" cy="1500000"/>
          </a:xfrm>
          <a:prstGeom prst="roundRect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Dépôt local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(votre machine)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rattrapage/04/…, guillaume-saidani, sauvegarde/*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1920" y="2250000"/>
            <a:ext cx="3300000" cy="15000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 — industrialisation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(guillaumesaidani-coder/industrialisation)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main, industrialisation/jalon-01 …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40080" y="3000000"/>
            <a:ext cx="505920" cy="0"/>
          </a:xfrm>
          <a:prstGeom prst="line">
            <a:avLst/>
          </a:prstGeom>
          <a:ln w="317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46000" y="3000000"/>
            <a:ext cx="505920" cy="0"/>
          </a:xfrm>
          <a:prstGeom prst="line">
            <a:avLst/>
          </a:prstGeom>
          <a:ln w="317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920000"/>
            <a:ext cx="380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36E"/>
                </a:solidFill>
                <a:latin typeface="Calibri"/>
              </a:rPr>
              <a:t>git fetch / git 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6000" y="1920000"/>
            <a:ext cx="380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36E"/>
                </a:solidFill>
                <a:latin typeface="Calibri"/>
              </a:rPr>
              <a:t>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00000"/>
            <a:ext cx="1069848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36E"/>
                </a:solidFill>
                <a:latin typeface="Calibri"/>
              </a:rPr>
              <a:t>origin : source du parcours — chaque jalon (jalon/01 … 12) y est fourni par le formateur, récupéré par fetch/pull.</a:t>
            </a:r>
          </a:p>
          <a:p>
            <a:pPr algn="l"/>
            <a:r>
              <a:rPr sz="1400" b="0">
                <a:solidFill>
                  <a:srgbClr val="5A636E"/>
                </a:solidFill>
                <a:latin typeface="Calibri"/>
              </a:rPr>
              <a:t>industrialisation : votre dépôt de rendu — vous y poussez votre propre historique (main, industrialisation/jalon-01 … 12).</a:t>
            </a:r>
          </a:p>
          <a:p>
            <a:pPr algn="l"/>
            <a:r>
              <a:rPr sz="1400" b="0">
                <a:solidFill>
                  <a:srgbClr val="5A636E"/>
                </a:solidFill>
                <a:latin typeface="Calibri"/>
              </a:rPr>
              <a:t>Les deux remotes ne se parlent jamais directement : le dépôt local reste l'unique point de passage entre les deux.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architecture : origin vs industrialisation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Pourquoi autant de branches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main : ligne de référence stable du parcours pédagogique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jalon/01 → jalon/12 (sur origin) : chaque jalon capture un état d'avancement du cours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Elles servent de «points de sauvegarde» pédagogiques : socle, CI, API, Docker, etc.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guillaume-saidani : branche de travail personnelle, où les jalons sont fusionnés au fil de l'avancement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sauvegarde/guillaume-saidani/&lt;date&gt; : snapshots de sécurité créés localement avant une manipulation risquée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Convention : nom + horodatage (ex. 20260824-144847) pour pouvoir revenir en arrière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État actuel du dépôt (24/08/2026)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Branche courante : guillaume-saidani — working tree propre (rien à commit)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Dernier commit : 2c855c0 — versioning M24 (DVC + MLflow + strategie)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6 commits au total sur cette branche, jamais poussés sur origin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Remote origin : github.com/thomasfesq/CISIA_24082026_Parcours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Deux sauvegardes locales existent (avant jalon 01 et avant jalon 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4000"/>
            </a:avLst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/>
            <a:r>
              <a:rPr sz="1300" b="0" i="0">
                <a:solidFill>
                  <a:srgbClr val="8FE38F"/>
                </a:solidFill>
                <a:latin typeface="Consolas"/>
              </a:rPr>
              <a:t>$ git branch -vv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* guillaume-saidani  2c855c0  data+model 637be8d38250...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main               1e5b406  [origin/main]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sauvegarde/guillaume-saidani/20260824-111725  a2b87ac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sauvegarde/guillaume-saidani/20260824-144847  58f0ff3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remotes/origin/{main, jalon/01..jalon/12}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contexte du projet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PÉDAGOGIE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fichier JALON_ACTUEL.md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FORMATION/JALON_ACTUEL.md documente l'état pédagogique attendu à un instant du parcours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Jalon actuel : 02-j1-après-midi-M24 — socle M23 + activité M24 (CI / versioning)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Présents : données, modèle RF, metadata, package minimal, tests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Absents à ce stade : API, image Docker, orchestration Prefect, mesure de drift, Game Day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Le jalon n'est pas un simple «snapshot fin de sprint» : il amorce volontairement certains éléments pour garantir un point de départ commun à tous les groupes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Preuve attendue documentée dans le fichier : uv sync, pytest, ruff check, indusense --help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jalons du parcours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flux appliqué dans ce parcours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1. Le formateur pousse un nouveau jalon sur origin (ex. jalon/02)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2. L'apprenant récupère la branche : git fetch origin jalon/02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3. Avant toute manipulation risquée, une branche de sauvegarde locale est créée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4. Le jalon est fusionné dans la branche de travail personnelle : git merge jalon/02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5. Les tests et vérifications du jalon sont exécutés (pytest, ruff, CLI)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6. Le travail continue sur la branche personnelle jusqu'au jalon suivant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workflow du parcours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Illustration : fusionner un jalon, vérifier, continuer (étapes 4-6)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0000"/>
            <a:ext cx="1069848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36E"/>
                </a:solidFill>
                <a:latin typeface="Calibri"/>
              </a:rPr>
              <a:t>Rappel (étapes 1-3) : 1. le formateur pousse jalon/02 sur origin  →  2. git fetch origin jalon/02  →  3. une branche de sauvegarde est créée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00000" y="2450000"/>
            <a:ext cx="700000" cy="0"/>
          </a:xfrm>
          <a:prstGeom prst="line">
            <a:avLst/>
          </a:prstGeom>
          <a:ln w="3175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320000" y="2370000"/>
            <a:ext cx="160000" cy="160000"/>
          </a:xfrm>
          <a:prstGeom prst="ellipse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000" y="2130000"/>
            <a:ext cx="24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A636E"/>
                </a:solidFill>
                <a:latin typeface="Calibri"/>
              </a:rPr>
              <a:t>origin/jalon/02 (reçu par fetch)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0000" y="4300000"/>
            <a:ext cx="9900000" cy="0"/>
          </a:xfrm>
          <a:prstGeom prst="line">
            <a:avLst/>
          </a:prstGeom>
          <a:ln w="381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0000" y="4520000"/>
            <a:ext cx="26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Calibri"/>
              </a:rPr>
              <a:t>votre branche personnelle</a:t>
            </a:r>
          </a:p>
        </p:txBody>
      </p:sp>
      <p:sp>
        <p:nvSpPr>
          <p:cNvPr id="11" name="Oval 10"/>
          <p:cNvSpPr/>
          <p:nvPr/>
        </p:nvSpPr>
        <p:spPr>
          <a:xfrm>
            <a:off x="1430000" y="4230000"/>
            <a:ext cx="140000" cy="14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00000" y="4300000"/>
            <a:ext cx="0" cy="900000"/>
          </a:xfrm>
          <a:prstGeom prst="line">
            <a:avLst/>
          </a:prstGeom>
          <a:ln w="25400">
            <a:solidFill>
              <a:srgbClr val="5A63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30000" y="5130000"/>
            <a:ext cx="140000" cy="140000"/>
          </a:xfrm>
          <a:prstGeom prst="ellipse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" y="5300000"/>
            <a:ext cx="1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6E"/>
                </a:solidFill>
                <a:latin typeface="Calibri"/>
              </a:rPr>
              <a:t>sauvegarde/…</a:t>
            </a:r>
          </a:p>
          <a:p>
            <a:pPr algn="ctr"/>
            <a:r>
              <a:rPr sz="1100" b="0">
                <a:solidFill>
                  <a:srgbClr val="5A636E"/>
                </a:solidFill>
                <a:latin typeface="Calibri"/>
              </a:rPr>
              <a:t>(étape 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00000" y="2450000"/>
            <a:ext cx="1000000" cy="1850000"/>
          </a:xfrm>
          <a:prstGeom prst="line">
            <a:avLst/>
          </a:prstGeom>
          <a:ln w="31750">
            <a:solidFill>
              <a:srgbClr val="E85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290000" y="4190000"/>
            <a:ext cx="220000" cy="220000"/>
          </a:xfrm>
          <a:prstGeom prst="ellipse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0000" y="2700000"/>
            <a:ext cx="26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85D2B"/>
                </a:solidFill>
                <a:latin typeface="Calibri"/>
              </a:rPr>
              <a:t>4 — git merge jalon/02</a:t>
            </a:r>
          </a:p>
          <a:p>
            <a:pPr algn="ctr"/>
            <a:r>
              <a:rPr sz="1300" b="1">
                <a:solidFill>
                  <a:srgbClr val="E85D2B"/>
                </a:solidFill>
                <a:latin typeface="Calibri"/>
              </a:rPr>
              <a:t>(commit de fusion)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000" y="4000000"/>
            <a:ext cx="2100000" cy="600000"/>
          </a:xfrm>
          <a:prstGeom prst="roundRect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— tests &amp; vérifications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pytest • ruff • CLI</a:t>
            </a:r>
          </a:p>
        </p:txBody>
      </p:sp>
      <p:sp>
        <p:nvSpPr>
          <p:cNvPr id="19" name="Oval 18"/>
          <p:cNvSpPr/>
          <p:nvPr/>
        </p:nvSpPr>
        <p:spPr>
          <a:xfrm>
            <a:off x="7430000" y="4230000"/>
            <a:ext cx="140000" cy="14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0000" y="4230000"/>
            <a:ext cx="140000" cy="14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0" y="4520000"/>
            <a:ext cx="33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6 — le travail continue sur la branche personnelle,</a:t>
            </a:r>
          </a:p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jusqu'à la récupération du jalon suivant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3880000"/>
            <a:ext cx="9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36E"/>
                </a:solidFill>
                <a:latin typeface="Calibri"/>
              </a:rPr>
              <a:t>jalon/03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illustration du workflow (étapes 4-6)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MÉCANIQUE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Fetch puis merge : deux temps, pas 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fetch télécharge les commits d'une branche distante (ex. jalon/02) sans toucher au répertoire de travail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Git les range sous une référence temporaire, FETCH_HEAD — aucun fichier local n'est encore modifié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merge intègre ensuite ce qui a été récupéré dans la branche courante (guillaume-saidani)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Comme les historiques ont divergé, Git crée un commit de fusion qui combine les deux lignes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git pull est un raccourci qui enchaîne les deux en une commande — le script de jalon fait l'équivalent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0">
                <a:solidFill>
                  <a:srgbClr val="8FE38F"/>
                </a:solidFill>
                <a:latin typeface="Consolas"/>
              </a:rPr>
              <a:t>From https://github.com/thomasfesq/CISIA_24082026_Parcours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 * branch            jalon/02   -&gt; FETCH_HEAD     &lt;- fetch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Merge made by the 'ort' strategy.                  &lt;-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fetch vs merge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MÉCANIQUE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1F24"/>
                </a:solidFill>
                <a:latin typeface="Calibri"/>
              </a:rPr>
              <a:t>L'historique Git : un graphe de commits chaînés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0000"/>
            <a:ext cx="1069848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36E"/>
                </a:solidFill>
                <a:latin typeface="Calibri"/>
              </a:rPr>
              <a:t>Exemple réel : les 6 commits de la branche guillaume-saidani (les plus récents à droite)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0000" y="4000000"/>
            <a:ext cx="9650000" cy="0"/>
          </a:xfrm>
          <a:prstGeom prst="line">
            <a:avLst/>
          </a:prstGeom>
          <a:ln w="381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25000" y="3925000"/>
            <a:ext cx="150000" cy="15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a2b87ac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pack apprenants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sprint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0" y="2500000"/>
            <a:ext cx="700000" cy="0"/>
          </a:xfrm>
          <a:prstGeom prst="line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80000" y="2430000"/>
            <a:ext cx="140000" cy="140000"/>
          </a:xfrm>
          <a:prstGeom prst="ellipse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000" y="2180000"/>
            <a:ext cx="14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A636E"/>
                </a:solidFill>
                <a:latin typeface="Calibri"/>
              </a:rPr>
              <a:t>jalon/01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0000" y="2500000"/>
            <a:ext cx="700000" cy="1500000"/>
          </a:xfrm>
          <a:prstGeom prst="line">
            <a:avLst/>
          </a:prstGeom>
          <a:ln w="27940">
            <a:solidFill>
              <a:srgbClr val="E85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40000" y="3890000"/>
            <a:ext cx="220000" cy="220000"/>
          </a:xfrm>
          <a:prstGeom prst="ellipse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fca6866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merge jalon/01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(socle M23)</a:t>
            </a:r>
          </a:p>
        </p:txBody>
      </p:sp>
      <p:sp>
        <p:nvSpPr>
          <p:cNvPr id="15" name="Oval 14"/>
          <p:cNvSpPr/>
          <p:nvPr/>
        </p:nvSpPr>
        <p:spPr>
          <a:xfrm>
            <a:off x="4725000" y="3925000"/>
            <a:ext cx="150000" cy="15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6b36ca4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retrait pack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apprenants</a:t>
            </a:r>
          </a:p>
        </p:txBody>
      </p:sp>
      <p:sp>
        <p:nvSpPr>
          <p:cNvPr id="17" name="Oval 16"/>
          <p:cNvSpPr/>
          <p:nvPr/>
        </p:nvSpPr>
        <p:spPr>
          <a:xfrm>
            <a:off x="6475000" y="3925000"/>
            <a:ext cx="150000" cy="15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58f0ff3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recap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module 23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0000" y="2500000"/>
            <a:ext cx="700000" cy="0"/>
          </a:xfrm>
          <a:prstGeom prst="line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530000" y="2430000"/>
            <a:ext cx="140000" cy="140000"/>
          </a:xfrm>
          <a:prstGeom prst="ellipse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0000" y="2180000"/>
            <a:ext cx="14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A636E"/>
                </a:solidFill>
                <a:latin typeface="Calibri"/>
              </a:rPr>
              <a:t>jalon/02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00000" y="2500000"/>
            <a:ext cx="700000" cy="1500000"/>
          </a:xfrm>
          <a:prstGeom prst="line">
            <a:avLst/>
          </a:prstGeom>
          <a:ln w="27940">
            <a:solidFill>
              <a:srgbClr val="E85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190000" y="3890000"/>
            <a:ext cx="220000" cy="220000"/>
          </a:xfrm>
          <a:prstGeom prst="ellipse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e29602b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merge jalon/02</a:t>
            </a:r>
          </a:p>
          <a:p>
            <a:pPr algn="ctr"/>
            <a:r>
              <a:rPr sz="1100" b="0">
                <a:solidFill>
                  <a:srgbClr val="1B1F24"/>
                </a:solidFill>
                <a:latin typeface="Calibri"/>
              </a:rPr>
              <a:t>(socle M24)</a:t>
            </a:r>
          </a:p>
        </p:txBody>
      </p:sp>
      <p:sp>
        <p:nvSpPr>
          <p:cNvPr id="25" name="Oval 24"/>
          <p:cNvSpPr/>
          <p:nvPr/>
        </p:nvSpPr>
        <p:spPr>
          <a:xfrm>
            <a:off x="9975000" y="3925000"/>
            <a:ext cx="150000" cy="15000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0000" y="4220000"/>
            <a:ext cx="1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B1F24"/>
                </a:solidFill>
                <a:latin typeface="Calibri"/>
              </a:rPr>
              <a:t>2c855c0</a:t>
            </a:r>
          </a:p>
          <a:p>
            <a:pPr algn="ctr"/>
            <a:r>
              <a:rPr sz="1100" b="1">
                <a:solidFill>
                  <a:srgbClr val="1B1F24"/>
                </a:solidFill>
                <a:latin typeface="Calibri"/>
              </a:rPr>
              <a:t>data+model</a:t>
            </a:r>
          </a:p>
          <a:p>
            <a:pPr algn="ctr"/>
            <a:r>
              <a:rPr sz="1100" b="1">
                <a:solidFill>
                  <a:srgbClr val="1B1F24"/>
                </a:solidFill>
                <a:latin typeface="Calibri"/>
              </a:rPr>
              <a:t>PR-AUC 0.1036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000" y="3220000"/>
            <a:ext cx="1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5D2B"/>
                </a:solidFill>
                <a:latin typeface="Calibri"/>
              </a:rPr>
              <a:t>HEAD → guillaume-saidani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0000" y="3740000"/>
            <a:ext cx="0" cy="170000"/>
          </a:xfrm>
          <a:prstGeom prst="line">
            <a:avLst/>
          </a:prstGeom>
          <a:ln w="25400">
            <a:solidFill>
              <a:srgbClr val="E85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750000"/>
            <a:ext cx="1069848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36E"/>
                </a:solidFill>
                <a:latin typeface="Calibri"/>
              </a:rPr>
              <a:t>Chaque commit stocke le hash de son (ou ses) parent(s) : ce chaînage forme l'historique.</a:t>
            </a:r>
          </a:p>
          <a:p>
            <a:pPr algn="l"/>
            <a:r>
              <a:rPr sz="1250" b="0">
                <a:solidFill>
                  <a:srgbClr val="5A636E"/>
                </a:solidFill>
                <a:latin typeface="Calibri"/>
              </a:rPr>
              <a:t>Un commit de fusion (fca6866, e29602b) a deux parents — celui de la branche et celui du jalon fusionné.</a:t>
            </a:r>
          </a:p>
          <a:p>
            <a:pPr algn="l"/>
            <a:r>
              <a:rPr sz="1250" b="0">
                <a:solidFill>
                  <a:srgbClr val="5A636E"/>
                </a:solidFill>
                <a:latin typeface="Calibri"/>
              </a:rPr>
              <a:t>Une branche (guillaume-saidani) n'est qu'une étiquette mobile pointant sur le dernier commit ; HEAD indique la branche active.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mécanique : l'historique comme graphe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FOCUS BRANCHE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contenu de guillaume-saidani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6 commits au total sur cette branche, jamais poussés sur origin (aucun upstream configuré)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2c855c0 — data+model 637be8d38250 | PR-AUC 0.1036 (versioning M24 : DVC + MLflow + strategie)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e29602b — Merge de jalon/02 (socle M24 : CI, pre-commit, dependances mlops)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58f0ff3 — Ajout recap pedagogique module 23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6b36ca4 — Retrait du pack apprenants du suivi git (materiel de cours, pas du code livrable)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fca6866 — Merge de jalon/01 (socle M23 : package, tests, structure)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a2b87ac — Ajout initial du pack apprenants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focus branche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Où sont les jalons « en local »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Un jalon n'est pas un dossier séparé : c'est un point de l'historique Git, pas un répertoire sur le disque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Le contenu cumulé des jalons fusionnés vit dans le même dossier de travail : C:\Users\...\CISIA_24082026_Parcours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Voir le contenu exact d'un jalon sans le mélanger aux suivants : git show origin/jalon/01:chemin/fichier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Comparer deux jalons : git diff origin/jalon/01 origin/jalon/02 --stat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Isoler physiquement un jalon dans un vrai dossier (optionnel) : git worktree add ../CISIA_jalon01 origin/jalon/01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jalons en local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LE DOSSIER .git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Où vit l'historique complet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.git/ est un dossier caché à la racine du dépôt : C:\Users\...\CISIA_24082026_Parcours\.git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Il contient tous les commits, toutes les branches, tous les tags — c'est la seule vraie mémoire de Git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Invisible par défaut dans l'Explorateur Windows (nom commençant par un point)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Pour l'afficher : onglet Affichage → cocher « Éléments masqués »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Le working tree (les fichiers que tu vois et édites) n'est qu'une vue extraite de .git à un instant donné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le dossier .git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ÉTAT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Un fichier non commité est-il perdu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Non : un fichier non commité existe physiquement sur le disque, comme n'importe quel autre — il n'est juste pas encore enregistré dans .git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git status liste à tout moment ce qui est modifié ou nouveau et pas encore capturé par un commit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Garde-fou du parcours : mettre_a_niveau.ps1 vérifie git status --porcelain avant de charger un jalon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S'il n'est pas vide, le script s'arrête avec « Travail non enregistre » — rien n'est fusionné, rien n'est écrasé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Le seul vrai risque de perte reste une commande destructive volontaire (git reset --hard, git checkout -- 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fichiers non commités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RATTRAPAGE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Pourquoi une branche de rattrapage n'hérite pas de l'historique perso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Un merge normal peut échouer en conflit quand la branche perso et le jalon officiel modifient les mêmes fichiers (ex. ci.yml, api/main.py)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-Rattrapage ne fusionne jamais : il repart directement de origin/jalon/NN — git switch -c rattrapage/NN/&lt;horodatage&gt; origin/jalon/NN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Conséquence : l'historique divergent de la branche perso est ignoré pour cette nouvelle branche, pas supprimé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Le point de divergence reste identifiable avec git merge-base branche-perso rattrapage/NN/...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Rien n'est perdu : la branche perso garde tous ses commits ; les deux branches coexistent séparément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rattrapage vs merge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MODULE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Montrer le squelette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Étape du module 23, juste après « pourquoi on sort du notebook » : parcourir l'ossature du package avant d'y toucher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pyproject.toml — identité du projet, requires-python &gt;=3.13,&lt;3.14, dépendances, script indusense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src/indusense/features/temporal.py — le shift(1) avant le rolling (mécanisme anti-fuite)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src/indusense/data/loaders.py — normalize_machine_id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tests/test_temporal.py — suite anti-fuite (tri temporel, colonne manquante)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src/indusense/cli.py — commandes train / predict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Vérification collective avant les TP : uv sync, Test-Path pyproject.toml/uv.lock, import du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module 23, squelette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Qu'est-ce que le modèle RF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RF = Random Forest (forêt aléatoire) — un algorithme de classification de scikit-learn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RandomForestClassifier(n_estimators=200) : combine 200 arbres de décision, chacun entraîné sur un sous-échantillon aléatoire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La prédiction finale résulte d'un vote entre tous les arbres — plus robuste qu'un seul arbre qui surapprendrait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class_weight="balanced" : compense le déséquilibre des classes — les pannes sont rares face au fonctionnement normal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métier : à partir des features (température, pression, moyennes glissantes…), prédit si une machine va tomber en panne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C'est ce modèle qui est sérialisé dans artifacts/models/rf.joblib — le fichier versionné aujourd'hui via DVC (rf.joblib.dvc) et tracé dans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modèle RF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« robot CI », définition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Expression du guide pour désigner le système d'intégration continue : un processus automatisé qui rejoue des vérifications à chaque évènement Git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Ici, le robot = GitHub Actions, piloté par .github/workflows/ci.yml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Il constate, il ne corrige rien — contrairement à pre-commit en local qui répare (ruff --fix, black)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Verdict binaire, vert ou rouge, visible dans l'onglet Actions de GitHub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Il applique les mêmes règles à chaque run, de façon identique et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robot CI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Quand le robot CI démarre-t-il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.github/workflows/ci.yml définit deux déclencheurs indépendants (on:)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push : branches: [main] — un commit poussé directement sur main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pull_request : ouverture ou mise à jour d'une pull request, quelle que soit la branche source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Sur ta branche personnelle (guillaume-saidani), un git commit ne déclenche rien : ni push sur main, ni PR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déclencheur s'active quand tu ouvres une pull request vers main — ton futur rendu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CI/CD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Un run, une machine jetable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Run : une exécution complète du workflow CI (.github/workflows/ci.yml, job quality), déclenchée une fois par un évènement (push ou PR)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Visible dans l'onglet Actions de GitHub, avec son propre log et son propre statut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runs-on: ubuntu-latest provisionne une VM Ubuntu à la demande, uniquement pour ce run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Elle exécute les étapes (checkout, install, lint, format, tests), puis elle est détruite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Chaque run reprovisionne une machine neuve : aucun état hérité d'un run précédent, environnement toujours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CI/CD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1F24"/>
                </a:solidFill>
                <a:latin typeface="Calibri"/>
              </a:rPr>
              <a:t>Illustration : le run du workflow CI (ci.yml)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0000" y="1650000"/>
            <a:ext cx="2600000" cy="4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git push -&gt; branche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0000" y="1650000"/>
            <a:ext cx="2600000" cy="4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pull request (n'importe quelle branche)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00000" y="2050000"/>
            <a:ext cx="1996000" cy="15000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096000" y="2050000"/>
            <a:ext cx="2004000" cy="15000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200000"/>
            <a:ext cx="10911840" cy="1750000"/>
          </a:xfrm>
          <a:prstGeom prst="roundRect">
            <a:avLst/>
          </a:prstGeom>
          <a:noFill/>
          <a:ln w="1905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0080" y="2280000"/>
            <a:ext cx="60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5A636E"/>
                </a:solidFill>
                <a:latin typeface="Calibri"/>
              </a:rPr>
              <a:t>job « quality » — runs-on: ubuntu-latest (provisionnée pour ce run)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Checkout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actions/checkout@v4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 3.13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actions/setup-python@v5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0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0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uv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astral-sh/setup-uv@v3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Install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uv sync --extra dev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0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0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Lint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uv run ruff check 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5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Format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uv run black --check 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0000" y="2680000"/>
            <a:ext cx="1300000" cy="90000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Tests</a:t>
            </a:r>
          </a:p>
          <a:p>
            <a:pPr algn="ctr"/>
            <a:r>
              <a:rPr sz="900" b="0">
                <a:solidFill>
                  <a:srgbClr val="C9CED6"/>
                </a:solidFill>
                <a:latin typeface="Consolas"/>
              </a:rPr>
              <a:t>uv run pytest -q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50000" y="3130000"/>
            <a:ext cx="15000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100000"/>
            <a:ext cx="106984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Verdict binaire, visible dans l'onglet Actions : ✓ tous les steps passent → fusion possible  |  ✗ un step échoue → la chaîne s'arrête, le job est marqué en échec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00000"/>
            <a:ext cx="106984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36E"/>
                </a:solidFill>
                <a:latin typeface="Calibri"/>
              </a:rPr>
              <a:t>La VM est provisionnée pour ce run puis détruite juste après : rien n'est hérité d'un run à l'autre — chaque run repart d'un environnement neuf.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illustration du run CI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Toujours vérifier git status avant une opération destructive (checkout, reset, clean)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Créer une branche de sauvegarde avant une manipulation risquée sur son historique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Ne jamais force-push sur main ou sur une branche partagée sans accord explicite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 commit = un changement cohérent, avec un message clair sur le «pourquoi»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Utiliser des branches dédiées (jalon, feature, sauvegarde) plutôt que tout mélanger sur main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Relire git status après un git add large avant de committer (éviter de committer un secret)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Garder sa branche à jour avec main avant de fusionner (merge ou rebase) : moins de conflits en fin de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bonnes pratiques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Git structure le projet en repo (origin) + copies locales, reliées par push/pull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Les branches isolent des lignes de travail : main, jalon/xx, branche personnelle, sauvegardes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Dans ce parcours, chaque jalon = un état pédagogique fusionné progressivement dans guillaume-saidani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JALON_ACTUEL.md documente précisément ce qui est attendu à chaque étape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VCS CENTRALISÉ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VCS centralisé : quand le serveur devient obligatoire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Un VCS centralisé (SVN, CVS, Perforce…) ne stocke l'historique complet qu'à un seul endroit : le serveur central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Chaque poste ne récupère qu'une copie de travail (working copy) de l'état courant, pas tout l'historique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Toute opération qui touche l'historique (commit, log, diff, blame, création de branche) doit atteindre le serveur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Sans réseau ni serveur disponible : impossible de committer, de consulter les versions passées ou de créer une branche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Le serveur devient un point de passage obligé et un point unique de défaillance (single point of failure)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S'il tombe, ou si son disque est perdu sans sauvegarde externe, c'est tout l'historique du projet qui disparaît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Les branches sont coûteuses : elles vivent sur le serveur, sont visibles de tous, et changer de branche implique un aller-retour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VCS centralisé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VCS CENTRALISÉ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Schéma : un serveur central obligatoire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0080" y="1850000"/>
            <a:ext cx="3291840" cy="9144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Serveur central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(seul exemplaire de l'historique complet)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00000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Poste A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(copie de travail)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103120" y="2764400"/>
            <a:ext cx="3992880" cy="735600"/>
          </a:xfrm>
          <a:prstGeom prst="line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24400" y="3500000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Poste B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(copie de travail)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764400"/>
            <a:ext cx="0" cy="735600"/>
          </a:xfrm>
          <a:prstGeom prst="line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17280" y="3500000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Poste C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(copie de travail)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2764400"/>
            <a:ext cx="3992880" cy="735600"/>
          </a:xfrm>
          <a:prstGeom prst="line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550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36E"/>
                </a:solidFill>
                <a:latin typeface="Calibri"/>
              </a:rPr>
              <a:t>commit, log, diff, blame, création de branche : chaque opération d'historique doit atteindre ce serveur.</a:t>
            </a:r>
          </a:p>
          <a:p>
            <a:r>
              <a:rPr sz="1400" b="0">
                <a:solidFill>
                  <a:srgbClr val="5A636E"/>
                </a:solidFill>
                <a:latin typeface="Calibri"/>
              </a:rPr>
              <a:t>Panne ou perte du serveur (sans sauvegarde externe) = perte de tout l'historique du projet.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schéma serveur central obligatoire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VCS CENTRALISÉ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Ce qui changerait si Git dépendait d'un serveur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Aujourd'hui (Git, distribué) : chaque clone contient tout l'historique — commit, log, diff fonctionnent hors ligne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Avec un serveur central obligatoire : commit, log et diff nécessiteraient une connexion permanente au serveur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Aujourd'hui : créer une branche est une opération locale, instantanée, qui ne touche pas le serveur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Avec un serveur central obligatoire : chaque branche serait une ressource partagée sur le serveur, plus lourde à créer et à isoler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Aujourd'hui : perdre le serveur origin ne fait perdre aucun historique — n'importe quel clone local peut le reconstituer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Avec un serveur central obligatoire : perdre le serveur ferait perdre l'historique du projet, sauf sauvegarde externe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Aujourd'hui : fusionner ou comparer des branches se fait localement, sans latence réseau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Avec un serveur central obligatoire : chaque comparaison ou fusion irait chercher les données sur le serveur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distribué vs centralisé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TRAÇABILITÉ (MLFLOW / DVC)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Sans traçabilité, un modèle n'est qu'un artefact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Un fichier rf.joblib seul ne répond à aucune question : quel code l'a produit ? quelles données ? quels réglages ?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Sans ces réponses, c'est un artefact isolé : impossible à réexpliquer, à auditer, ou à reproduire à l'identique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Deux runs peuvent écraser le même fichier avec des résultats différents — sans traçabilité, rien ne permet de les distinguer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«Ça marche» ne suffit pas en production : il faut pouvoir répondre «pourquoi ce résultat, avec quoi ?»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MLflow transforme l'entraînement en un run tracé, identifié par un run_id unique et immuable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Il associe automatiquement les paramètres, les métriques, des tags de provenance et l'artefact modèle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Avec cette traçabilité, l'entraînement redevient un résultat reproductible : on peut le rejouer, le comparer, l'auditer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traçabilité MLflow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TRAÇABILITÉ (MLFLOW / DVC)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Ce qu'un run MLflow capture, concrètement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00000"/>
            <a:ext cx="5205920" cy="44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 bIns="228600"/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Sans traçabilité — un artefact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rf.joblib seul, posé sur le disque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Quel code l'a produit ? Aucun lien vers un commit git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Quelles données ? Aucune preuve de la version du gold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Quels réglages (n_estimators, seed, seuil) ? Perdus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Quelles métriques ? Non rattachées au fichier modèle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Deux runs peuvent écraser rf.joblib sans laisser de 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6000" y="1700000"/>
            <a:ext cx="5205920" cy="44000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 bIns="228600"/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Avec MLflow — un résultat reproductible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run_id unique et immuable (ex. rf-&lt;empreinte du gold&gt;)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Params tracés : n_estimators, random_state, threshold, split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Metrics tracées : pr_auc, roc_auc, precision, recall, f1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Tags de provenance : dataset, gold_md5 (relie code + données)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Modèle + signature + dépendances figées, enregistré au Model Registry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–  Le run est rejouable, comparable et auditable a posteriori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ce que trace scripts/demo_versioning.py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TRAÇABILITÉ (MLFLOW / DVC)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remote DVC : où vivent les gros fichiers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Git ne stocke que des pointeurs légers (fichiers .dvc, ex. rf.joblib.dvc) — un hash + la taille du fichier réel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 fichier réel (data/gold/gold_dataset.csv, artifacts/models/rf.joblib) n'entre jamais dans .git : trop lourd, trop instable en diff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Le remote DVC est l'endroit où vivent ces fichiers réels — dossier local, S3, GCS, serveur SSH…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C'est l'équivalent d'origin pour Git, mais pour les binaires que Git gère mal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dvc push envoie les fichiers vers le remote ; dvc pull / dvc checkout les rapatrient à partir du hash pointé par le commit courant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Sans remote configuré, les pointeurs .dvc existent dans git mais les fichiers réels restent introuvables ailleurs que sur la machine d'origine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Dans ce projet : scripts/demo_versioning.py configure un remote local via dvc remote add -d -f localremote &lt;chemin&gt; (option --remote)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La procédure affichée en fin de script inclut dvc push, pour rendre data+modèle accessibles au-delà de la machine qui a entraîné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remote DVC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TRAVAIL COLLABORATIF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Travailler à plusieurs : une branche par personne, jamais sur 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Chaque personne clone le même dépôt et travaille sur sa propre branche — jamais directement sur main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Isoler un travail en cours évite qu'un développement inachevé casse ce que les autres utilisent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Une branche = une intention nommée clairement (une fonctionnalité, un correctif, une exploration)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Convention courante : feature/nom, fix/nom — visible et compréhensible par toute l'équipe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Le travail se partage via origin : chaque personne pousse sa branche, jamais son historique local complet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git push publie une branche ; les autres la récupèrent avec git fetch, sans toucher à la leur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Intégrer le travail de quelqu'un d'autre, c'est fusionner sa branche dans la sienne — jamais l'écraser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git merge (ou git pull) rapproche deux historiques qui ont divergé, sans perdre les commits de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travail collaboratif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TRAVAIL COLLABORATIF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circuit d'une pull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50000"/>
            <a:ext cx="3300000" cy="9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Alice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branche feature/dashboard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1920" y="1850000"/>
            <a:ext cx="3300000" cy="9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branche fix/api-timeout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6000" y="3250000"/>
            <a:ext cx="3300000" cy="900000"/>
          </a:xfrm>
          <a:prstGeom prst="roundRect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Pull request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CI (lint, tests) + revue de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6000" y="4650000"/>
            <a:ext cx="3300000" cy="9000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main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sur origin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90080" y="2750000"/>
            <a:ext cx="3805920" cy="500000"/>
          </a:xfrm>
          <a:prstGeom prst="line">
            <a:avLst/>
          </a:prstGeom>
          <a:ln w="317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96000" y="2750000"/>
            <a:ext cx="3805920" cy="500000"/>
          </a:xfrm>
          <a:prstGeom prst="line">
            <a:avLst/>
          </a:prstGeom>
          <a:ln w="317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000" y="4150000"/>
            <a:ext cx="0" cy="500000"/>
          </a:xfrm>
          <a:prstGeom prst="line">
            <a:avLst/>
          </a:prstGeom>
          <a:ln w="317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700000"/>
            <a:ext cx="10698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36E"/>
                </a:solidFill>
                <a:latin typeface="Calibri"/>
              </a:rPr>
              <a:t>Le code n'entre dans main qu'après une pull request : les contrôles automatiques (CI) doivent passer et une autre personne doit relire et approuver les changements.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circuit d'une pull request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TRAVAIL COLLABORATIF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conflit de fusion : deux personnes, la même ligne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Un conflit survient quand deux branches modifient la même zone d'un fichier depuis leur point commun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Git ne devine pas quelle version garder : il s'arrête et demande à une personne de trancher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Le fichier en conflit contient des marqueurs &lt;&lt;&lt;&lt;&lt;&lt;&lt; / ======= / &gt;&gt;&gt;&gt;&gt;&gt;&gt; qui délimitent les deux versions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Résoudre, c'est choisir, combiner ou réécrire manuellement, puis retirer ces marqueurs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Une fois résolu : git add sur le(s) fichier(s) concerné(s), puis git commit termine la fusion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 commit de fusion garde la trace des deux lignes d'historique qui viennent de se rejoindre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1F24"/>
                </a:solidFill>
                <a:latin typeface="Calibri"/>
              </a:rPr>
              <a:t>▸ Prévenir plutôt que guérir : des branches courtes, fusionnées souvent, limitent la taille des conflits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Plus une branche vit longtemps sans se resynchroniser avec main, plus elle risque de diverger fortement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conflits de fusion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 — COMMANDES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Commandes de base : locales vs distantes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00000"/>
            <a:ext cx="5205920" cy="420000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 bIns="228600"/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Locales — n'impliquent pas le réseau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status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état du working tree (modifs, fichiers non suivis)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add &lt;fichier&gt;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indexe des changements pour le prochain commit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commit -m "..."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enregistre un instantané dans l'historique local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log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affiche l'historique des commits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branch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liste, crée ou supprime des branches locales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merge &lt;branche&gt;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fusionne une branche dans la branche courante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6000" y="1700000"/>
            <a:ext cx="5205920" cy="42000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 bIns="228600"/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Distantes — parlent au serveur (origin)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clone &lt;url&gt;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copie complète d'un dépôt distant, historique inclus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fetch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télécharge les nouveaux commits sans les fusionner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pull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fetch + merge (ou rebase) en une seule commande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push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envoie les commits locaux vers le remote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remote -v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liste les remotes configurés et leurs URLs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git ls-remote  </a:t>
            </a:r>
            <a:r>
              <a:rPr sz="1250" b="0">
                <a:solidFill>
                  <a:srgbClr val="FFFFFF"/>
                </a:solidFill>
                <a:latin typeface="Calibri"/>
              </a:rPr>
              <a:t>— liste les branches/tags d'un remote sans le cloner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0000"/>
            <a:ext cx="1069848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36E"/>
                </a:solidFill>
                <a:latin typeface="Calibri"/>
              </a:rPr>
              <a:t>Règle simple : si la commande peut s'exécuter sans connexion réseau, elle est locale ; si elle parle à origin, elle est distante.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annexe : commandes locales vs distantes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945</Words>
  <Application>Microsoft Office PowerPoint</Application>
  <PresentationFormat>Grand écran</PresentationFormat>
  <Paragraphs>93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Aelion</cp:lastModifiedBy>
  <cp:revision>2</cp:revision>
  <dcterms:created xsi:type="dcterms:W3CDTF">2013-01-27T09:14:16Z</dcterms:created>
  <dcterms:modified xsi:type="dcterms:W3CDTF">2026-08-24T13:03:57Z</dcterms:modified>
  <cp:category/>
</cp:coreProperties>
</file>