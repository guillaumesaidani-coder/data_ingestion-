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832A"/>
                </a:solidFill>
                <a:latin typeface="IBM Plex Sans"/>
              </a:rPr>
              <a:t>GOLD FEATURE ENGINEERING · TP6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F7F8F4"/>
                </a:solidFill>
                <a:latin typeface="IBM Plex Sans"/>
              </a:rPr>
              <a:t>Nom +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C7D0D6"/>
                </a:solidFill>
                <a:latin typeface="IBM Plex Sans"/>
              </a:rPr>
              <a:t>Où vit vraiment la fenêtre temporelle d'une feature ou d'un label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C8894"/>
                </a:solidFill>
                <a:latin typeface="Consolas"/>
              </a:rPr>
              <a:t>gold_machine_hourly_feature · indusense_db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832A"/>
                </a:solidFill>
                <a:latin typeface="IBM Plex Sans"/>
              </a:rPr>
              <a:t>LE CONSTAT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875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2181F"/>
                </a:solidFill>
                <a:latin typeface="IBM Plex Sans"/>
              </a:rPr>
              <a:t>Le schéma SQL ne dit rien sur la fenêtre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212080" cy="4023360"/>
          </a:xfrm>
          <a:prstGeom prst="roundRect">
            <a:avLst>
              <a:gd name="adj" fmla="val 6000"/>
            </a:avLst>
          </a:prstGeom>
          <a:solidFill>
            <a:srgbClr val="12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67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C8894"/>
                </a:solidFill>
                <a:latin typeface="Consolas"/>
              </a:rPr>
              <a:t>models.py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60320"/>
            <a:ext cx="45720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500" b="0">
                <a:solidFill>
                  <a:srgbClr val="E8E8E8"/>
                </a:solidFill>
                <a:latin typeface="Consolas"/>
              </a:rPr>
              <a:t>temp_mean_6h      = Column(Float)</a:t>
            </a:r>
          </a:p>
          <a:p>
            <a:pPr>
              <a:lnSpc>
                <a:spcPct val="145000"/>
              </a:lnSpc>
            </a:pPr>
            <a:r>
              <a:rPr sz="1500" b="0">
                <a:solidFill>
                  <a:srgbClr val="E8E8E8"/>
                </a:solidFill>
                <a:latin typeface="Consolas"/>
              </a:rPr>
              <a:t>temp_mean_12h     = Column(Float)</a:t>
            </a:r>
          </a:p>
          <a:p>
            <a:pPr>
              <a:lnSpc>
                <a:spcPct val="145000"/>
              </a:lnSpc>
            </a:pPr>
            <a:r>
              <a:rPr sz="1500" b="0">
                <a:solidFill>
                  <a:srgbClr val="E8E8E8"/>
                </a:solidFill>
                <a:latin typeface="Consolas"/>
              </a:rPr>
              <a:t>temp_mean_24h     = Column(Float)</a:t>
            </a:r>
          </a:p>
          <a:p>
            <a:pPr>
              <a:lnSpc>
                <a:spcPct val="145000"/>
              </a:lnSpc>
            </a:pPr>
            <a:r>
              <a:rPr sz="1500" b="0">
                <a:solidFill>
                  <a:srgbClr val="E8E8E8"/>
                </a:solidFill>
                <a:latin typeface="Consolas"/>
              </a:rPr>
              <a:t/>
            </a:r>
          </a:p>
          <a:p>
            <a:pPr>
              <a:lnSpc>
                <a:spcPct val="145000"/>
              </a:lnSpc>
            </a:pPr>
            <a:r>
              <a:rPr sz="1500" b="0">
                <a:solidFill>
                  <a:srgbClr val="E8E8E8"/>
                </a:solidFill>
                <a:latin typeface="Consolas"/>
              </a:rPr>
              <a:t>label_failure_next_6h  = Column(Boolean)</a:t>
            </a:r>
          </a:p>
          <a:p>
            <a:pPr>
              <a:lnSpc>
                <a:spcPct val="145000"/>
              </a:lnSpc>
            </a:pPr>
            <a:r>
              <a:rPr sz="1500" b="0">
                <a:solidFill>
                  <a:srgbClr val="E8E8E8"/>
                </a:solidFill>
                <a:latin typeface="Consolas"/>
              </a:rPr>
              <a:t>label_failure_next_24h = Column(Boolean)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33172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2181F"/>
                </a:solidFill>
                <a:latin typeface="IBM Plex Sans"/>
              </a:rPr>
              <a:t>Float, Boolean — c'est tout ce que la base sait.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3291840"/>
            <a:ext cx="5029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>
                <a:solidFill>
                  <a:srgbClr val="4A5568"/>
                </a:solidFill>
                <a:latin typeface="IBM Plex Sans"/>
              </a:rPr>
              <a:t>Aucune borne temporelle, aucune durée de fenêtre n'est déclarée ici.</a:t>
            </a:r>
          </a:p>
          <a:p>
            <a:pPr algn="l">
              <a:lnSpc>
                <a:spcPct val="140000"/>
              </a:lnSpc>
            </a:pPr>
            <a:r>
              <a:rPr sz="1900" b="0">
                <a:solidFill>
                  <a:srgbClr val="4A5568"/>
                </a:solidFill>
                <a:latin typeface="IBM Plex Sans"/>
              </a:rPr>
              <a:t>Le nom de colonne suggère une fenêtre — le schéma ne la garantit pas.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7F8F4"/>
                </a:solidFill>
                <a:latin typeface="IBM Plex Sans"/>
              </a:rPr>
              <a:t>Deux fenêtres, deux sens opposés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3017520"/>
            <a:ext cx="9390888" cy="0"/>
          </a:xfrm>
          <a:prstGeom prst="line">
            <a:avLst/>
          </a:prstGeom>
          <a:ln w="25400">
            <a:solidFill>
              <a:srgbClr val="3A46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iamond 4"/>
          <p:cNvSpPr/>
          <p:nvPr/>
        </p:nvSpPr>
        <p:spPr>
          <a:xfrm>
            <a:off x="5989320" y="2907792"/>
            <a:ext cx="219456" cy="219456"/>
          </a:xfrm>
          <a:prstGeom prst="diamond">
            <a:avLst/>
          </a:prstGeom>
          <a:solidFill>
            <a:srgbClr val="4FB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1768" y="23317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7D0D6"/>
                </a:solidFill>
                <a:latin typeface="Consolas"/>
              </a:rPr>
              <a:t>t = window_end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1280160" y="3017520"/>
            <a:ext cx="4636008" cy="0"/>
          </a:xfrm>
          <a:prstGeom prst="line">
            <a:avLst/>
          </a:prstGeom>
          <a:ln w="63500">
            <a:solidFill>
              <a:srgbClr val="E88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281928" y="3017520"/>
            <a:ext cx="4142232" cy="0"/>
          </a:xfrm>
          <a:prstGeom prst="line">
            <a:avLst/>
          </a:prstGeom>
          <a:ln w="63500">
            <a:solidFill>
              <a:srgbClr val="4FBF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333756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8832A"/>
                </a:solidFill>
                <a:latin typeface="IBM Plex Sans"/>
              </a:rPr>
              <a:t>Fenêtre passée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7D0D6"/>
                </a:solidFill>
                <a:latin typeface="IBM Plex Sans"/>
              </a:rPr>
              <a:t>features · agrégats rétrospectifs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A6AE"/>
                </a:solidFill>
                <a:latin typeface="Consolas"/>
              </a:rPr>
              <a:t>.rolling(window=w, closed='left')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33756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4FBFA6"/>
                </a:solidFill>
                <a:latin typeface="IBM Plex Sans"/>
              </a:rPr>
              <a:t>Fenêtre future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7947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C7D0D6"/>
                </a:solidFill>
                <a:latin typeface="IBM Plex Sans"/>
              </a:rPr>
              <a:t>labels · lookahead inversé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1605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8FA6AE"/>
                </a:solidFill>
                <a:latin typeface="Consolas"/>
              </a:rPr>
              <a:t>occurred_at - Timedelta(hours=h)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39496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C7D0D6"/>
                </a:solidFill>
                <a:latin typeface="IBM Plex Sans"/>
              </a:rPr>
              <a:t>Une feature regarde en arrière depuis t ; un label regarde en avant depuis un incident, puis reporte le résultat sur les heures qui précèdent.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832A"/>
                </a:solidFill>
                <a:latin typeface="IBM Plex Sans"/>
              </a:rPr>
              <a:t>FENÊTRE PASSÉE · LE NOM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2181F"/>
                </a:solidFill>
                <a:latin typeface="IBM Plex Sans"/>
              </a:rPr>
              <a:t>Le nom de colonne sort d'une f-string, pas d'un dictionnaire fixe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10515600" cy="1920240"/>
          </a:xfrm>
          <a:prstGeom prst="roundRect">
            <a:avLst>
              <a:gd name="adj" fmla="val 6000"/>
            </a:avLst>
          </a:prstGeom>
          <a:solidFill>
            <a:srgbClr val="12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21408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C8894"/>
                </a:solidFill>
                <a:latin typeface="Consolas"/>
              </a:rPr>
              <a:t>TP6.ipynb · cellule 865bac82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500" b="0">
                <a:solidFill>
                  <a:srgbClr val="E8E8E8"/>
                </a:solidFill>
                <a:latin typeface="Consolas"/>
              </a:rPr>
              <a:t>for w in ['6h', '12h', '24h']:</a:t>
            </a:r>
          </a:p>
          <a:p>
            <a:pPr>
              <a:lnSpc>
                <a:spcPct val="145000"/>
              </a:lnSpc>
            </a:pPr>
            <a:r>
              <a:rPr sz="1500" b="0">
                <a:solidFill>
                  <a:srgbClr val="E8E8E8"/>
                </a:solidFill>
                <a:latin typeface="Consolas"/>
              </a:rPr>
              <a:t>    roll = idx[[...]].rolling(window=w, closed='left', min_periods=1)</a:t>
            </a:r>
          </a:p>
          <a:p>
            <a:pPr>
              <a:lnSpc>
                <a:spcPct val="145000"/>
              </a:lnSpc>
            </a:pPr>
            <a:r>
              <a:rPr sz="1500" b="0">
                <a:solidFill>
                  <a:srgbClr val="E8E8E8"/>
                </a:solidFill>
                <a:latin typeface="Consolas"/>
              </a:rPr>
              <a:t>    for col, pfx in prefix_map.items():</a:t>
            </a:r>
          </a:p>
          <a:p>
            <a:pPr>
              <a:lnSpc>
                <a:spcPct val="145000"/>
              </a:lnSpc>
            </a:pPr>
            <a:r>
              <a:rPr sz="1500" b="0">
                <a:solidFill>
                  <a:srgbClr val="E8E8E8"/>
                </a:solidFill>
                <a:latin typeface="Consolas"/>
              </a:rPr>
              <a:t>        grp[f'{pfx}_mean_{w}'] = roll[col].mean().values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60520"/>
            <a:ext cx="4937760" cy="1737360"/>
          </a:xfrm>
          <a:prstGeom prst="roundRect">
            <a:avLst>
              <a:gd name="adj" fmla="val 12000"/>
            </a:avLst>
          </a:prstGeom>
          <a:solidFill>
            <a:srgbClr val="FDFDFB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43484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4A5568"/>
                </a:solidFill>
                <a:latin typeface="IBM Plex Sans"/>
              </a:rPr>
              <a:t>pfx = 'temp', w = '6h'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93776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832A"/>
                </a:solidFill>
                <a:latin typeface="Consolas"/>
              </a:rPr>
              <a:t>temp_mean_6h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251960"/>
            <a:ext cx="5303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2181F"/>
                </a:solidFill>
                <a:latin typeface="IBM Plex Sans"/>
              </a:rPr>
              <a:t>Le suffixe _6h / _12h / _24h n'est pas un libellé choisi à la main : c'est littéralement la valeur de la variable w utilisée pour paramétrer .rolling().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832A"/>
                </a:solidFill>
                <a:latin typeface="IBM Plex Sans"/>
              </a:rPr>
              <a:t>FENÊTRE PASSÉE · LE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2181F"/>
                </a:solidFill>
                <a:latin typeface="IBM Plex Sans"/>
              </a:rPr>
              <a:t>Le code fixe le sens (passé) et la borne exclue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10515600" cy="1920240"/>
          </a:xfrm>
          <a:prstGeom prst="roundRect">
            <a:avLst>
              <a:gd name="adj" fmla="val 6000"/>
            </a:avLst>
          </a:prstGeom>
          <a:solidFill>
            <a:srgbClr val="12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21408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C8894"/>
                </a:solidFill>
                <a:latin typeface="Consolas"/>
              </a:rPr>
              <a:t>TP6.ipynb · cellule 865bac82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500" b="0">
                <a:solidFill>
                  <a:srgbClr val="E8E8E8"/>
                </a:solidFill>
                <a:latin typeface="Consolas"/>
              </a:rPr>
              <a:t>roll = idx[cols].rolling(</a:t>
            </a:r>
          </a:p>
          <a:p>
            <a:pPr>
              <a:lnSpc>
                <a:spcPct val="145000"/>
              </a:lnSpc>
            </a:pPr>
            <a:r>
              <a:rPr sz="1500" b="0">
                <a:solidFill>
                  <a:srgbClr val="E8E8E8"/>
                </a:solidFill>
                <a:latin typeface="Consolas"/>
              </a:rPr>
              <a:t>    window=w,       # '6h' / '12h' / '24h'</a:t>
            </a:r>
          </a:p>
          <a:p>
            <a:pPr>
              <a:lnSpc>
                <a:spcPct val="145000"/>
              </a:lnSpc>
            </a:pPr>
            <a:r>
              <a:rPr sz="1500" b="0">
                <a:solidFill>
                  <a:srgbClr val="E8E8E8"/>
                </a:solidFill>
                <a:latin typeface="Consolas"/>
              </a:rPr>
              <a:t>    closed='left',  # exclut l'instant t</a:t>
            </a:r>
          </a:p>
          <a:p>
            <a:pPr>
              <a:lnSpc>
                <a:spcPct val="145000"/>
              </a:lnSpc>
            </a:pPr>
            <a:r>
              <a:rPr sz="1500" b="0">
                <a:solidFill>
                  <a:srgbClr val="E8E8E8"/>
                </a:solidFill>
                <a:latin typeface="Consolas"/>
              </a:rPr>
              <a:t>    min_periods=1</a:t>
            </a:r>
          </a:p>
          <a:p>
            <a:pPr>
              <a:lnSpc>
                <a:spcPct val="145000"/>
              </a:lnSpc>
            </a:pPr>
            <a:r>
              <a:rPr sz="1500" b="0">
                <a:solidFill>
                  <a:srgbClr val="E8E8E8"/>
                </a:solidFill>
                <a:latin typeface="Consolas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60520"/>
            <a:ext cx="4937760" cy="1737360"/>
          </a:xfrm>
          <a:prstGeom prst="roundRect">
            <a:avLst>
              <a:gd name="adj" fmla="val 12000"/>
            </a:avLst>
          </a:prstGeom>
          <a:solidFill>
            <a:srgbClr val="FDFDFB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38912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2181F"/>
                </a:solidFill>
                <a:latin typeface="IBM Plex Sans"/>
              </a:rPr>
              <a:t>window = 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846320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4A5568"/>
                </a:solidFill>
                <a:latin typeface="IBM Plex Sans"/>
              </a:rPr>
              <a:t>La durée — 6h, 12h ou 24h — vient du paramètre passé à pandas, pas d'une valeur stockée.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160520"/>
            <a:ext cx="5303520" cy="1737360"/>
          </a:xfrm>
          <a:prstGeom prst="roundRect">
            <a:avLst>
              <a:gd name="adj" fmla="val 12000"/>
            </a:avLst>
          </a:prstGeom>
          <a:solidFill>
            <a:srgbClr val="FDFDFB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3891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2181F"/>
                </a:solidFill>
                <a:latin typeface="IBM Plex Sans"/>
              </a:rPr>
              <a:t>closed = 'left'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84632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4A5568"/>
                </a:solidFill>
                <a:latin typeface="IBM Plex Sans"/>
              </a:rPr>
              <a:t>La fenêtre regarde [t-w, t) : elle exclut l'instant courant. C'est ce qui évite le leakage.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807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2181F"/>
                </a:solidFill>
                <a:latin typeface="IBM Plex Sans"/>
              </a:rPr>
              <a:t>Une fois .mean() / .std() calculés, seule la valeur agrégée reste en base — les bornes [t-w, t) ne sont écrites nulle part.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FBFA6"/>
                </a:solidFill>
                <a:latin typeface="IBM Plex Sans"/>
              </a:rPr>
              <a:t>FENÊTRE FUTURE · LE NOM ET LE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7F8F4"/>
                </a:solidFill>
                <a:latin typeface="IBM Plex Sans"/>
              </a:rPr>
              <a:t>Le nom est codé en dur, la fenêtre est un masque calculé à la volée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10515600" cy="2468880"/>
          </a:xfrm>
          <a:prstGeom prst="roundRect">
            <a:avLst>
              <a:gd name="adj" fmla="val 6000"/>
            </a:avLst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21408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C8894"/>
                </a:solidFill>
                <a:latin typeface="Consolas"/>
              </a:rPr>
              <a:t>TP6.ipynb · cellule d66f34c6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9875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500" b="0">
                <a:solidFill>
                  <a:srgbClr val="E8E8E8"/>
                </a:solidFill>
                <a:latin typeface="Consolas"/>
              </a:rPr>
              <a:t>HORIZONS = [('label_failure_next_24h', 24), ...]</a:t>
            </a:r>
          </a:p>
          <a:p>
            <a:pPr>
              <a:lnSpc>
                <a:spcPct val="145000"/>
              </a:lnSpc>
            </a:pPr>
            <a:r>
              <a:rPr sz="1500" b="0">
                <a:solidFill>
                  <a:srgbClr val="E8E8E8"/>
                </a:solidFill>
                <a:latin typeface="Consolas"/>
              </a:rPr>
              <a:t/>
            </a:r>
          </a:p>
          <a:p>
            <a:pPr>
              <a:lnSpc>
                <a:spcPct val="145000"/>
              </a:lnSpc>
            </a:pPr>
            <a:r>
              <a:rPr sz="1500" b="0">
                <a:solidFill>
                  <a:srgbClr val="E8E8E8"/>
                </a:solidFill>
                <a:latin typeface="Consolas"/>
              </a:rPr>
              <a:t>for _, evt in label_events.iterrows():</a:t>
            </a:r>
          </a:p>
          <a:p>
            <a:pPr>
              <a:lnSpc>
                <a:spcPct val="145000"/>
              </a:lnSpc>
            </a:pPr>
            <a:r>
              <a:rPr sz="1500" b="0">
                <a:solidFill>
                  <a:srgbClr val="E8E8E8"/>
                </a:solidFill>
                <a:latin typeface="Consolas"/>
              </a:rPr>
              <a:t>    for col, h in HORIZONS:</a:t>
            </a:r>
          </a:p>
          <a:p>
            <a:pPr>
              <a:lnSpc>
                <a:spcPct val="145000"/>
              </a:lnSpc>
            </a:pPr>
            <a:r>
              <a:rPr sz="1500" b="0">
                <a:solidFill>
                  <a:srgbClr val="E8E8E8"/>
                </a:solidFill>
                <a:latin typeface="Consolas"/>
              </a:rPr>
              <a:t>        mask = (</a:t>
            </a:r>
          </a:p>
          <a:p>
            <a:pPr>
              <a:lnSpc>
                <a:spcPct val="145000"/>
              </a:lnSpc>
            </a:pPr>
            <a:r>
              <a:rPr sz="1500" b="0">
                <a:solidFill>
                  <a:srgbClr val="E8E8E8"/>
                </a:solidFill>
                <a:latin typeface="Consolas"/>
              </a:rPr>
              <a:t>            (df.observed_at &gt;= evt.occurred_at - Timedelta(hours=h)) &amp;</a:t>
            </a:r>
          </a:p>
          <a:p>
            <a:pPr>
              <a:lnSpc>
                <a:spcPct val="145000"/>
              </a:lnSpc>
            </a:pPr>
            <a:r>
              <a:rPr sz="1500" b="0">
                <a:solidFill>
                  <a:srgbClr val="E8E8E8"/>
                </a:solidFill>
                <a:latin typeface="Consolas"/>
              </a:rPr>
              <a:t>            (df.observed_at &lt;  evt.occurred_at)</a:t>
            </a:r>
          </a:p>
          <a:p>
            <a:pPr>
              <a:lnSpc>
                <a:spcPct val="145000"/>
              </a:lnSpc>
            </a:pPr>
            <a:r>
              <a:rPr sz="1500" b="0">
                <a:solidFill>
                  <a:srgbClr val="E8E8E8"/>
                </a:solidFill>
                <a:latin typeface="Consolas"/>
              </a:rPr>
              <a:t>        )</a:t>
            </a:r>
          </a:p>
          <a:p>
            <a:pPr>
              <a:lnSpc>
                <a:spcPct val="145000"/>
              </a:lnSpc>
            </a:pPr>
            <a:r>
              <a:rPr sz="1500" b="0">
                <a:solidFill>
                  <a:srgbClr val="E8E8E8"/>
                </a:solidFill>
                <a:latin typeface="Consolas"/>
              </a:rPr>
              <a:t>        df.loc[mask, col] = True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63440"/>
            <a:ext cx="4937760" cy="1691640"/>
          </a:xfrm>
          <a:prstGeom prst="roundRect">
            <a:avLst>
              <a:gd name="adj" fmla="val 12000"/>
            </a:avLst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89204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7F8F4"/>
                </a:solidFill>
                <a:latin typeface="IBM Plex Sans"/>
              </a:rPr>
              <a:t>Le nom : codé en dur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349240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7D0D6"/>
                </a:solidFill>
                <a:latin typeface="IBM Plex Sans"/>
              </a:rPr>
              <a:t>Pas de f-string ici : 'label_failure_next_24h' et h=24 sont écrits explicitement dans la liste HORIZONS.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663440"/>
            <a:ext cx="5303520" cy="1691640"/>
          </a:xfrm>
          <a:prstGeom prst="roundRect">
            <a:avLst>
              <a:gd name="adj" fmla="val 12000"/>
            </a:avLst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8920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7F8F4"/>
                </a:solidFill>
                <a:latin typeface="IBM Plex Sans"/>
              </a:rPr>
              <a:t>La fenêtre : jamais stockée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534924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7D0D6"/>
                </a:solidFill>
                <a:latin typeface="IBM Plex Sans"/>
              </a:rPr>
              <a:t>Le masque [occurred_at-h, occurred_at) n'existe que pendant l'exécution. Une fois df.loc[mask, col]=True passé, seul le booléen final reste.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2181F"/>
                </a:solidFill>
                <a:latin typeface="IBM Plex Sans"/>
              </a:rPr>
              <a:t>Comparaison : où vit l'information 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554480"/>
          <a:ext cx="10515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023360"/>
                <a:gridCol w="4023360"/>
              </a:tblGrid>
              <a:tr h="7772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7F8F4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182880" marR="182880" marT="109728" marB="109728" anchor="ctr">
                    <a:solidFill>
                      <a:srgbClr val="1218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8832A"/>
                          </a:solidFill>
                          <a:latin typeface="IBM Plex Sans"/>
                        </a:rPr>
                        <a:t>Fenêtre passée · features</a:t>
                      </a:r>
                    </a:p>
                  </a:txBody>
                  <a:tcPr marL="182880" marR="182880" marT="109728" marB="109728" anchor="ctr">
                    <a:solidFill>
                      <a:srgbClr val="1218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FBFA6"/>
                          </a:solidFill>
                          <a:latin typeface="IBM Plex Sans"/>
                        </a:rPr>
                        <a:t>Fenêtre future · labels</a:t>
                      </a:r>
                    </a:p>
                  </a:txBody>
                  <a:tcPr marL="182880" marR="182880" marT="109728" marB="109728" anchor="ctr">
                    <a:solidFill>
                      <a:srgbClr val="12181F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2181F"/>
                          </a:solidFill>
                          <a:latin typeface="IBM Plex Sans"/>
                        </a:rPr>
                        <a:t>Nom de colonne</a:t>
                      </a:r>
                    </a:p>
                  </a:txBody>
                  <a:tcPr marL="182880" marR="182880" marT="109728" marB="109728" anchor="ctr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2181F"/>
                          </a:solidFill>
                          <a:latin typeface="Consolas"/>
                        </a:rPr>
                        <a:t>généré par f'{pfx}_mean_{w}'</a:t>
                      </a:r>
                    </a:p>
                  </a:txBody>
                  <a:tcPr marL="182880" marR="182880" marT="109728" marB="109728" anchor="ctr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2181F"/>
                          </a:solidFill>
                          <a:latin typeface="Consolas"/>
                        </a:rPr>
                        <a:t>codé en dur dans HORIZONS</a:t>
                      </a:r>
                    </a:p>
                  </a:txBody>
                  <a:tcPr marL="182880" marR="182880" marT="109728" marB="109728" anchor="ctr">
                    <a:solidFill>
                      <a:srgbClr val="FDFDFB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2181F"/>
                          </a:solidFill>
                          <a:latin typeface="IBM Plex Sans"/>
                        </a:rPr>
                        <a:t>Fenêtre définie par</a:t>
                      </a:r>
                    </a:p>
                  </a:txBody>
                  <a:tcPr marL="182880" marR="182880" marT="109728" marB="109728" anchor="ctr">
                    <a:solidFill>
                      <a:srgbClr val="F0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2181F"/>
                          </a:solidFill>
                          <a:latin typeface="Consolas"/>
                        </a:rPr>
                        <a:t>window=w dans .rolling()</a:t>
                      </a:r>
                    </a:p>
                  </a:txBody>
                  <a:tcPr marL="182880" marR="182880" marT="109728" marB="109728" anchor="ctr">
                    <a:solidFill>
                      <a:srgbClr val="F0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2181F"/>
                          </a:solidFill>
                          <a:latin typeface="Consolas"/>
                        </a:rPr>
                        <a:t>Timedelta(hours=h) dans le masque</a:t>
                      </a:r>
                    </a:p>
                  </a:txBody>
                  <a:tcPr marL="182880" marR="182880" marT="109728" marB="109728" anchor="ctr">
                    <a:solidFill>
                      <a:srgbClr val="F0F1EE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2181F"/>
                          </a:solidFill>
                          <a:latin typeface="IBM Plex Sans"/>
                        </a:rPr>
                        <a:t>Sens</a:t>
                      </a:r>
                    </a:p>
                  </a:txBody>
                  <a:tcPr marL="182880" marR="182880" marT="109728" marB="109728" anchor="ctr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2181F"/>
                          </a:solidFill>
                          <a:latin typeface="Consolas"/>
                        </a:rPr>
                        <a:t>rétrospectif · closed='left'</a:t>
                      </a:r>
                    </a:p>
                  </a:txBody>
                  <a:tcPr marL="182880" marR="182880" marT="109728" marB="109728" anchor="ctr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2181F"/>
                          </a:solidFill>
                          <a:latin typeface="Consolas"/>
                        </a:rPr>
                        <a:t>prospectif · lookahead inversé</a:t>
                      </a:r>
                    </a:p>
                  </a:txBody>
                  <a:tcPr marL="182880" marR="182880" marT="109728" marB="109728" anchor="ctr">
                    <a:solidFill>
                      <a:srgbClr val="FDFDFB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2181F"/>
                          </a:solidFill>
                          <a:latin typeface="IBM Plex Sans"/>
                        </a:rPr>
                        <a:t>Stocké en base</a:t>
                      </a:r>
                    </a:p>
                  </a:txBody>
                  <a:tcPr marL="182880" marR="182880" marT="109728" marB="109728" anchor="ctr">
                    <a:solidFill>
                      <a:srgbClr val="F0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2181F"/>
                          </a:solidFill>
                          <a:latin typeface="Consolas"/>
                        </a:rPr>
                        <a:t>le résultat agrégé (Float) seul</a:t>
                      </a:r>
                    </a:p>
                  </a:txBody>
                  <a:tcPr marL="182880" marR="182880" marT="109728" marB="109728" anchor="ctr">
                    <a:solidFill>
                      <a:srgbClr val="F0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2181F"/>
                          </a:solidFill>
                          <a:latin typeface="Consolas"/>
                        </a:rPr>
                        <a:t>le booléen final seul</a:t>
                      </a:r>
                    </a:p>
                  </a:txBody>
                  <a:tcPr marL="182880" marR="182880" marT="109728" marB="109728" anchor="ctr">
                    <a:solidFill>
                      <a:srgbClr val="F0F1EE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2181F"/>
                          </a:solidFill>
                          <a:latin typeface="IBM Plex Sans"/>
                        </a:rPr>
                        <a:t>Source de vérité</a:t>
                      </a:r>
                    </a:p>
                  </a:txBody>
                  <a:tcPr marL="182880" marR="182880" marT="109728" marB="109728" anchor="ctr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2181F"/>
                          </a:solidFill>
                          <a:latin typeface="Consolas"/>
                        </a:rPr>
                        <a:t>le code · TP6, cellule rolling</a:t>
                      </a:r>
                    </a:p>
                  </a:txBody>
                  <a:tcPr marL="182880" marR="182880" marT="109728" marB="109728" anchor="ctr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2181F"/>
                          </a:solidFill>
                          <a:latin typeface="Consolas"/>
                        </a:rPr>
                        <a:t>le code · TP6, cellule HORIZONS</a:t>
                      </a:r>
                    </a:p>
                  </a:txBody>
                  <a:tcPr marL="182880" marR="182880" marT="109728" marB="109728" anchor="ctr">
                    <a:solidFill>
                      <a:srgbClr val="FDFD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7F8F4"/>
                </a:solidFill>
                <a:latin typeface="IBM Plex Sans"/>
              </a:rPr>
              <a:t>Ce qui se joue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3383280" cy="3931920"/>
          </a:xfrm>
          <a:prstGeom prst="roundRect">
            <a:avLst>
              <a:gd name="adj" fmla="val 8000"/>
            </a:avLst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F7F8F4"/>
                </a:solidFill>
                <a:latin typeface="IBM Plex Sans"/>
              </a:rPr>
              <a:t>Le schéma ne réagit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71800"/>
            <a:ext cx="28346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C7D0D6"/>
                </a:solidFill>
                <a:latin typeface="IBM Plex Sans"/>
              </a:rPr>
              <a:t>Changer window=w de '24h' à '20h' dans le code ne touche ni la colonne SQL, ni son type, ni son nom. Aucune alerte, aucune contrainte.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383280" cy="3931920"/>
          </a:xfrm>
          <a:prstGeom prst="roundRect">
            <a:avLst>
              <a:gd name="adj" fmla="val 8000"/>
            </a:avLst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14884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F7F8F4"/>
                </a:solidFill>
                <a:latin typeface="IBM Plex Sans"/>
              </a:rPr>
              <a:t>Le décalage devient invisible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971800"/>
            <a:ext cx="28346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C7D0D6"/>
                </a:solidFill>
                <a:latin typeface="IBM Plex Sans"/>
              </a:rPr>
              <a:t>Renommer une colonne sans changer le calcul (ou l'inverse) crée un nom qui promet une fenêtre que le code ne tient plus.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3931920"/>
          </a:xfrm>
          <a:prstGeom prst="roundRect">
            <a:avLst>
              <a:gd name="adj" fmla="val 8000"/>
            </a:avLst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14884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F7F8F4"/>
                </a:solidFill>
                <a:latin typeface="IBM Plex Sans"/>
              </a:rPr>
              <a:t>Une seule vérification fiable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971800"/>
            <a:ext cx="28346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C7D0D6"/>
                </a:solidFill>
                <a:latin typeface="IBM Plex Sans"/>
              </a:rPr>
              <a:t>Pour connaître la vraie fenêtre d'une colonne : relire le code qui l'a produite. Jamais le nom seul, jamais le schéma seul.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2181F"/>
                </a:solidFill>
                <a:latin typeface="IBM Plex Sans"/>
              </a:rPr>
              <a:t>À retenir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10515600" cy="1188720"/>
          </a:xfrm>
          <a:prstGeom prst="roundRect">
            <a:avLst>
              <a:gd name="adj" fmla="val 12000"/>
            </a:avLst>
          </a:prstGeom>
          <a:solidFill>
            <a:srgbClr val="FDFDFB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8832A"/>
                </a:solidFill>
                <a:latin typeface="IBM Plex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892808"/>
            <a:ext cx="8961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2181F"/>
                </a:solidFill>
                <a:latin typeface="IBM Plex Sans"/>
              </a:rPr>
              <a:t>Le nom de colonne est un contrat implicite avec le code qui l'a produit — pas une garantie en soi.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08960"/>
            <a:ext cx="10515600" cy="1188720"/>
          </a:xfrm>
          <a:prstGeom prst="roundRect">
            <a:avLst>
              <a:gd name="adj" fmla="val 12000"/>
            </a:avLst>
          </a:prstGeom>
          <a:solidFill>
            <a:srgbClr val="FDFDFB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337560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8832A"/>
                </a:solidFill>
                <a:latin typeface="IBM Plex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310128"/>
            <a:ext cx="8961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2181F"/>
                </a:solidFill>
                <a:latin typeface="IBM Plex Sans"/>
              </a:rPr>
              <a:t>Le paramètre window= et le Timedelta(hours=h) sont l'unique source de vérité de la fenêtre.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526280"/>
            <a:ext cx="10515600" cy="1188720"/>
          </a:xfrm>
          <a:prstGeom prst="roundRect">
            <a:avLst>
              <a:gd name="adj" fmla="val 12000"/>
            </a:avLst>
          </a:prstGeom>
          <a:solidFill>
            <a:srgbClr val="FDFDFB"/>
          </a:solidFill>
          <a:ln w="12700">
            <a:solidFill>
              <a:srgbClr val="E3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754880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8832A"/>
                </a:solidFill>
                <a:latin typeface="IBM Plex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727448"/>
            <a:ext cx="8961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2181F"/>
                </a:solidFill>
                <a:latin typeface="IBM Plex Sans"/>
              </a:rPr>
              <a:t>Toute évolution de fenêtre se trace dans le code + la doc — jamais supposée depuis le seul nom de colonne.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C8894"/>
                </a:solidFill>
                <a:latin typeface="Consolas"/>
              </a:rPr>
              <a:t>gold_machine_hourly_feature · TP6.ipynb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