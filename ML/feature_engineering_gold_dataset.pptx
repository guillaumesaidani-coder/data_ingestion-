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4920"/>
            <a:ext cx="12191695" cy="762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7A1C"/>
                </a:solidFill>
                <a:latin typeface="Calibri"/>
              </a:defRPr>
            </a:pPr>
            <a:r>
              <a:t>GOLD DATASET INDUSENSE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Feature engineering : de la donnee brute a la variable predictive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FD8E8"/>
                </a:solidFill>
                <a:latin typeface="Calibri"/>
              </a:defRPr>
            </a:pPr>
            <a:r>
              <a:t>Etape par etape -- et la donnee maintenance qui n'existait pas avant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9B6CC"/>
                </a:solidFill>
                <a:latin typeface="Calibri"/>
              </a:defRPr>
            </a:pPr>
            <a:r>
              <a:t>Illustre avec les donnees reelles de gold_machine_hourly_feature (InduSense 4.0)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Ce que nous allons voir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82880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47088"/>
            <a:ext cx="9875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50">
                <a:solidFill>
                  <a:srgbClr val="202020"/>
                </a:solidFill>
                <a:latin typeface="Calibri"/>
              </a:defRPr>
            </a:pPr>
            <a:r>
              <a:t>Le probleme : amalgamer 3 sources heterogenes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14016"/>
            <a:ext cx="9875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50">
                <a:solidFill>
                  <a:srgbClr val="202020"/>
                </a:solidFill>
                <a:latin typeface="Calibri"/>
              </a:defRPr>
            </a:pPr>
            <a:r>
              <a:t>Etapes 1-5 : des capteurs bruts aux features de dynamique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962656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80944"/>
            <a:ext cx="9875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50">
                <a:solidFill>
                  <a:srgbClr val="202020"/>
                </a:solidFill>
                <a:latin typeface="Calibri"/>
              </a:defRPr>
            </a:pPr>
            <a:r>
              <a:t>Etape 6 : le lookback incidents (deja existant)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9584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47872"/>
            <a:ext cx="9875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50">
                <a:solidFill>
                  <a:srgbClr val="202020"/>
                </a:solidFill>
                <a:latin typeface="Calibri"/>
              </a:defRPr>
            </a:pPr>
            <a:r>
              <a:t>Etape 7 -- NOUVEAU : la donnee maintenance qui n'existait pas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96512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14800"/>
            <a:ext cx="9875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50">
                <a:solidFill>
                  <a:srgbClr val="202020"/>
                </a:solidFill>
                <a:latin typeface="Calibri"/>
              </a:defRPr>
            </a:pPr>
            <a:r>
              <a:t>Pourquoi il fallait l'ajouter -- la preuve par les chiffres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663440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81728"/>
            <a:ext cx="9875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50">
                <a:solidFill>
                  <a:srgbClr val="202020"/>
                </a:solidFill>
                <a:latin typeface="Calibri"/>
              </a:defRPr>
            </a:pPr>
            <a:r>
              <a:t>Etape 8 : les labels multi-horizons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230368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248656"/>
            <a:ext cx="9875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50">
                <a:solidFill>
                  <a:srgbClr val="202020"/>
                </a:solidFill>
                <a:latin typeface="Calibri"/>
              </a:defRPr>
            </a:pPr>
            <a:r>
              <a:t>Assemblage final : avant / apres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797296"/>
            <a:ext cx="438912" cy="43891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815584"/>
            <a:ext cx="9875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50">
                <a:solidFill>
                  <a:srgbClr val="202020"/>
                </a:solidFill>
                <a:latin typeface="Calibri"/>
              </a:defRPr>
            </a:pPr>
            <a:r>
              <a:t>Finalite dans le processus 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LE PROBLEME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Amalgamer 3 sources qui ne se ressemblent 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64208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Le Gold Dataset doit produire UNE ligne par machine et par heure -- mais les sources n'ont ni le meme format, ni la meme frequence, ni la meme nature.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Une jointure SQL classique ne suffit pas : il faut recomposer une donnee continue (capteurs), deux donnees evenementielles rares (incidents, maintenance), et le faire sans jamais regarder le futur.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LE PROBLEME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3 sources, 3 natures differentes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72768"/>
          <a:ext cx="11612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3108960"/>
                <a:gridCol w="1920240"/>
              </a:tblGrid>
              <a:tr h="365760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 Silver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Nature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Frequence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silver_sensor_reading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Continue, format long (1 ligne/capteur/heure)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 capteurs x 132 940 heures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664 700 lignes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silver_incident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Discrete, evenementielle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~1 evenement / 4-5 jours / machine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1 245 lignes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silver_maintenance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Discrete, evenementielle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~1 intervention / 7-8 jours / machine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1 562 lignes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172968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5A5A5A"/>
                </a:solidFill>
                <a:latin typeface="Calibri"/>
              </a:defRPr>
            </a:pPr>
            <a:r>
              <a:t>Objectif : une seule ligne machine x heure qui synthetise ces 3 realites, sans fuite temporelle.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E07A1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2651760" y="2606040"/>
            <a:ext cx="381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23774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Etapes 1 a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0175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9D3E4"/>
                </a:solidFill>
                <a:latin typeface="Calibri"/>
              </a:defRPr>
            </a:pPr>
            <a:r>
              <a:t>Des capteurs bruts aux features de dynamique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Ce qu'il faut construire, etape par etape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72768"/>
          <a:ext cx="11612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303520"/>
                <a:gridCol w="4297680"/>
              </a:tblGrid>
              <a:tr h="365760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Etape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 qu'on fait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 que ca resout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1. Depivotage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silver_sensor_reading (long) -&gt; df_wide (1 ligne machine x heure)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Recompose ce que le format long avait eclate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2. Rolling windows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 signaux x 3 fenetres (6h/12h/24h) x jusqu'a 3 stats, groupby machine_id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Reduit le bruit capteur sans effacer la dynamique (cf. grain horaire)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3. Tendances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delta_1h, delta_3h, trend_6h par signal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Capture l'acceleration, pas seulement le niveau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4. Z-scores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Glissant 24h + baseline machine (train-only, anti-leakage)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Rend le niveau comparable machine a machine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5. Split temporel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70% train / 15% val / 15% test, chronologique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Prealable obligatoire au z-score machine sans fuite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04488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5A5A5A"/>
                </a:solidFill>
                <a:latin typeface="Calibri"/>
              </a:defRPr>
            </a:pPr>
            <a:r>
              <a:t>Regle d'or : toujours groupby('machine_id'), jamais de fenetre qui regarde le futur (gold_roadmap.md, regles 1 et 2).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E07A1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2651760" y="2606040"/>
            <a:ext cx="381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23774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Etape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0175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9D3E4"/>
                </a:solidFill>
                <a:latin typeface="Calibri"/>
              </a:defRPr>
            </a:pPr>
            <a:r>
              <a:t>Le lookback incidents (deja existant)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ETAPE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incident_count_prev_24h / prev_7d / hours_since_last_incident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Pour chaque heure, on cherche dans le passe strict de la MEME machine : combien d'incidents dans les 24h ? dans les 7 jours ? depuis combien d'heures le dernier ?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Ce n'est pas un merge simple : chaque ligne interroge une fenetre glissante d'evenements rares, machine par machine.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Ce mecanisme etait deja en place -- c'est le modele qu'on reutilise a l'identique pour la maintenance (etape 7).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E07A1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2651760" y="2606040"/>
            <a:ext cx="381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23774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Etape 7 -- NOUVEAU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0175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9D3E4"/>
                </a:solidFill>
                <a:latin typeface="Calibri"/>
              </a:defRPr>
            </a:pPr>
            <a:r>
              <a:t>La donnee maintenance qui n'existait pas dans le Gold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AVANT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Une source disponible, jamais exploitee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La table maintenance existait deja dans machine.sql : 1 562 interventions, du 02/06/2025 au 09/06/2026, avec type (proactive/reactive), composant, duree.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Mais aucune classe ORM, aucune ingestion Bronze/Silver, aucune colonne Gold ne l'exploitait -- la donnee etait la, mais invisible pour le modele.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Consequence : le modele ne voyait que le signal capteur + incidents. Aucune notion de l'etat d'entretien de la machine.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APRES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Ce qui a ete ajoute -- meme mecanique que les incidents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55648"/>
            <a:ext cx="3291840" cy="914400"/>
          </a:xfrm>
          <a:prstGeom prst="round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bronze_maintenance</a:t>
            </a:r>
            <a:br/>
            <a:r>
              <a:t>(validation Pydantic)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31920" y="2212848"/>
            <a:ext cx="731520" cy="0"/>
          </a:xfrm>
          <a:prstGeom prst="line">
            <a:avLst/>
          </a:prstGeom>
          <a:ln w="2540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663440" y="1755648"/>
            <a:ext cx="3291840" cy="9144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silver_maintenance</a:t>
            </a:r>
            <a:br/>
            <a:r>
              <a:t>(normalisation)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955279" y="2212848"/>
            <a:ext cx="731521" cy="0"/>
          </a:xfrm>
          <a:prstGeom prst="line">
            <a:avLst/>
          </a:prstGeom>
          <a:ln w="2540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686800" y="1755648"/>
            <a:ext cx="2834640" cy="914400"/>
          </a:xfrm>
          <a:prstGeom prst="round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Gold :</a:t>
            </a:r>
            <a:br/>
            <a:r>
              <a:t>2 nouvelles colonnes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3580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days_since_last_maintenance : nombre de jours depuis la derniere intervention avant l'heure courante.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maintenance_count_prev_30d : nombre d'interventions sur les 30 jours precedents.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Meme regle anti-leakage que les incidents : uniquement le passe strict, machine par machine.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E07A1C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2651760" y="2606040"/>
            <a:ext cx="381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23774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Pourquoi l'ajouter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0175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9D3E4"/>
                </a:solidFill>
                <a:latin typeface="Calibri"/>
              </a:defRPr>
            </a:pPr>
            <a:r>
              <a:t>La preuve par les chiffres, pas par intuition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PREUVE EMPIRIQUE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Le signal maintenance differe selon qu'une panne suit ou non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72768"/>
          <a:ext cx="12161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  <a:gridCol w="3931920"/>
              </a:tblGrid>
              <a:tr h="365760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Heures SANS panne dans les 24h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Heures AVEC panne dans les 24h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Nombre de lignes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124 836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4 686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days_since_last_maintenance (moyenne)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9,40 jours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5,31 jours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maintenance_count_prev_30d (moyenne)</a:t>
                      </a:r>
                    </a:p>
                  </a:txBody>
                  <a:tcPr anchor="ctr" marL="73152" marR="73152" marT="27432" marB="27432">
                    <a:solidFill>
                      <a:srgbClr val="FBE4C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8,09 interventions</a:t>
                      </a:r>
                    </a:p>
                  </a:txBody>
                  <a:tcPr anchor="ctr" marL="73152" marR="73152" marT="27432" marB="27432">
                    <a:solidFill>
                      <a:srgbClr val="FBE4C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11,87 interventions</a:t>
                      </a:r>
                    </a:p>
                  </a:txBody>
                  <a:tcPr anchor="ctr" marL="73152" marR="73152" marT="27432" marB="27432">
                    <a:solidFill>
                      <a:srgbClr val="FBE4C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172968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5A5A5A"/>
                </a:solidFill>
                <a:latin typeface="Calibri"/>
              </a:defRPr>
            </a:pPr>
            <a:r>
              <a:t>Donnees reelles extraites de gold_machine_hourly_feature -- pas une hypothese, une mesure.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Un signal honnete, pas celui attendu au depart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64208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L'hypothese naive serait : plus une machine attend sa maintenance, plus elle tombe en panne. Les chiffres disent l'inverse sur days_since_last_maintenance.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Explication : 94% des interventions (1 472 / 1 562) sont reactives -- declenchees PAR un incident, pas planifiees. Seules 6% sont proactives.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Donc maintenance_count_prev_30d eleve = signature d'une machine deja dans un cluster de pannes recurrentes, reparee en urgence mais qui retombe en panne -- un signal de degradation chronique, pas de negligence d'entretien.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C'est exactement ce que le modele doit apprendre a distinguer : une machine stable qu'on entretient peu, d'une machine fragile qu'on repare sans cesse.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E07A1C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2651760" y="2606040"/>
            <a:ext cx="381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23774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Etape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0175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9D3E4"/>
                </a:solidFill>
                <a:latin typeface="Calibri"/>
              </a:defRPr>
            </a:pPr>
            <a:r>
              <a:t>Les labels multi-horizons (rappel)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ETAPE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label_failure_next_6h / 12h / 24h / 48h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Technique du lookahead inverse : pour chaque incident labellisant (severite &gt;= 4), on marque retroactivement les heures qui le precedent comme 'panne a venir'.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4 horizons pour 4 usages metier : 6h (alerte urgente), 12h (organisation equipe), 24h (commande pieces), 48h (arret programme).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C'est la cible du modele -- tout le travail des etapes 1 a 7 sert a construire les variables qui expliquent ce label.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ASSEMBLAGE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Avant / apres -- ce que l'ajout maintenance a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72768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2377440"/>
                <a:gridCol w="2377440"/>
                <a:gridCol w="2103120"/>
              </a:tblGrid>
              <a:tr h="365760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Avant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Apres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Colonnes Gold (table complete)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81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+2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Sources amalgamees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 (capteurs, incidents)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 (+ maintenance)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Tables Bronze/Silver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Modeles de validation Pydantic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Migrations Alembic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04488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5A5A5A"/>
                </a:solidFill>
                <a:latin typeface="Calibri"/>
              </a:defRPr>
            </a:pPr>
            <a:r>
              <a:t>132 940 lignes inchangees -- l'ajout ne change pas le volume de lignes, seulement la richesse de chaque ligne.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E07A1C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2651760" y="2606040"/>
            <a:ext cx="381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237744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Finalite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0175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9D3E4"/>
                </a:solidFill>
                <a:latin typeface="Calibri"/>
              </a:defRPr>
            </a:pPr>
            <a:r>
              <a:t>Pourquoi tout ce travail -- ou ca mene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7A1C"/>
                </a:solidFill>
                <a:latin typeface="Calibri"/>
              </a:defRPr>
            </a:pPr>
            <a:r>
              <a:t>FINALITE DANS LE PROCESSUS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864"/>
                </a:solidFill>
                <a:latin typeface="Calibri"/>
              </a:defRPr>
            </a:pPr>
            <a:r>
              <a:t>Du Gold Dataset a la decision metier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29968"/>
            <a:ext cx="2148840" cy="1188720"/>
          </a:xfrm>
          <a:prstGeom prst="round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Gold Dataset</a:t>
            </a:r>
            <a:br/>
            <a:r>
              <a:t>81 colonnes / 132 940 lignes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06040" y="2624328"/>
            <a:ext cx="137160" cy="0"/>
          </a:xfrm>
          <a:prstGeom prst="line">
            <a:avLst/>
          </a:prstGeom>
          <a:ln w="317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0" y="2029968"/>
            <a:ext cx="2148840" cy="11887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Entrainement modele</a:t>
            </a:r>
            <a:br/>
            <a:r>
              <a:t>(features -&gt; label_failure_next_Xh)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92040" y="2624328"/>
            <a:ext cx="137160" cy="0"/>
          </a:xfrm>
          <a:prstGeom prst="line">
            <a:avLst/>
          </a:prstGeom>
          <a:ln w="317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0" y="2029968"/>
            <a:ext cx="2148840" cy="1188720"/>
          </a:xfrm>
          <a:prstGeom prst="round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Prediction en production</a:t>
            </a:r>
            <a:br/>
            <a:r>
              <a:t>(edge, temps reel)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78040" y="2624328"/>
            <a:ext cx="137160" cy="0"/>
          </a:xfrm>
          <a:prstGeom prst="line">
            <a:avLst/>
          </a:prstGeom>
          <a:ln w="317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0" y="2029968"/>
            <a:ext cx="2148840" cy="11887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Alerte operateur</a:t>
            </a:r>
            <a:br/>
            <a:r>
              <a:t>(seuil de decision)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64040" y="2624328"/>
            <a:ext cx="137160" cy="0"/>
          </a:xfrm>
          <a:prstGeom prst="line">
            <a:avLst/>
          </a:prstGeom>
          <a:ln w="317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0" y="2029968"/>
            <a:ext cx="2148840" cy="1188720"/>
          </a:xfrm>
          <a:prstGeom prst="round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Decision maintenance</a:t>
            </a:r>
            <a:br/>
            <a:r>
              <a:t>(planifiee vs urgente)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84448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E07A1C"/>
                </a:solidFill>
                <a:latin typeface="Calibri"/>
              </a:rPr>
              <a:t>▸  </a:t>
            </a:r>
            <a:r>
              <a:rPr sz="1600" b="0">
                <a:solidFill>
                  <a:srgbClr val="202020"/>
                </a:solidFill>
                <a:latin typeface="Calibri"/>
              </a:rPr>
              <a:t>Chaque etape de feature engineering vue dans ce deck alimente directement la capacite du modele a separer 'panne a venir' de 'fonctionnement normal'.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E07A1C"/>
                </a:solidFill>
                <a:latin typeface="Calibri"/>
              </a:rPr>
              <a:t>▸  </a:t>
            </a:r>
            <a:r>
              <a:rPr sz="1600" b="0">
                <a:solidFill>
                  <a:srgbClr val="202020"/>
                </a:solidFill>
                <a:latin typeface="Calibri"/>
              </a:rPr>
              <a:t>La maintenance ajoute une dimension que ni les capteurs ni les incidents ne donnaient : l'etat d'entretien recent de la machine -- un facteur de risque independant.</a:t>
            </a:r>
          </a:p>
          <a:p>
            <a:pPr marL="0" indent="0">
              <a:lnSpc>
                <a:spcPct val="115000"/>
              </a:lnSpc>
              <a:spcAft>
                <a:spcPts val="900"/>
              </a:spcAft>
            </a:pPr>
            <a:r>
              <a:rPr sz="1600" b="1">
                <a:solidFill>
                  <a:srgbClr val="E07A1C"/>
                </a:solidFill>
                <a:latin typeface="Calibri"/>
              </a:rPr>
              <a:t>▸  </a:t>
            </a:r>
            <a:r>
              <a:rPr sz="1600" b="0">
                <a:solidFill>
                  <a:srgbClr val="202020"/>
                </a:solidFill>
                <a:latin typeface="Calibri"/>
              </a:rPr>
              <a:t>Finalite ultime : detecter la panne plus tot et plus fiablement -- ce qui alimente directement le calcul de ROI (cf. cadrage_roi_indusense.md) et la decision de deploiement.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Feature Engineering -- Gold Dataset InduSense    |    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Merci -- questions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D3E4"/>
                </a:solidFill>
                <a:latin typeface="Calibri"/>
              </a:defRPr>
            </a:pPr>
            <a:r>
              <a:t>Gold Dataset InduSense 4.0 -- Feature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