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762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7A1C"/>
                </a:solidFill>
                <a:latin typeface="Calibri"/>
              </a:defRPr>
            </a:pPr>
            <a:r>
              <a:t>PROJET INDUSENSE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Architecture de déploiement chez le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FD8E8"/>
                </a:solidFill>
                <a:latin typeface="Calibri"/>
              </a:defRPr>
            </a:pPr>
            <a:r>
              <a:t>Cadrage · scénarios de déploiement · coûts progressifs · RACI ·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A9B6CC"/>
                </a:solidFill>
                <a:latin typeface="Calibri"/>
              </a:defRPr>
            </a:pPr>
            <a:r>
              <a:t>Hypothèse de travail : accès aux données garanti et conforme — le sujet est l'architecture, les modalités de déploiement, les coûts et le RACI.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Ce que nous allons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47672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Cadrage — comment on déploie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60904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Architecture cible — limiter les points de friction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46704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74136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Comparatif des scénarios de déploiement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87368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Déploiement progressif — coûts par tranche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73168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00600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Coût de fonctionnement d'un arrêt machine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486400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513832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RACI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6199632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227064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Points de vigilance additionnels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6912864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940296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Cadrage du retour sur investissement (ROI)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7626096"/>
            <a:ext cx="502920" cy="5029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7653528"/>
            <a:ext cx="9601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>
                <a:solidFill>
                  <a:srgbClr val="202020"/>
                </a:solidFill>
                <a:latin typeface="Calibri"/>
              </a:defRPr>
            </a:pPr>
            <a:r>
              <a:t>Exemple chiffré — 9 machines, quand le ROI est-il effectif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2/36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Comment on déploie : objectif et principe directeur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3/36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CADRAGE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Objectif et principe directeur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Objectif : faire passer un modèle validé en labo (MLflow) à une solution qui prédit les pannes en conditions réelles, sur site client.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Contrainte forte : limiter les points de friction — réseau OT/IT, dépendance à la DSI, couplage fort entre le modèle et l'infra du client.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Principe directeur de l'architecture :</a:t>
            </a:r>
          </a:p>
          <a:p>
            <a:pPr algn="l" marL="274320" indent="0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5A5A5A"/>
                </a:solidFill>
                <a:latin typeface="Calibri"/>
              </a:rPr>
              <a:t>–  </a:t>
            </a:r>
            <a:r>
              <a:rPr sz="1700" b="0">
                <a:solidFill>
                  <a:srgbClr val="202020"/>
                </a:solidFill>
                <a:latin typeface="Calibri"/>
              </a:rPr>
              <a:t>Découpler ce qui doit rester LOCAL (données brutes, temps réel, OT)</a:t>
            </a:r>
          </a:p>
          <a:p>
            <a:pPr algn="l" marL="274320" indent="0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5A5A5A"/>
                </a:solidFill>
                <a:latin typeface="Calibri"/>
              </a:rPr>
              <a:t>–  </a:t>
            </a:r>
            <a:r>
              <a:rPr sz="1700" b="0">
                <a:solidFill>
                  <a:srgbClr val="202020"/>
                </a:solidFill>
                <a:latin typeface="Calibri"/>
              </a:rPr>
              <a:t>de ce qui peut être CENTRALISÉ (registre de modèles, supervision, ré-entraînement)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Règle simple : moins on fait transiter de données brutes hors du site, moins il y a de friction avec la DSI et la sécurité.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4/36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Architecture 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Un schéma pensé pour limiter les points de friction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5/36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Edge on-site + supervision centrale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492240" cy="3840480"/>
          </a:xfrm>
          <a:prstGeom prst="roundRect">
            <a:avLst/>
          </a:prstGeom>
          <a:solidFill>
            <a:srgbClr val="EAF0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0">
                <a:solidFill>
                  <a:srgbClr val="1F3864"/>
                </a:solidFill>
                <a:latin typeface="Calibri"/>
              </a:defRPr>
            </a:pPr>
            <a:r>
              <a:t>SITE CLIENT — ZONE 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1645920" cy="822960"/>
          </a:xfrm>
          <a:prstGeom prst="round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Capteurs /</a:t>
            </a:r>
            <a:br/>
            <a:r>
              <a:t>PLC / Historian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468880"/>
            <a:ext cx="164592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Proxy DSI</a:t>
            </a:r>
            <a:br/>
            <a:r>
              <a:t>(lecture seule)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468880"/>
            <a:ext cx="1920240" cy="822960"/>
          </a:xfrm>
          <a:prstGeom prst="round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Edge Box InduSense</a:t>
            </a:r>
            <a:br/>
            <a:r>
              <a:t>Docker · FastAPI · modèle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880360"/>
            <a:ext cx="320040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2880360"/>
            <a:ext cx="320040" cy="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09160" y="3840480"/>
            <a:ext cx="1920240" cy="7772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Alerte locale</a:t>
            </a:r>
            <a:br/>
            <a:r>
              <a:t>(IHM opérateur)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3291840"/>
            <a:ext cx="0" cy="548640"/>
          </a:xfrm>
          <a:prstGeom prst="line">
            <a:avLst/>
          </a:prstGeom>
          <a:ln w="2222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0292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5A5A5A"/>
                </a:solidFill>
                <a:latin typeface="Calibri"/>
              </a:defRPr>
            </a:pPr>
            <a:r>
              <a:t>Fonctionne même si le lien site ↔ central est coupé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28800"/>
            <a:ext cx="4297680" cy="3840480"/>
          </a:xfrm>
          <a:prstGeom prst="roundRect">
            <a:avLst/>
          </a:prstGeom>
          <a:solidFill>
            <a:srgbClr val="FBF0E4"/>
          </a:solidFill>
          <a:ln w="19050">
            <a:solidFill>
              <a:srgbClr val="E07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9019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0">
                <a:solidFill>
                  <a:srgbClr val="E07A1C"/>
                </a:solidFill>
                <a:latin typeface="Calibri"/>
              </a:defRPr>
            </a:pPr>
            <a:r>
              <a:t>PLATEFORME CENTRALE (Cloud ou DC éditeur)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468880"/>
            <a:ext cx="3749039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Prometheus / Grafana / Evidently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520440"/>
            <a:ext cx="3749039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MLflow Model Registry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55480" y="3291840"/>
            <a:ext cx="0" cy="228600"/>
          </a:xfrm>
          <a:prstGeom prst="line">
            <a:avLst/>
          </a:prstGeom>
          <a:ln w="22225">
            <a:solidFill>
              <a:srgbClr val="5A5A5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2880360"/>
            <a:ext cx="1051560" cy="0"/>
          </a:xfrm>
          <a:prstGeom prst="line">
            <a:avLst/>
          </a:prstGeom>
          <a:ln w="28575">
            <a:solidFill>
              <a:srgbClr val="E07A1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32918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E07A1C"/>
                </a:solidFill>
                <a:latin typeface="Calibri"/>
              </a:defRPr>
            </a:pPr>
            <a:r>
              <a:t>métriques +</a:t>
            </a:r>
            <a:br/>
            <a:r>
              <a:t>prédictions</a:t>
            </a:r>
            <a:br/>
            <a:r>
              <a:t>(léger, async)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629400" y="3063240"/>
            <a:ext cx="1051560" cy="868680"/>
          </a:xfrm>
          <a:prstGeom prst="line">
            <a:avLst/>
          </a:prstGeom>
          <a:ln w="28575">
            <a:solidFill>
              <a:srgbClr val="2E7D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75120" y="3977639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2E7D32"/>
                </a:solidFill>
                <a:latin typeface="Calibri"/>
              </a:defRPr>
            </a:pPr>
            <a:r>
              <a:t>modèle validé</a:t>
            </a:r>
            <a:br/>
            <a:r>
              <a:t>(push)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6/36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Ce que ça élimine comme friction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Pas de flux continu de données brutes capteurs vers l'extérieur → moins de négociation sécurité / volumétrie avec la DSI.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La prédiction reste disponible même si le lien site ↔ central tombe (l'edge fonctionne en local).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Un seul point d'intégration avec la DSI : le proxy en lecture seule, au périmètre et à la fréquence figés dans le DAT.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E07A1C"/>
                </a:solidFill>
                <a:latin typeface="Calibri"/>
              </a:rPr>
              <a:t>▸  </a:t>
            </a:r>
            <a:r>
              <a:rPr sz="2000" b="0">
                <a:solidFill>
                  <a:srgbClr val="202020"/>
                </a:solidFill>
                <a:latin typeface="Calibri"/>
              </a:rPr>
              <a:t>Architecture réplicable à l'identique sur chaque nouveau site (même image Docker) → prépare la scalabilité multi-site.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7/36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Scénarios de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Comparatif — avantages, inconvénients, coûts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8/36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COMPARATIF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3 scénarios de déploiement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338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737360"/>
                <a:gridCol w="3291840"/>
                <a:gridCol w="356616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Avantages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Inconvénients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Coût indicatif*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★ Recommandé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Edge on-site +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supervision centrale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(hybride)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Friction sécurité minimale · fonctionne hors-ligne · scalable (image standard) · MCO centralisé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Nécessite un poste matériel léger par site · supervision multi-site à outiller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8-20 k€ / site (setup)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1,5-4 k€ / mois (run)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Cloud / SaaS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centralisé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Simple à faire évoluer · pas de matériel sur site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Flux continu de données brutes hors site → forte friction DSI · dépendance réseau totale · coût qui croît avec le nb de sites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3-5 k€ / site (setup)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run élevé et peu prévisible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Serveur dédié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100% on-premise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Sécurité maximale · aucune donnée ne sort · répond aux exigences de souveraineté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 serveur à maintenir par site · RACI matériel compliqué · ne passe pas à l'échelle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15-25 k€ / site (setup)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run élevé, peu mutualisé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10712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*Fourchettes larges, à valider avec le client — l'écart estimation / réel est systématique sur ce type de déploiement.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9/36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COMPARATIF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Recommandation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0515600" cy="1371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Scénario 1 — Edge on-site + supervision centrale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Sauf exigence contractuelle de souveraineté totale des données → scénario 3.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Ou client déjà 100% cloud-native avec DSI cloud mature → scénario 2 devient défendable.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10/36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Déploiement progressif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Jamais de big-bang — une approche par paliers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11/36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FEUILLE DE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Coûts par tranche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338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77440"/>
                <a:gridCol w="1188720"/>
                <a:gridCol w="43891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Tranche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Périmètre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Durée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Objectif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Coût indicatif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T1 — Pilote /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probatoire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 machines à risque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(les plus d'alertes historiques)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 mois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Valider en conditions réelles : pannes pertinentes ? faux positifs acceptables ?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10-15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T2 — Généralisation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site 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Reste des machines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du site pilote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2-3 mois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Passage à l'échelle sur un site maîtrisé, ajustement du modèle avec les retours T1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+3-6 k€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T3 — Scale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multi-site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Réplication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sur N sites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Industrialiser (image Docker standard, CI/CD, RACI multi-site)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≈ coût T1 réduit par site</a:t>
                      </a:r>
                    </a:p>
                    <a:p>
                      <a:pPr>
                        <a:defRPr sz="125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(cas défavorable : sites isolés)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10712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Chaque tranche mobilise une ressource de suivi côté éditeur ET côté client (intégration, coordination) — souvent oublié côté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12/36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Coût de fonctionnement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Ce que coûte réellement un arrêt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13/36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COÛT DE FONCTIONNEMENT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Décomposition d'un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743200" cy="658368"/>
          </a:xfrm>
          <a:prstGeom prst="round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Immobilisation brute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02020"/>
                </a:solidFill>
                <a:latin typeface="Calibri"/>
              </a:defRPr>
            </a:pPr>
            <a:r>
              <a:t>perte de production × durée d'arrêt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15184"/>
            <a:ext cx="2743200" cy="65836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Réparation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15184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02020"/>
                </a:solidFill>
                <a:latin typeface="Calibri"/>
              </a:defRPr>
            </a:pPr>
            <a:r>
              <a:t>main d'œuvre + pièces (abaques Métier par type de panne)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01568"/>
            <a:ext cx="2743200" cy="658368"/>
          </a:xfrm>
          <a:prstGeom prst="round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Redémarrage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401568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02020"/>
                </a:solidFill>
                <a:latin typeface="Calibri"/>
              </a:defRPr>
            </a:pPr>
            <a:r>
              <a:t>temps de remise en régime nominal — souvent sous-estimé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87952"/>
            <a:ext cx="2743200" cy="658368"/>
          </a:xfrm>
          <a:prstGeom prst="round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Opérateurs non productifs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187952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02020"/>
                </a:solidFill>
                <a:latin typeface="Calibri"/>
              </a:defRPr>
            </a:pPr>
            <a:r>
              <a:t>pendant l'arrêt ET le redémarrage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74336"/>
            <a:ext cx="2743200" cy="658368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Pénalités contractuelles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974336"/>
            <a:ext cx="7498079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02020"/>
                </a:solidFill>
                <a:latin typeface="Calibri"/>
              </a:defRPr>
            </a:pPr>
            <a:r>
              <a:t>optionnel — retard livré au client final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14/36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COÛT DE FONCTIONNEMENT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Exemple de référence et coûts additionnels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20"/>
            <a:ext cx="10515600" cy="1005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Exemple donné en référence : 9 k€ pour un arrêt de 6h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Ce chiffre doit être fourni/validé par le Métier (finance, exploitation) — pas estimé par l'équipe IA.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Il sert de base au calcul du ROI : gain = nb de pannes évitées × coût unitaire − coût de la solution.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Coûts de fonctionnement de la solution elle-même à ajouter :</a:t>
            </a:r>
          </a:p>
          <a:p>
            <a:pPr algn="l" marL="274320" indent="0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–  </a:t>
            </a:r>
            <a:r>
              <a:rPr sz="1500" b="0">
                <a:solidFill>
                  <a:srgbClr val="202020"/>
                </a:solidFill>
                <a:latin typeface="Calibri"/>
              </a:rPr>
              <a:t>infra edge (hébergement, licences OS / Docker)</a:t>
            </a:r>
          </a:p>
          <a:p>
            <a:pPr algn="l" marL="274320" indent="0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–  </a:t>
            </a:r>
            <a:r>
              <a:rPr sz="1500" b="0">
                <a:solidFill>
                  <a:srgbClr val="202020"/>
                </a:solidFill>
                <a:latin typeface="Calibri"/>
              </a:rPr>
              <a:t>supervision centrale (Prometheus / Grafana / Evidently, MLflow)</a:t>
            </a:r>
          </a:p>
          <a:p>
            <a:pPr algn="l" marL="274320" indent="0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–  </a:t>
            </a:r>
            <a:r>
              <a:rPr sz="1500" b="0">
                <a:solidFill>
                  <a:srgbClr val="202020"/>
                </a:solidFill>
                <a:latin typeface="Calibri"/>
              </a:rPr>
              <a:t>astreinte / support en cas d'alerte critique</a:t>
            </a:r>
          </a:p>
          <a:p>
            <a:pPr algn="l" marL="274320" indent="0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–  </a:t>
            </a:r>
            <a:r>
              <a:rPr sz="1500" b="0">
                <a:solidFill>
                  <a:srgbClr val="202020"/>
                </a:solidFill>
                <a:latin typeface="Calibri"/>
              </a:rPr>
              <a:t>ré-entraînement périodique du modèle (déclenché par le drift)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15/36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RACI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Qui décide, qui exécute, qui est informé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16/36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GOUVERNANCE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Matrice RACI (synthèse)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6128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1828800"/>
                <a:gridCol w="18288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Activité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Éditeur IA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DSI client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Métier client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 projet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Mise à disposition des données (proxy)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Infra edge (setup, run)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Modèle (entraînement, ré-entraînement)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Validation métier des alertes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Décision Go/No-Go par tranche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R/A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Astreinte incident critique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62856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R = Responsible · A = Accountable · C = Consulted · I = Informed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17/36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Points de vigilance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Ce qu'il ne faut pas oublier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18/36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VIGILANCE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Points additionnels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E07A1C"/>
                </a:solidFill>
                <a:latin typeface="Calibri"/>
              </a:rPr>
              <a:t>▸  </a:t>
            </a:r>
            <a:r>
              <a:rPr sz="1650" b="0">
                <a:solidFill>
                  <a:srgbClr val="202020"/>
                </a:solidFill>
                <a:latin typeface="Calibri"/>
              </a:rPr>
              <a:t>Latence / criticité : viser un temps de réponse acceptable, pas la performance à outrance — dépend de la criticité métier de l'alerte.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E07A1C"/>
                </a:solidFill>
                <a:latin typeface="Calibri"/>
              </a:rPr>
              <a:t>▸  </a:t>
            </a:r>
            <a:r>
              <a:rPr sz="1650" b="0">
                <a:solidFill>
                  <a:srgbClr val="202020"/>
                </a:solidFill>
                <a:latin typeface="Calibri"/>
              </a:rPr>
              <a:t>Tests de charge : nécessaires si l'API sert plusieurs sites/utilisateurs simultanément.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E07A1C"/>
                </a:solidFill>
                <a:latin typeface="Calibri"/>
              </a:rPr>
              <a:t>▸  </a:t>
            </a:r>
            <a:r>
              <a:rPr sz="1650" b="0">
                <a:solidFill>
                  <a:srgbClr val="202020"/>
                </a:solidFill>
                <a:latin typeface="Calibri"/>
              </a:rPr>
              <a:t>Plan de rollback : que fait-on si le modèle déployé en T2/T3 dérive ou sous-performe vs le pilote ?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E07A1C"/>
                </a:solidFill>
                <a:latin typeface="Calibri"/>
              </a:rPr>
              <a:t>▸  </a:t>
            </a:r>
            <a:r>
              <a:rPr sz="1650" b="0">
                <a:solidFill>
                  <a:srgbClr val="202020"/>
                </a:solidFill>
                <a:latin typeface="Calibri"/>
              </a:rPr>
              <a:t>Gouvernance du modèle : qui décide/valide un ré-entraînement en production (MLflow Registry, staging → prod) ?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E07A1C"/>
                </a:solidFill>
                <a:latin typeface="Calibri"/>
              </a:rPr>
              <a:t>▸  </a:t>
            </a:r>
            <a:r>
              <a:rPr sz="1650" b="0">
                <a:solidFill>
                  <a:srgbClr val="202020"/>
                </a:solidFill>
                <a:latin typeface="Calibri"/>
              </a:rPr>
              <a:t>Empreinte carbone du run (CodeCarbon) à intégrer au coût de fonctionnement, pas seulement en labo.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E07A1C"/>
                </a:solidFill>
                <a:latin typeface="Calibri"/>
              </a:rPr>
              <a:t>▸  </a:t>
            </a:r>
            <a:r>
              <a:rPr sz="1650" b="0">
                <a:solidFill>
                  <a:srgbClr val="202020"/>
                </a:solidFill>
                <a:latin typeface="Calibri"/>
              </a:rPr>
              <a:t>Écart estimation / réel : toujours une fourchette basse/haute, jamais un chiffre unique.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650" b="1">
                <a:solidFill>
                  <a:srgbClr val="E07A1C"/>
                </a:solidFill>
                <a:latin typeface="Calibri"/>
              </a:rPr>
              <a:t>▸  </a:t>
            </a:r>
            <a:r>
              <a:rPr sz="1650" b="0">
                <a:solidFill>
                  <a:srgbClr val="202020"/>
                </a:solidFill>
                <a:latin typeface="Calibri"/>
              </a:rPr>
              <a:t>Contractuel : le ROI promis engage juridiquement — cadrer les hypothèses de calcul avant signature.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19/36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Retour sur investissement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Cadrage du ROI — sans ROI démontré, pas de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20/36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Objectif du cadrage et règle d'or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Sans ROI démontré, pas de projet : le client n'engage pas sans preuve que le gain dépasse le coût.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Le cadrage ROI se pose dès le cadrage projet, pas après le déploiement — formalisé par écrit (hypothèses, échéance, méthode de vérification).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C'est la pièce qui sécurise autant la négociation contractuelle que la vente.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10424160" cy="11887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Règle d'or : à l'instant t où l'on travaille sur le projet, la solution mise en</a:t>
            </a:r>
            <a:br/>
            <a:r>
              <a:t>place doit permettre un ROI — sinon on revoit le scope, pas le calcul.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21/36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Formule et logique du calcul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20"/>
            <a:ext cx="10424160" cy="1554480"/>
          </a:xfrm>
          <a:prstGeom prst="round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ROI cumulé (année N) =</a:t>
            </a:r>
            <a:br/>
            <a:r>
              <a:t>Σ (pannes évitées estimées × coût unitaire d'un arrêt évité)</a:t>
            </a:r>
            <a:br/>
            <a:r>
              <a:t>− (coûts d'investissement + coûts de fonctionnement cumulés)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Coût unitaire d'un arrêt évité : référence de départ 9 k€ pour un arrêt de 6h — à faire valider par le Métier, jamais estimé par l'équipe IA.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Pannes évitées estimées : hypothèse statistique (taux de détection × taux de pannes historique), pas un fait acquis — à documenter avec sa marge d'incertitude.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Toujours présenter le résultat en fourchette basse / haute, jamais un chiffre unique.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22/36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Coûts d'investissement (numérateur négatif)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Nature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Référence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Développement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sunk — modèle, pipeline, drift monitoring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Sprint 1-3 InduSense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Déploiement par tranche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T1 pilote (10-15 k€), T2 généralisation (+3-6 k€), T3 multi-site (variable)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cf. architecture §3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Fonctionnement (run)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Infra edge, supervision centrale, astreinte, ré-entraînement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cf. architecture §4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Ressource de suivi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Éditeur (~0,5 ETP) ET client (intégration, coordination) — souvent oublié côté client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à faire chiffrer par le client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23/36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Coûts évités — qui détient l'information chez le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06984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 de coût à chiffrer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Détenteur côté client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horaire d'immobilisation machine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Production / Exploitation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de réparation par type de panne (abaques)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des opérateurs non productifs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RH / Production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Pénalités de retard imposées par le client final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Commercial / Contrats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Capital confiance client (pannes récurrentes)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Direction commerciale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Impact assurantiel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Finance / Assurance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62856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L'information est disséminée chez le client, personne ne détient tout — au porteur de projet de l'agréger.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24/36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Ce qui rend le calcul fragile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Le prédictif est statistique par nature : un événement exceptionnel qui pollue la base historique invalide la projection, sans que la solution soit en cause.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Le nombre de pannes évitées est une estimation, pas un engagement de résultat — à formuler comme hypothèse contractuelle explicite, avec la période d'observation retenue.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Écart estimation/réel systématique sur les coûts de déploiement → impacte directement le dénominateur du ROI.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25/36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Volet contractuel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Le ROI promis engage juridiquement — cadrer les hypothèses de calcul (méthode, période, périmètre) avant signature, avec l'appui des juristes.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Prévoir une clause de requalification si les objectifs ne sont pas atteints en fin de période probatoire (T1).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E07A1C"/>
                </a:solidFill>
                <a:latin typeface="Calibri"/>
              </a:rPr>
              <a:t>▸  </a:t>
            </a:r>
            <a:r>
              <a:rPr sz="1900" b="0">
                <a:solidFill>
                  <a:srgbClr val="202020"/>
                </a:solidFill>
                <a:latin typeface="Calibri"/>
              </a:rPr>
              <a:t>Séparer clairement : engagement de moyens (déploiement, supervision, ré-entraînement) vs. hypothèse de gain — jamais un engagement de résultat ferme sur le prédictif.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26/36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Projection pluriannuelle — l'argument de vente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06984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6868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 qu'on présente au client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Année 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réel engagé (dev + déploiement + run) vs. pertes évitées observées sur le périmètre pilote/généralisé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Année 2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Effet de la montée en charge (mutualisation edge, coûts marginaux plus faibles par machine/site)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Année 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Effet cumulé + anticipation (obsolescence, tendance des pannes) à partir de l'historique constitué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10712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Message client : « Voilà ce que ça vous a coûté, voilà ce que ça vous a évité de perdre en année 1, 2, 3 » — jamais une promesse abstraite.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27/36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07A1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651760"/>
            <a:ext cx="381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4231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Exemple chiffré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9 machines — quand le ROI sera-t-il effectif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28/36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EXEMPLE CHIFFRÉ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Hypothèses retenues (à valider avec le Métier)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06984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8580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Paramètre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Hypothèse retenue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Périmètre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 machines, 1 site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Fréquence de pannes historique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3/machine/an → 45/an pour le site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moyen d'un arrêt non planifié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9 k€ (référence donnée, ~6h)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Recall du modèle en production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75 % des pannes anticipées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résiduel d'une panne anticipée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25 % du coût initial → 2,25 k€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Précision du modèle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70 % (faux positifs à 150 €/alerte)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Déploiement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T1 pilote 5 machines (M1-3) puis T2 généralisation aux 10 restantes (M4-6)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Coûts déploiement/run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T1 : 12 k€ setup + 2 k€/mois · T2 : 4,5 k€ setup + 2,5 k€/mois (inchangé — infra edge mutualisée)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Montée en régime détection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40 % → 60 % → 85 % → 100 % (à partir de M10)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Coût de développement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Exclu du calcul — sunk cost déjà engagé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9904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Gain net par panne anticipée = 9 − 2,25 = 6,75 k€ · Gain annuel cible à régime stabilisé ≈ 225,6 k€/an (56,4 k€/trimestre).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29/36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EXEMPLE CHIFFRÉ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Scope ≠ ramp — deux variables indépendantes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Trimestre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 (machines connectées)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Ramp (efficacité de détection atteinte)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T1 (pilote)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5/15 = 33 %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40 %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T2 (généralisation)</a:t>
                      </a:r>
                    </a:p>
                  </a:txBody>
                  <a:tcPr anchor="ctr" marL="73152" marR="73152" marT="27432" marB="27432">
                    <a:solidFill>
                      <a:srgbClr val="FB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15/15 = 100 %</a:t>
                      </a:r>
                    </a:p>
                  </a:txBody>
                  <a:tcPr anchor="ctr" marL="73152" marR="73152" marT="27432" marB="27432">
                    <a:solidFill>
                      <a:srgbClr val="FB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60 %</a:t>
                      </a:r>
                    </a:p>
                  </a:txBody>
                  <a:tcPr anchor="ctr" marL="73152" marR="73152" marT="27432" marB="27432">
                    <a:solidFill>
                      <a:srgbClr val="FBF0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T3 (stabilisation)</a:t>
                      </a:r>
                    </a:p>
                  </a:txBody>
                  <a:tcPr anchor="ctr" marL="73152" marR="73152" marT="27432" marB="27432">
                    <a:solidFill>
                      <a:srgbClr val="FB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15/15 = 100 %</a:t>
                      </a:r>
                    </a:p>
                  </a:txBody>
                  <a:tcPr anchor="ctr" marL="73152" marR="73152" marT="27432" marB="27432">
                    <a:solidFill>
                      <a:srgbClr val="FB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85 %</a:t>
                      </a:r>
                    </a:p>
                  </a:txBody>
                  <a:tcPr anchor="ctr" marL="73152" marR="73152" marT="27432" marB="27432">
                    <a:solidFill>
                      <a:srgbClr val="FBF0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T4 (régime)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15/15 = 100 %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100 %</a:t>
                      </a:r>
                    </a:p>
                  </a:txBody>
                  <a:tcPr anchor="ctr"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Dès T2, 100 % des machines envoient des données — mais ça ne veut pas dire que le modèle détecte déjà 100 % de sa cible sur ces machines.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30/36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EXEMPLE CHIFFRÉ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Pourquoi le ramp reste progressif malgré un scope à 100 %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Modèle calibré en labo, pas sur le site : seuils de décision, bruit capteur, conditions réelles diffèrent de l'historique d'entraînement (covariate shift).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Manque de vérité terrain au démarrage : ~45 pannes/an réparties sur 15 machines → peu d'incidents réels les premiers mois pour valider/ajuster les seuils.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Boucle de feedback opérateur : chaque alerte doit être confirmée/infirmée sur le terrain (vrai/faux positif) — la fiabilisation prend du temps d'adoption, pas seulement du calcul.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Une machine « en scope » n'a pas d'historique local : le modèle démarre sur des patterns génériques et se spécialise machine par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49239"/>
            <a:ext cx="1078992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Conflater scope et ramp surestimerait le gain dès T2 — le ramp protège contre un ROI optimiste non tenu.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31/36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EXEMPLE CHIFFRÉ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Construction trimestrielle — scénario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280160"/>
                <a:gridCol w="1280160"/>
                <a:gridCol w="1920240"/>
                <a:gridCol w="1920240"/>
                <a:gridCol w="21945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Trimestre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Machines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Ramp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Coût cumulé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Gain cumulé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ROI net cumulé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T1 (M1-3, pilote)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5/15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40 %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18 k€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7,52 k€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− 10,48 k€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T2 (M4-6, généralisation)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15/15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60 %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30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41,37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+ 11,37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T3 (M7-9, stabilisation)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15/15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85 %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37,5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89,32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+ 51,82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T4 (M10-12, régime)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15/15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100 %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45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145,73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+ 100,73 k€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Le cumul passe de négatif à positif dès T2 (généralisation) → interpolation : seuil atteint vers le mois 5,4, avant même la fin de T2.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32/36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EXEMPLE CHIFFRÉ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Réponse — quand le ROI est-il effectif 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20"/>
            <a:ext cx="10515600" cy="1280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Seuil de rentabilité ≈ mois 5,4</a:t>
            </a:r>
            <a:br/>
            <a:r>
              <a:t>En cours de généralisation aux 15 machines, avant même son achèvement (mois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Fin d'année 1 : ROI net déjà positif de +100,7 k€.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Année 2 pleine (régime stabilisé) : +195,6 k€ supplémentaires → cumulé 2 ans ≈ +296 k€.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Avant le seuil, le déploiement est en investissement net (déficit maximal ≈ −10,5 k€ en fin de pilote — inchangé, même périmètre de 5 machines).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E07A1C"/>
                </a:solidFill>
                <a:latin typeface="Calibri"/>
              </a:rPr>
              <a:t>▸  </a:t>
            </a:r>
            <a:r>
              <a:rPr sz="1700" b="0">
                <a:solidFill>
                  <a:srgbClr val="202020"/>
                </a:solidFill>
                <a:latin typeface="Calibri"/>
              </a:rPr>
              <a:t>Plus rapide qu'à 9 machines (mois 6,3) : mêmes coûts fixes d'infra edge, mais plus de machines → plus de pannes évitées pour le même socle de coûts.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33/36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EXEMPLE CHIFFRÉ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Sensibilité — le chiffre unique n'a pas de sens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0972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Scénario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/ coût résiduel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Seuil de rentabilité</a:t>
                      </a:r>
                    </a:p>
                  </a:txBody>
                  <a:tcPr anchor="ctr" marL="73152" marR="73152" marT="27432" marB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Pessimiste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60 % / 40 % du coût initial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≈ mois 6,5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75 % / 25 %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≈ mois 5,4</a:t>
                      </a:r>
                    </a:p>
                  </a:txBody>
                  <a:tcPr anchor="ctr" marL="73152" marR="73152" marT="27432" marB="27432">
                    <a:solidFill>
                      <a:srgbClr val="E3F0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Optimiste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85 % / 15 %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≈ mois 4,8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10712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Calibri"/>
              </a:defRPr>
            </a:pPr>
            <a:r>
              <a:t>Le recall réel en production et le coût résiduel d'une panne anticipée sont les 2 paramètres à mesurer en priorité pendant le pilote.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34/36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07A1C"/>
                </a:solidFill>
                <a:latin typeface="Calibri"/>
              </a:defRPr>
            </a:pPr>
            <a:r>
              <a:t>LIVRABLE ATTENDU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Calibri"/>
              </a:defRPr>
            </a:pPr>
            <a:r>
              <a:t>Checklist finale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Formule de calcul figée et validée avec le client (méthode, période de mesure, périmètre)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Coûts d'investissement chiffrés par tranche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Coûts évités chiffrés et validés par le Métier, pas par l'équipe IA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Hypothèses et incertitudes explicitées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Fourchette basse/haute du ROI, pas un chiffre unique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Clauses contractuelles associées validées avec les juristes</a:t>
            </a:r>
          </a:p>
          <a:p>
            <a:pPr algn="l" marL="0" indent="0"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E07A1C"/>
                </a:solidFill>
                <a:latin typeface="Calibri"/>
              </a:rPr>
              <a:t>▸  </a:t>
            </a:r>
            <a:r>
              <a:rPr sz="1800" b="0">
                <a:solidFill>
                  <a:srgbClr val="202020"/>
                </a:solidFill>
                <a:latin typeface="Calibri"/>
              </a:rPr>
              <a:t>Trajectoire pluriannuelle de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0" bIns="0"/>
          <a:lstStyle/>
          <a:p>
            <a:pPr algn="ctr">
              <a:defRPr sz="1000">
                <a:solidFill>
                  <a:srgbClr val="C0C8D8"/>
                </a:solidFill>
                <a:latin typeface="Calibri"/>
              </a:defRPr>
            </a:pPr>
            <a:r>
              <a:t>InduSense 4.0 — Architecture de déploiement    |    35/36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Merci — 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D3E4"/>
                </a:solidFill>
                <a:latin typeface="Calibri"/>
              </a:defRPr>
            </a:pPr>
            <a:r>
              <a:t>InduSense 4.0 — Architecture de déploiement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