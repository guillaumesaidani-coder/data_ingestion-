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C6B3"/>
                </a:solidFill>
                <a:latin typeface="Calibri"/>
              </a:rPr>
              <a:t>PROJET INDUSENSE — MAINTENANCE PRÉDICTIVE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Industrialiser un projet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D8E1F5"/>
                </a:solidFill>
                <a:latin typeface="Calibri"/>
              </a:rPr>
              <a:t>Git, DVC, MLflow, GitHub Actions — comment prouver qu'un pipeline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D8E1F5"/>
                </a:solidFill>
                <a:latin typeface="Calibri"/>
              </a:rPr>
              <a:t>de données et un modèle fonctionnent vraiment, pas juste « chez moi »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9C4E0"/>
                </a:solidFill>
                <a:latin typeface="Calibri"/>
              </a:rPr>
              <a:t>Code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489204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8920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8064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9C4E0"/>
                </a:solidFill>
                <a:latin typeface="Calibri"/>
              </a:rPr>
              <a:t>Données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489204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48920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58064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9C4E0"/>
                </a:solidFill>
                <a:latin typeface="Calibri"/>
              </a:rPr>
              <a:t>Expériences</a:t>
            </a:r>
          </a:p>
        </p:txBody>
      </p:sp>
      <p:sp>
        <p:nvSpPr>
          <p:cNvPr id="17" name="Oval 16"/>
          <p:cNvSpPr/>
          <p:nvPr/>
        </p:nvSpPr>
        <p:spPr>
          <a:xfrm>
            <a:off x="7818120" y="489204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89204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58064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9C4E0"/>
                </a:solidFill>
                <a:latin typeface="Calibri"/>
              </a:rPr>
              <a:t>Preuve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LE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Ce qui se passe sans ces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Quatre problèmes rencontrés réellement sur ce projet — pas hypothétiques.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587752"/>
            <a:ext cx="566928" cy="566928"/>
          </a:xfrm>
          <a:prstGeom prst="ellipse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8775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87752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La donnée dérive sans laisser de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90088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Le schéma Gold est passé de 69 à 78 colonnes entre l'entraînement du modèle retenu et aujourd'hui — aucun lien entre le modèle et l'état des données qui l'a produit.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3172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36792" y="2587752"/>
            <a:ext cx="566928" cy="566928"/>
          </a:xfrm>
          <a:prstGeom prst="ellipse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58775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587752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Le même code copié-collé diverge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990088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La liste des colonnes à exclure (fuite) existait en 3 exemplaires ; l'un d'eux a oublié 4 colonnes — PR-AUC gonflé à 1.0 sans que personne ne le remarque.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645152"/>
            <a:ext cx="566928" cy="566928"/>
          </a:xfrm>
          <a:prstGeom prst="ellipse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4515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45152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Ça marche sur ma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47488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Des credentials, un chemin, une version de librairie différente ailleurs — et le pipeline qui tournait chez vous ne tourne plus.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389120"/>
            <a:ext cx="51663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36792" y="4645152"/>
            <a:ext cx="566928" cy="566928"/>
          </a:xfrm>
          <a:prstGeom prst="ellipse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64515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45152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Aucune preuve automatique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047488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Sans vérification systématique, un changement cassé n'est découvert qu'une fois qu'il a déjà fait des dégâts.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Quatre couches, quatre responsabilités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Chaque outil verrouille une seule partie de la chaîne — aucun ne remplace les autres.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0332720" cy="841248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7802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78024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065A82"/>
                </a:solidFill>
                <a:latin typeface="Calibri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5059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Code &amp;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8961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5"/>
                </a:solidFill>
                <a:latin typeface="Calibri"/>
              </a:rPr>
              <a:t>Notebooks, package Python, workflows CI — petits fichiers texte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10332720" cy="841248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48386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483864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1C7293"/>
                </a:solidFill>
                <a:latin typeface="Calibri"/>
              </a:rPr>
              <a:t>DVC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564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Données volumineuses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94760"/>
            <a:ext cx="8961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5"/>
                </a:solidFill>
                <a:latin typeface="Calibri"/>
              </a:rPr>
              <a:t>CSV bruts (8+ Mo), exports — pointé depuis Git par un hash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10332720" cy="841248"/>
          </a:xfrm>
          <a:prstGeom prst="roundRect">
            <a:avLst>
              <a:gd name="adj" fmla="val 12000"/>
            </a:avLst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48970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489704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2E8B7A"/>
                </a:solidFill>
                <a:latin typeface="Calibri"/>
              </a:rPr>
              <a:t>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622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Expériences &amp; modèles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00600"/>
            <a:ext cx="8961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5"/>
                </a:solidFill>
                <a:latin typeface="Calibri"/>
              </a:rPr>
              <a:t>Runs, métriques, hyperparamètres, artefact modèle entraîné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332720" cy="841248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4955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495544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21295C"/>
                </a:solidFill>
                <a:latin typeface="Calibri"/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4681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Preuve automatique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806440"/>
            <a:ext cx="8961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5"/>
                </a:solidFill>
                <a:latin typeface="Calibri"/>
              </a:rPr>
              <a:t>À chaque changement : lint, tests, build — sur une machine vierge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</a:rPr>
              <a:t>COUCHE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Git — le code, pas les données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777240"/>
            <a:ext cx="960120" cy="9601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777240"/>
            <a:ext cx="96012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Ce que Git versionne bien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66928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—  </a:t>
            </a:r>
            <a:r>
              <a:rPr sz="1400">
                <a:solidFill>
                  <a:srgbClr val="1A1F2B"/>
                </a:solidFill>
                <a:latin typeface="Calibri"/>
              </a:rPr>
              <a:t>Le code : notebooks, package src/indusense/, workflows CI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—  </a:t>
            </a:r>
            <a:r>
              <a:rPr sz="1400">
                <a:solidFill>
                  <a:srgbClr val="1A1F2B"/>
                </a:solidFill>
                <a:latin typeface="Calibri"/>
              </a:rPr>
              <a:t>De petits fichiers texte : diffs lisibles, historique utile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—  </a:t>
            </a:r>
            <a:r>
              <a:rPr sz="1400">
                <a:solidFill>
                  <a:srgbClr val="1A1F2B"/>
                </a:solidFill>
                <a:latin typeface="Calibri"/>
              </a:rPr>
              <a:t>Les pointeurs .dvc (un hash, quelques lignes) — jamais la donnée elle-même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Sa vraie limite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86000"/>
            <a:ext cx="4846320" cy="3200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5146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9C4E0"/>
                </a:solidFill>
                <a:latin typeface="Calibri"/>
              </a:rPr>
              <a:t>Avant DVC, sur ce projet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88036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4FC6B3"/>
                </a:solidFill>
                <a:latin typeface="Cambria"/>
              </a:rPr>
              <a:t>8,3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611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D8E1F5"/>
                </a:solidFill>
                <a:latin typeface="Calibri"/>
              </a:rPr>
              <a:t>telemetry.csv commité brut — historique gonflé, aucun diff exploitable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3434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9C4E0"/>
                </a:solidFill>
                <a:latin typeface="Calibri"/>
              </a:rPr>
              <a:t>Un gros binaire dans Git ne se compresse pas d'un commit à l'autre : chaque modification ajoute une nouvelle copie complète à l'historique.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COUCHE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DVC — versionner les gros fichiers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777240"/>
            <a:ext cx="960120" cy="9601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777240"/>
            <a:ext cx="96012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Le principe : Git garde un petit pointeur, la donnée réelle vit ailleurs (un « remote »).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Calibri"/>
              </a:rPr>
              <a:t>telemetry.csv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8,3 Mo — donnée réelle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2880360"/>
            <a:ext cx="7772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4015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B768C"/>
                </a:solidFill>
                <a:latin typeface="Calibri"/>
              </a:rPr>
              <a:t>dvc add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468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telemetry.csv.dvc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71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9EFF5"/>
                </a:solidFill>
                <a:latin typeface="Calibri"/>
              </a:rPr>
              <a:t>quelques lignes, un hash MD5 → commité dans Git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98079" y="2880360"/>
            <a:ext cx="77724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4015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B768C"/>
                </a:solidFill>
                <a:latin typeface="Calibri"/>
              </a:rPr>
              <a:t>dvc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46888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6060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971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D8E1F5"/>
                </a:solidFill>
                <a:latin typeface="Calibri"/>
              </a:rPr>
              <a:t>stockage local pour démarrer, migrable vers S3/Azure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 b="1">
                <a:solidFill>
                  <a:srgbClr val="1A1F2B"/>
                </a:solidFill>
                <a:latin typeface="Calibri"/>
              </a:rPr>
              <a:t>Sur ce projet : </a:t>
            </a:r>
            <a:r>
              <a:rPr sz="1350">
                <a:solidFill>
                  <a:srgbClr val="1A1F2B"/>
                </a:solidFill>
                <a:latin typeface="Calibri"/>
              </a:rPr>
              <a:t>telemetry.csv et les incidents anonymisés sont passés de « commit brut » à ce schéma.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 b="1">
                <a:solidFill>
                  <a:srgbClr val="1A1F2B"/>
                </a:solidFill>
                <a:latin typeface="Calibri"/>
              </a:rPr>
              <a:t>Ce que ça change : </a:t>
            </a:r>
            <a:r>
              <a:rPr sz="1350">
                <a:solidFill>
                  <a:srgbClr val="1A1F2B"/>
                </a:solidFill>
                <a:latin typeface="Calibri"/>
              </a:rPr>
              <a:t>un futur test de non-régression peut s'appuyer sur une entrée figée, pas sur un fichier qui bouge sous les pieds.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 b="1">
                <a:solidFill>
                  <a:srgbClr val="1A1F2B"/>
                </a:solidFill>
                <a:latin typeface="Calibri"/>
              </a:rPr>
              <a:t>Ce que DVC ne fait pas ici : </a:t>
            </a:r>
            <a:r>
              <a:rPr sz="1350">
                <a:solidFill>
                  <a:srgbClr val="1A1F2B"/>
                </a:solidFill>
                <a:latin typeface="Calibri"/>
              </a:rPr>
              <a:t>il ne versionne pas la table Postgres Gold — c'est un fichier, pas une 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7A"/>
                </a:solidFill>
                <a:latin typeface="Calibri"/>
              </a:rPr>
              <a:t>COUCHE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MLflow — tracer chaque expérience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777240"/>
            <a:ext cx="960120" cy="96012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777240"/>
            <a:ext cx="96012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Un run MLflow enregistre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 b="1">
                <a:solidFill>
                  <a:srgbClr val="1A1F2B"/>
                </a:solidFill>
                <a:latin typeface="Calibri"/>
              </a:rPr>
              <a:t>Params — </a:t>
            </a:r>
            <a:r>
              <a:rPr sz="1450">
                <a:solidFill>
                  <a:srgbClr val="1A1F2B"/>
                </a:solidFill>
                <a:latin typeface="Calibri"/>
              </a:rPr>
              <a:t>les hyperparamètres exacts du modèle entraîné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 b="1">
                <a:solidFill>
                  <a:srgbClr val="1A1F2B"/>
                </a:solidFill>
                <a:latin typeface="Calibri"/>
              </a:rPr>
              <a:t>Metrics — </a:t>
            </a:r>
            <a:r>
              <a:rPr sz="1450">
                <a:solidFill>
                  <a:srgbClr val="1A1F2B"/>
                </a:solidFill>
                <a:latin typeface="Calibri"/>
              </a:rPr>
              <a:t>PR-AUC, ROC-AUC, F1, matrice de confusion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 b="1">
                <a:solidFill>
                  <a:srgbClr val="1A1F2B"/>
                </a:solidFill>
                <a:latin typeface="Calibri"/>
              </a:rPr>
              <a:t>Artefact — </a:t>
            </a:r>
            <a:r>
              <a:rPr sz="1450">
                <a:solidFill>
                  <a:srgbClr val="1A1F2B"/>
                </a:solidFill>
                <a:latin typeface="Calibri"/>
              </a:rPr>
              <a:t>le modèle sérialisé lui-même, rechargeable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 b="1">
                <a:solidFill>
                  <a:srgbClr val="1A1F2B"/>
                </a:solidFill>
                <a:latin typeface="Calibri"/>
              </a:rPr>
              <a:t>Tags — </a:t>
            </a:r>
            <a:r>
              <a:rPr sz="1450">
                <a:solidFill>
                  <a:srgbClr val="1A1F2B"/>
                </a:solidFill>
                <a:latin typeface="Calibri"/>
              </a:rPr>
              <a:t>la lignée : quel run a remplacé quel autre, et pourquoi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4983480" cy="39319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C6B3"/>
                </a:solidFill>
                <a:latin typeface="Calibri"/>
              </a:rPr>
              <a:t>Run retenu — b11-gkf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0.88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54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PR-AUC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0.99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154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ROC-AUC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4231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0.76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1546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F1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947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8E1F5"/>
                </a:solidFill>
                <a:latin typeface="Calibri"/>
              </a:rPr>
              <a:t>Comparable en un clic aux runs précédents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160520"/>
            <a:ext cx="438912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4FC6B3"/>
                </a:solidFill>
                <a:latin typeface="Calibri"/>
              </a:rPr>
              <a:t>—  </a:t>
            </a:r>
            <a:r>
              <a:rPr sz="1200">
                <a:solidFill>
                  <a:srgbClr val="E9EFF5"/>
                </a:solidFill>
                <a:latin typeface="Calibri"/>
              </a:rPr>
              <a:t>B7 (TP8) — rejeté, fuite via feature_row_id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4FC6B3"/>
                </a:solidFill>
                <a:latin typeface="Calibri"/>
              </a:rPr>
              <a:t>—  </a:t>
            </a:r>
            <a:r>
              <a:rPr sz="1200">
                <a:solidFill>
                  <a:srgbClr val="E9EFF5"/>
                </a:solidFill>
                <a:latin typeface="Calibri"/>
              </a:rPr>
              <a:t>B9-GKF (TP9) — GroupKFold introduit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4FC6B3"/>
                </a:solidFill>
                <a:latin typeface="Calibri"/>
              </a:rPr>
              <a:t>—  </a:t>
            </a:r>
            <a:r>
              <a:rPr sz="1200">
                <a:solidFill>
                  <a:srgbClr val="E9EFF5"/>
                </a:solidFill>
                <a:latin typeface="Calibri"/>
              </a:rPr>
              <a:t>B12-GKF (TP12) — testé, rejeté, moins bon que b11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LA RÈGLE D'OR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Un fichier, un seul propriétaire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Mélanger les responsabilités crée des copies qui divergent en silence — vécu sur ce projet.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68C"/>
                </a:solidFill>
                <a:latin typeface="Calibri"/>
              </a:rPr>
              <a:t>Outil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317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68C"/>
                </a:solidFill>
                <a:latin typeface="Calibri"/>
              </a:rPr>
              <a:t>Possède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68C"/>
                </a:solidFill>
                <a:latin typeface="Calibri"/>
              </a:rPr>
              <a:t>Ne possède 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10332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953512"/>
            <a:ext cx="1225296" cy="722376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953512"/>
            <a:ext cx="1225296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935224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generate_model_card.py, src/indusense/, ci.yml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935224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B768C"/>
                </a:solidFill>
                <a:latin typeface="Calibri"/>
              </a:rPr>
              <a:t>Le fichier .dvc (pointeur), jamais le CSV lui-même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40"/>
            <a:ext cx="10332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4142232"/>
            <a:ext cx="1225296" cy="722376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42232"/>
            <a:ext cx="1225296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123944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telemetry.csv, releves_incidents_anonymises.csv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123944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B768C"/>
                </a:solidFill>
                <a:latin typeface="Calibri"/>
              </a:rPr>
              <a:t>Le code qui les lit — ça reste dans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103327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5330952"/>
            <a:ext cx="1225296" cy="722376"/>
          </a:xfrm>
          <a:prstGeom prst="roundRect">
            <a:avLst>
              <a:gd name="adj" fmla="val 16000"/>
            </a:avLst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30952"/>
            <a:ext cx="1225296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312664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mlruns/, mlflow_tp7.db — runs et modèles entraînés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312664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B768C"/>
                </a:solidFill>
                <a:latin typeface="Calibri"/>
              </a:rPr>
              <a:t>Le code d'entraînement — lui aussi dans 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C6B3"/>
                </a:solidFill>
                <a:latin typeface="Calibri"/>
              </a:rPr>
              <a:t>COUCHE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GitHub Actions — le vocabulaire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777240"/>
            <a:ext cx="960120" cy="9601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777240"/>
            <a:ext cx="96012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93392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96596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E1F5"/>
                </a:solidFill>
                <a:latin typeface="Calibri"/>
              </a:rPr>
              <a:t>Le fichier .github/workflows/ci.yml — ce qui doit se passer, décrit une fois.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0720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Événement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07208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E1F5"/>
                </a:solidFill>
                <a:latin typeface="Calibri"/>
              </a:rPr>
              <a:t>Ce qui déclenche le workflow : un push, l'ouverture d'une pull request...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75888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75888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48456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48456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E1F5"/>
                </a:solidFill>
                <a:latin typeface="Calibri"/>
              </a:rPr>
              <a:t>Un groupe d'étapes qui tourne sur sa propre machine. Ici : quality et build.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17136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89704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89704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E1F5"/>
                </a:solidFill>
                <a:latin typeface="Calibri"/>
              </a:rPr>
              <a:t>Une exécution concrète du workflow, déclenchée par un événement précis.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58384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58384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30952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30952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D8E1F5"/>
                </a:solidFill>
                <a:latin typeface="Calibri"/>
              </a:rPr>
              <a:t>La machine virtuelle jetable qui exécute un job — créée, utilisée, détruite.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Notre workflow : déclenché sur push vers main et sur toute 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Calibri"/>
              </a:rPr>
              <a:t>NOTRE PIPELINE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Le job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Une machine Ubuntu vierge rejoue exactement ce qu'on a vérifié en local.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926080"/>
            <a:ext cx="54864" cy="365760"/>
          </a:xfrm>
          <a:prstGeom prst="rect">
            <a:avLst/>
          </a:prstGeom>
          <a:solidFill>
            <a:srgbClr val="CF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359152"/>
            <a:ext cx="95097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505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Consolas"/>
              </a:rPr>
              <a:t>checkout + uv sync --frozen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6148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Récupère le code, installe EXACTEMENT les versions du lockfile commité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840480"/>
            <a:ext cx="54864" cy="365760"/>
          </a:xfrm>
          <a:prstGeom prst="rect">
            <a:avLst/>
          </a:prstGeom>
          <a:solidFill>
            <a:srgbClr val="CF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3273552"/>
            <a:ext cx="95097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3649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Consolas"/>
              </a:rPr>
              <a:t>ruff check src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7588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Lint : erreurs de style, imports inutilisés, motifs à risque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754880"/>
            <a:ext cx="54864" cy="365760"/>
          </a:xfrm>
          <a:prstGeom prst="rect">
            <a:avLst/>
          </a:prstGeom>
          <a:solidFill>
            <a:srgbClr val="CF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7320" y="4187952"/>
            <a:ext cx="95097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2793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Consolas"/>
              </a:rPr>
              <a:t>black --check src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9028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Vérifie le formatage — ne corrige rien, signale un écart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5102352"/>
            <a:ext cx="95097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193792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Consolas"/>
              </a:rPr>
              <a:t>pytest -m "not requires_local_infra"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0468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Fait tourner les tests qui ne dépendent ni du Postgres local ni de DVC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Calibri"/>
              </a:rPr>
              <a:t>NOTRE PIPELINE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Fail fast : needs: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Le job build ne démarre jamais avant que quality ait fini — et jamais s'il a échoué.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834640" cy="1005840"/>
          </a:xfrm>
          <a:prstGeom prst="roundRect">
            <a:avLst>
              <a:gd name="adj" fmla="val 10000"/>
            </a:avLst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quality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443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9EFF5"/>
                </a:solidFill>
                <a:latin typeface="Calibri"/>
              </a:rPr>
              <a:t>tout est vert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2651760"/>
            <a:ext cx="86868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92040" y="2377440"/>
            <a:ext cx="2834640" cy="10058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560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build 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443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E9EFF5"/>
                </a:solidFill>
                <a:latin typeface="Calibri"/>
              </a:rPr>
              <a:t>démarre, produit le wheel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834640" cy="1005840"/>
          </a:xfrm>
          <a:prstGeom prst="roundRect">
            <a:avLst>
              <a:gd name="adj" fmla="val 10000"/>
            </a:avLst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quality 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7DCD8"/>
                </a:solidFill>
                <a:latin typeface="Calibri"/>
              </a:rPr>
              <a:t>un test échoue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4069080"/>
            <a:ext cx="86868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2040" y="3794760"/>
            <a:ext cx="2834640" cy="1005840"/>
          </a:xfrm>
          <a:prstGeom prst="roundRect">
            <a:avLst>
              <a:gd name="adj" fmla="val 10000"/>
            </a:avLst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977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6B768C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361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B768C"/>
                </a:solidFill>
                <a:latin typeface="Calibri"/>
              </a:rPr>
              <a:t>ne démarre 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Pourquoi c'est important en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—  </a:t>
            </a:r>
            <a:r>
              <a:rPr sz="1250">
                <a:solidFill>
                  <a:srgbClr val="1A1F2B"/>
                </a:solidFill>
                <a:latin typeface="Calibri"/>
              </a:rPr>
              <a:t>Aucun calcul gaspillé à empaqueter un modèle dont le code de test a déjà signalé un problème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—  </a:t>
            </a:r>
            <a:r>
              <a:rPr sz="1250">
                <a:solidFill>
                  <a:srgbClr val="1A1F2B"/>
                </a:solidFill>
                <a:latin typeface="Calibri"/>
              </a:rPr>
              <a:t>Le wheel téléchargeable est toujours issu d'un code vérifié, jamais d'un état cassé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LE LIVRABLE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build — fabriquer et publier le 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Qu'est-ce qu'un wheel (.whl)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Le format standard d'un paquet Python installable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Contient le code du package — ici indusense — prêt à l'emploi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C7293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S'installe avec pip install ..., sans recopier le dépôt ni résoudre les dépendances à la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3 étapes du job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—  </a:t>
            </a:r>
            <a:r>
              <a:rPr sz="1300" b="1">
                <a:solidFill>
                  <a:srgbClr val="1A1F2B"/>
                </a:solidFill>
                <a:latin typeface="Calibri"/>
              </a:rPr>
              <a:t>uv build  </a:t>
            </a:r>
            <a:r>
              <a:rPr sz="1300">
                <a:solidFill>
                  <a:srgbClr val="1A1F2B"/>
                </a:solidFill>
                <a:latin typeface="Calibri"/>
              </a:rPr>
              <a:t>→ lit pyproject.toml, produit dist/*.whl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—  </a:t>
            </a:r>
            <a:r>
              <a:rPr sz="1300" b="1">
                <a:solidFill>
                  <a:srgbClr val="1A1F2B"/>
                </a:solidFill>
                <a:latin typeface="Calibri"/>
              </a:rPr>
              <a:t>upload-artifact  </a:t>
            </a:r>
            <a:r>
              <a:rPr sz="1300">
                <a:solidFill>
                  <a:srgbClr val="1A1F2B"/>
                </a:solidFill>
                <a:latin typeface="Calibri"/>
              </a:rPr>
              <a:t>→ copie le fichier hors de la VM jetable, avant sa destruction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—  </a:t>
            </a:r>
            <a:r>
              <a:rPr sz="1300" b="1">
                <a:solidFill>
                  <a:srgbClr val="1A1F2B"/>
                </a:solidFill>
                <a:latin typeface="Calibri"/>
              </a:rPr>
              <a:t>Téléchargeable  </a:t>
            </a:r>
            <a:r>
              <a:rPr sz="1300">
                <a:solidFill>
                  <a:srgbClr val="1A1F2B"/>
                </a:solidFill>
                <a:latin typeface="Calibri"/>
              </a:rPr>
              <a:t>→ depuis la page du run, par n'importe qui ayant accès au dépôt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57800" cy="45720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C6B3"/>
                </a:solidFill>
                <a:latin typeface="Calibri"/>
              </a:rPr>
              <a:t>Produit vérifié localement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514600"/>
            <a:ext cx="466344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700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py_init-0.1.0-py3-none-any.whl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E0C8"/>
                </a:solidFill>
                <a:latin typeface="Consolas"/>
              </a:rPr>
              <a:t>uv build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E0C8"/>
                </a:solidFill>
                <a:latin typeface="Consolas"/>
              </a:rPr>
              <a:t>Building source distribution...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E0C8"/>
                </a:solidFill>
                <a:latin typeface="Consolas"/>
              </a:rPr>
              <a:t>Building wheel from source distribution...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E0C8"/>
                </a:solidFill>
                <a:latin typeface="Consolas"/>
              </a:rPr>
              <a:t>Successfully built dist\py_init-0.1.0.tar.gz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E0C8"/>
                </a:solidFill>
                <a:latin typeface="Consolas"/>
              </a:rPr>
              <a:t>Successfully built dist\py_init-0.1.0-py3-none-any.whl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3B2E"/>
                </a:solidFill>
                <a:latin typeface="Calibri"/>
              </a:rPr>
              <a:t>LE PIÈGE SPÉCIFIQUE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1295C"/>
                </a:solidFill>
                <a:latin typeface="Cambria"/>
              </a:rPr>
              <a:t>La CI n'a ni la base ni les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68C"/>
                </a:solidFill>
                <a:latin typeface="Calibri"/>
              </a:rPr>
              <a:t>La plupart des tests interrogent un Postgres local peuplé — absent sur un runner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En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4434840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065A82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Postgres réel (docker-db-1), peuplé des vraies données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065A82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telemetry.csv présent (dvc pull ou déjà sur le poste)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065A82"/>
                </a:solidFill>
                <a:latin typeface="Calibri"/>
              </a:rPr>
              <a:t>—  </a:t>
            </a:r>
            <a:r>
              <a:rPr sz="1350">
                <a:solidFill>
                  <a:srgbClr val="1A1F2B"/>
                </a:solidFill>
                <a:latin typeface="Calibri"/>
              </a:rPr>
              <a:t>uv run pytest  →  tout tourne, DB comprise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28600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5603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Sur le runner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63240"/>
            <a:ext cx="4434840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C6B3"/>
                </a:solidFill>
                <a:latin typeface="Calibri"/>
              </a:rPr>
              <a:t>—  </a:t>
            </a:r>
            <a:r>
              <a:rPr sz="1350">
                <a:solidFill>
                  <a:srgbClr val="E9EFF5"/>
                </a:solidFill>
                <a:latin typeface="Calibri"/>
              </a:rPr>
              <a:t>Machine vierge — pas de Postgres, pas de telemetry.csv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C6B3"/>
                </a:solidFill>
                <a:latin typeface="Calibri"/>
              </a:rPr>
              <a:t>—  </a:t>
            </a:r>
            <a:r>
              <a:rPr sz="1350">
                <a:solidFill>
                  <a:srgbClr val="E9EFF5"/>
                </a:solidFill>
                <a:latin typeface="Calibri"/>
              </a:rPr>
              <a:t>Ces tests échoueraient pour une mauvaise raison : pas le code, l'infra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FC6B3"/>
                </a:solidFill>
                <a:latin typeface="Calibri"/>
              </a:rPr>
              <a:t>—  </a:t>
            </a:r>
            <a:r>
              <a:rPr sz="1350" b="1">
                <a:solidFill>
                  <a:srgbClr val="E9EFF5"/>
                </a:solidFill>
                <a:latin typeface="Calibri"/>
              </a:rPr>
              <a:t>pytest -m "not requires_local_infra"</a:t>
            </a:r>
            <a:r>
              <a:rPr sz="1350">
                <a:solidFill>
                  <a:srgbClr val="E9EFF5"/>
                </a:solidFill>
                <a:latin typeface="Calibri"/>
              </a:rPr>
              <a:t>  → on les exclut explicitement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68C"/>
                </a:solidFill>
                <a:latin typeface="Calibri"/>
              </a:rPr>
              <a:t>En local, aucun filtre : tout tourne, y compris les tests DB. Le marqueur ne change rien hors 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C6B3"/>
                </a:solidFill>
                <a:latin typeface="Calibri"/>
              </a:rPr>
              <a:t>EN RÉSUMÉ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Pourquoi ça compte dans un projet ML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" cy="5943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3055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Reproductibilité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060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1F5"/>
                </a:solidFill>
                <a:latin typeface="Calibri"/>
              </a:rPr>
              <a:t>Le même code, la même donnée figée, le même lockfile → le même résultat, ici ou ailleurs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14884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48840"/>
            <a:ext cx="594360" cy="5943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3055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Traçabilité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6060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1F5"/>
                </a:solidFill>
                <a:latin typeface="Calibri"/>
              </a:rPr>
              <a:t>Chaque modèle entraîné pointe vers ses hyperparamètres, ses métriques, et idéalement sa version de données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5196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94360" cy="5943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3367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Déploiement fiable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0916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1F5"/>
                </a:solidFill>
                <a:latin typeface="Calibri"/>
              </a:rPr>
              <a:t>Le wheel téléchargeable n'est jamais issu d'un code qui a échoué aux tests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25196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251960"/>
            <a:ext cx="594360" cy="5943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23367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70916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1F5"/>
                </a:solidFill>
                <a:latin typeface="Calibri"/>
              </a:rPr>
              <a:t>Un ✓ ou ✖ visible sur chaque pull request — pas besoin de tout relire pour savoir si c'est sûr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Projet InduSense — Git · DVC · MLflow · 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9C4E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