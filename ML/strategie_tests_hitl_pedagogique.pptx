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64008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2374" y="780898"/>
            <a:ext cx="724205" cy="7242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9202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TESTS — BOUCLE HITL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0" y="26517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fait, à quoi ça sert, comment le rejouer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619756" y="3520440"/>
            <a:ext cx="6949440" cy="777240"/>
          </a:xfrm>
          <a:prstGeom prst="roundRect">
            <a:avLst>
              <a:gd name="adj" fmla="val 14118"/>
            </a:avLst>
          </a:prstGeom>
          <a:solidFill>
            <a:srgbClr val="072A4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711196" y="352044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du terrain · se réentraîner sans risque · prouver qu'une version est meilleure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— modules 37 à 39  ·  22 septembre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STRATÉGIE DE TESTS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feuille_de_route_mlops_indusense.md — l'objectif du projet, en une phrase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14344" cy="4023360"/>
          </a:xfrm>
          <a:prstGeom prst="roundRect">
            <a:avLst>
              <a:gd name="adj" fmla="val 2082"/>
            </a:avLst>
          </a:prstGeom>
          <a:solidFill>
            <a:srgbClr val="F1F6F8"/>
          </a:solidFill>
          <a:ln/>
        </p:spPr>
      </p:sp>
      <p:sp>
        <p:nvSpPr>
          <p:cNvPr id="7" name="Shape 4"/>
          <p:cNvSpPr/>
          <p:nvPr/>
        </p:nvSpPr>
        <p:spPr>
          <a:xfrm>
            <a:off x="1985772" y="228600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985772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5468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du terrain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931920"/>
            <a:ext cx="2965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prédiction est tracée ; un technicien confirme, infirme ou signale une panne oubliée — sans ça, le modèle répète ses erreurs en boucle ouverte.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7304" y="1965960"/>
            <a:ext cx="3514344" cy="4023360"/>
          </a:xfrm>
          <a:prstGeom prst="roundRect">
            <a:avLst>
              <a:gd name="adj" fmla="val 2082"/>
            </a:avLst>
          </a:prstGeom>
          <a:solidFill>
            <a:srgbClr val="F1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5774436" y="228600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7443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611624" y="315468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réentraîner sans risque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611624" y="3931920"/>
            <a:ext cx="2965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nouveau modèle n'est entraîné que si des feux verts objectifs sont réunis — jamais sur un calendrier arbitraire.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25968" y="1965960"/>
            <a:ext cx="3514344" cy="4023360"/>
          </a:xfrm>
          <a:prstGeom prst="roundRect">
            <a:avLst>
              <a:gd name="adj" fmla="val 2082"/>
            </a:avLst>
          </a:prstGeom>
          <a:solidFill>
            <a:srgbClr val="F1F6F8"/>
          </a:solidFill>
          <a:ln/>
        </p:spPr>
      </p:sp>
      <p:sp>
        <p:nvSpPr>
          <p:cNvPr id="17" name="Shape 14"/>
          <p:cNvSpPr/>
          <p:nvPr/>
        </p:nvSpPr>
        <p:spPr>
          <a:xfrm>
            <a:off x="9563100" y="228600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5631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8400288" y="315468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Prouver qu'une version est meilleure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400288" y="3931920"/>
            <a:ext cx="2965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candidat rejoue l'historique réel déjà jugé par un humain ; une règle d'or refuse toute régression non compensée.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FAIT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avant de coder — et corriger le diagnostic quand il est faux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567178" cy="4023360"/>
          </a:xfrm>
          <a:prstGeom prst="roundRect">
            <a:avLst>
              <a:gd name="adj" fmla="val 2850"/>
            </a:avLst>
          </a:prstGeom>
          <a:solidFill>
            <a:srgbClr val="F1F6F8"/>
          </a:solidFill>
          <a:ln/>
        </p:spPr>
      </p:sp>
      <p:sp>
        <p:nvSpPr>
          <p:cNvPr id="7" name="Shape 4"/>
          <p:cNvSpPr/>
          <p:nvPr/>
        </p:nvSpPr>
        <p:spPr>
          <a:xfrm>
            <a:off x="1539621" y="22402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539621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01752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initial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749040"/>
            <a:ext cx="216484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trous supposés listés en lisant seulement le cahier de tests : feux Prefect jamais isolés, règle d'or jamais exercée sur ses 3 branches, 2 statuts Streamlit jamais testés.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115818" y="3703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90138" y="1965960"/>
            <a:ext cx="2567178" cy="4023360"/>
          </a:xfrm>
          <a:prstGeom prst="roundRect">
            <a:avLst>
              <a:gd name="adj" fmla="val 2850"/>
            </a:avLst>
          </a:prstGeom>
          <a:solidFill>
            <a:srgbClr val="F1F6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381119" y="22402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381119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591306" y="301752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dans tests/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591306" y="3749040"/>
            <a:ext cx="216484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coder quoi que ce soit : 24 tests déjà présents (`test_retrain_flow.py`, `test_arbitration.py`, `test_shadow.py`) exécutés — 24/24 passent déjà. 2 des 3 trous supposés étaient faux.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957316" y="3703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31636" y="1965960"/>
            <a:ext cx="2567178" cy="4023360"/>
          </a:xfrm>
          <a:prstGeom prst="roundRect">
            <a:avLst>
              <a:gd name="adj" fmla="val 2850"/>
            </a:avLst>
          </a:prstGeom>
          <a:solidFill>
            <a:srgbClr val="F1F6F8"/>
          </a:solidFill>
          <a:ln/>
        </p:spPr>
      </p:sp>
      <p:sp>
        <p:nvSpPr>
          <p:cNvPr id="19" name="Shape 16"/>
          <p:cNvSpPr/>
          <p:nvPr/>
        </p:nvSpPr>
        <p:spPr>
          <a:xfrm>
            <a:off x="7222617" y="22402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222617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432804" y="301752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trou trouvé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432804" y="3749040"/>
            <a:ext cx="216484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 statut Streamlit (`MAINTENANCE_PREVENTIVE`) jamais sélectionné ni vérifié en base par un test.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798814" y="3703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9073134" y="1965960"/>
            <a:ext cx="2567178" cy="4023360"/>
          </a:xfrm>
          <a:prstGeom prst="roundRect">
            <a:avLst>
              <a:gd name="adj" fmla="val 2850"/>
            </a:avLst>
          </a:prstGeom>
          <a:solidFill>
            <a:srgbClr val="0B3D5C"/>
          </a:solidFill>
          <a:ln/>
        </p:spPr>
      </p:sp>
      <p:sp>
        <p:nvSpPr>
          <p:cNvPr id="25" name="Shape 22"/>
          <p:cNvSpPr/>
          <p:nvPr/>
        </p:nvSpPr>
        <p:spPr>
          <a:xfrm>
            <a:off x="10064115" y="2240280"/>
            <a:ext cx="585216" cy="585216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064115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274302" y="301752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livrées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9274302" y="3749040"/>
            <a:ext cx="216484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 paramétré ajouté · cahier mis à jour (+4 lignes, 48→52 cas) · section "Limites connues" ajoutée pour les 2 écarts non testables en l'état.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— LA RÈGLE D'OR, TESTÉE SUR SES 3 BRANCHES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`tests/test_arbitration.py` — 5 tests, y compris les cas limites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14344" cy="4023360"/>
          </a:xfrm>
          <a:prstGeom prst="roundRect">
            <a:avLst>
              <a:gd name="adj" fmla="val 2082"/>
            </a:avLst>
          </a:prstGeom>
          <a:solidFill>
            <a:srgbClr val="F1F6F8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2194560"/>
            <a:ext cx="3057144" cy="731520"/>
          </a:xfrm>
          <a:prstGeom prst="roundRect">
            <a:avLst>
              <a:gd name="adj" fmla="val 7500"/>
            </a:avLst>
          </a:prstGeom>
          <a:solidFill>
            <a:srgbClr val="1B8A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194560"/>
            <a:ext cx="2874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ACCEPTATION_DIRECTE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089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régressions = 0 et gains &gt; 0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5196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régression, la mise en production est automatique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7304" y="1965960"/>
            <a:ext cx="3514344" cy="4023360"/>
          </a:xfrm>
          <a:prstGeom prst="roundRect">
            <a:avLst>
              <a:gd name="adj" fmla="val 2082"/>
            </a:avLst>
          </a:prstGeom>
          <a:solidFill>
            <a:srgbClr val="F1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4565904" y="2194560"/>
            <a:ext cx="3057144" cy="731520"/>
          </a:xfrm>
          <a:prstGeom prst="roundRect">
            <a:avLst>
              <a:gd name="adj" fmla="val 7500"/>
            </a:avLst>
          </a:prstGeom>
          <a:solidFill>
            <a:srgbClr val="F2A20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57344" y="2194560"/>
            <a:ext cx="2874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ACCEPTATION_SOUS_DEROGATION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611624" y="31089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&gt; 3× régressions et régressions ≤ 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611624" y="425196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massif, une seule régression tolérée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25968" y="1965960"/>
            <a:ext cx="3514344" cy="4023360"/>
          </a:xfrm>
          <a:prstGeom prst="roundRect">
            <a:avLst>
              <a:gd name="adj" fmla="val 2082"/>
            </a:avLst>
          </a:prstGeom>
          <a:solidFill>
            <a:srgbClr val="F1F6F8"/>
          </a:solidFill>
          <a:ln/>
        </p:spPr>
      </p:sp>
      <p:sp>
        <p:nvSpPr>
          <p:cNvPr id="17" name="Shape 14"/>
          <p:cNvSpPr/>
          <p:nvPr/>
        </p:nvSpPr>
        <p:spPr>
          <a:xfrm>
            <a:off x="8354568" y="2194560"/>
            <a:ext cx="3057144" cy="731520"/>
          </a:xfrm>
          <a:prstGeom prst="roundRect">
            <a:avLst>
              <a:gd name="adj" fmla="val 7500"/>
            </a:avLst>
          </a:prstGeom>
          <a:solidFill>
            <a:srgbClr val="B3432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46008" y="2194560"/>
            <a:ext cx="2874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REJET_DU_MODELE_N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400288" y="31089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reste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400288" y="425196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réel : gains=9, régressions=7 → rejeté malgré un bilan net +2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F2A2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— 4 FEUX TESTÉS ISOLÉMENT, VERT ET ROUGE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`tests/test_retrain_flow.py` — 7 tests, chaque feu vérifié indépendamment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601468" cy="4114800"/>
          </a:xfrm>
          <a:prstGeom prst="roundRect">
            <a:avLst>
              <a:gd name="adj" fmla="val 2812"/>
            </a:avLst>
          </a:prstGeom>
          <a:solidFill>
            <a:srgbClr val="072A40"/>
          </a:solidFill>
          <a:ln/>
        </p:spPr>
      </p:sp>
      <p:sp>
        <p:nvSpPr>
          <p:cNvPr id="7" name="Shape 4"/>
          <p:cNvSpPr/>
          <p:nvPr/>
        </p:nvSpPr>
        <p:spPr>
          <a:xfrm>
            <a:off x="1575054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57505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3464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de validations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20440"/>
            <a:ext cx="223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 retours humains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343400"/>
            <a:ext cx="22357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→ rouge, 50 → vert (seuil exact testé)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78708" y="1920240"/>
            <a:ext cx="2601468" cy="4114800"/>
          </a:xfrm>
          <a:prstGeom prst="roundRect">
            <a:avLst>
              <a:gd name="adj" fmla="val 2812"/>
            </a:avLst>
          </a:prstGeom>
          <a:solidFill>
            <a:srgbClr val="072A4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05122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0512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561588" y="283464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Pannes confirmées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561588" y="3520440"/>
            <a:ext cx="223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vraies pannes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561588" y="4343400"/>
            <a:ext cx="22357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`ground_truth` compte, pas le volume brut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08776" y="1920240"/>
            <a:ext cx="2601468" cy="4114800"/>
          </a:xfrm>
          <a:prstGeom prst="roundRect">
            <a:avLst>
              <a:gd name="adj" fmla="val 2812"/>
            </a:avLst>
          </a:prstGeom>
          <a:solidFill>
            <a:srgbClr val="072A40"/>
          </a:solidFill>
          <a:ln/>
        </p:spPr>
      </p:sp>
      <p:sp>
        <p:nvSpPr>
          <p:cNvPr id="19" name="Shape 16"/>
          <p:cNvSpPr/>
          <p:nvPr/>
        </p:nvSpPr>
        <p:spPr>
          <a:xfrm>
            <a:off x="7235190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23519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391656" y="283464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391656" y="3520440"/>
            <a:ext cx="223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valeur hors bornes physiques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391656" y="4343400"/>
            <a:ext cx="22357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9999 °C injecté volontairement → rouge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038844" y="1920240"/>
            <a:ext cx="2601468" cy="4114800"/>
          </a:xfrm>
          <a:prstGeom prst="roundRect">
            <a:avLst>
              <a:gd name="adj" fmla="val 2812"/>
            </a:avLst>
          </a:prstGeom>
          <a:solidFill>
            <a:srgbClr val="072A40"/>
          </a:solidFill>
          <a:ln/>
        </p:spPr>
      </p:sp>
      <p:sp>
        <p:nvSpPr>
          <p:cNvPr id="25" name="Shape 22"/>
          <p:cNvSpPr/>
          <p:nvPr/>
        </p:nvSpPr>
        <p:spPr>
          <a:xfrm>
            <a:off x="10065258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06525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221724" y="283464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constatée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221724" y="3520440"/>
            <a:ext cx="223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signal statistique doit avoir bougé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221724" y="4343400"/>
            <a:ext cx="22357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bouge → rouge ; une feature dérive → vert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REJOUER — NIVEAU 1 : UNITAIRE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Rapide, isolé, aucune infrastructure nécessaire (pas de Docker, pas de Postgres)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0B3D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1031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--frozen pytest tests/test_retrain_flow.py tests/test_arbitration.py tests/test_shadow.py tests/test_streamlit_review.py -v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25 passed en ~10 secondes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1F6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mécanisme à vérifier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474720"/>
            <a:ext cx="6885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`pytest tests/test_arbitration.py -v` (règle d'or) ou `tests/test_retrain_flow.py -v` (feux)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434340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1F6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4434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une modif du code d'arbitrage ou des feux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4434840"/>
            <a:ext cx="6885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relancer la commande complète ci-dessus avant tout commit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1F6F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394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 tests à jour ?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5394960"/>
            <a:ext cx="6885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`grep -oE "^\| TC-[A-Z]+-[0-9]+[a-z]* \|" cahier_de_tests_indusense.md | sort | uniq -d` → doit être vide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REJOUER — NIVEAU 2 : BOUT-EN-BOUT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réelle, avec l'infrastructure — guide_experimentation_indusense.md §6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14344" cy="1874520"/>
          </a:xfrm>
          <a:prstGeom prst="roundRect">
            <a:avLst>
              <a:gd name="adj" fmla="val 3902"/>
            </a:avLst>
          </a:prstGeom>
          <a:solidFill>
            <a:srgbClr val="F1F6F8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103120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backfill_predictions.py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3464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scoré (19 944 fenêtres)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37304" y="1965960"/>
            <a:ext cx="3514344" cy="1874520"/>
          </a:xfrm>
          <a:prstGeom prst="roundRect">
            <a:avLst>
              <a:gd name="adj" fmla="val 3902"/>
            </a:avLst>
          </a:prstGeom>
          <a:solidFill>
            <a:srgbClr val="F1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4520184" y="214884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2018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114544" y="2103120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simulate_feedback.py [--incident-non-predit-rate 1.0]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20184" y="283464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de sélection mesuré (662/727 → 727/727)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125968" y="1965960"/>
            <a:ext cx="3514344" cy="1874520"/>
          </a:xfrm>
          <a:prstGeom prst="roundRect">
            <a:avLst>
              <a:gd name="adj" fmla="val 3902"/>
            </a:avLst>
          </a:prstGeom>
          <a:solidFill>
            <a:srgbClr val="F1F6F8"/>
          </a:solidFill>
          <a:ln/>
        </p:spPr>
      </p:sp>
      <p:sp>
        <p:nvSpPr>
          <p:cNvPr id="17" name="Shape 14"/>
          <p:cNvSpPr/>
          <p:nvPr/>
        </p:nvSpPr>
        <p:spPr>
          <a:xfrm>
            <a:off x="8308848" y="214884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0884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903208" y="2103120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streamlit_review.py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308848" y="283464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humaine réelle sur les cas ambigus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4114800"/>
            <a:ext cx="3514344" cy="1874520"/>
          </a:xfrm>
          <a:prstGeom prst="roundRect">
            <a:avLst>
              <a:gd name="adj" fmla="val 3902"/>
            </a:avLst>
          </a:prstGeom>
          <a:solidFill>
            <a:srgbClr val="F1F6F8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325880" y="4251960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arbitrate_challenger.py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98348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gains/régressions + décision journalisée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337304" y="4114800"/>
            <a:ext cx="3514344" cy="1874520"/>
          </a:xfrm>
          <a:prstGeom prst="roundRect">
            <a:avLst>
              <a:gd name="adj" fmla="val 3902"/>
            </a:avLst>
          </a:prstGeom>
          <a:solidFill>
            <a:srgbClr val="F1F6F8"/>
          </a:solidFill>
          <a:ln/>
        </p:spPr>
      </p:sp>
      <p:sp>
        <p:nvSpPr>
          <p:cNvPr id="27" name="Shape 24"/>
          <p:cNvSpPr/>
          <p:nvPr/>
        </p:nvSpPr>
        <p:spPr>
          <a:xfrm>
            <a:off x="4520184" y="429768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20184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114544" y="4251960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retrain_flow.py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520184" y="498348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feux vérifiés avant de relancer l'arbitrage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125968" y="4114800"/>
            <a:ext cx="3514344" cy="1874520"/>
          </a:xfrm>
          <a:prstGeom prst="roundRect">
            <a:avLst>
              <a:gd name="adj" fmla="val 3902"/>
            </a:avLst>
          </a:prstGeom>
          <a:solidFill>
            <a:srgbClr val="F1F6F8"/>
          </a:solidFill>
          <a:ln/>
        </p:spPr>
      </p:sp>
      <p:sp>
        <p:nvSpPr>
          <p:cNvPr id="32" name="Shape 29"/>
          <p:cNvSpPr/>
          <p:nvPr/>
        </p:nvSpPr>
        <p:spPr>
          <a:xfrm>
            <a:off x="8308848" y="429768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30884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903208" y="4251960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run_shadow_mode.py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308848" y="498348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uniquement si le dernier arbitrage est accepté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CONNUES — NON TESTÉES, PAR CONSTRUCTION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décisions produit non tranchées, pas des oublis de test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317236" cy="3566160"/>
          </a:xfrm>
          <a:prstGeom prst="roundRect">
            <a:avLst>
              <a:gd name="adj" fmla="val 2051"/>
            </a:avLst>
          </a:prstGeom>
          <a:solidFill>
            <a:srgbClr val="F1F6F8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194560"/>
            <a:ext cx="128016" cy="548640"/>
          </a:xfrm>
          <a:prstGeom prst="roundRect">
            <a:avLst>
              <a:gd name="adj" fmla="val 21429"/>
            </a:avLst>
          </a:prstGeom>
          <a:solidFill>
            <a:srgbClr val="B343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194560"/>
            <a:ext cx="4494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fantôme statique, pas vivant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26080"/>
            <a:ext cx="46771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feuille de route décrit 7 à 14 jours d'observation sur trafic réel. Le code rejoue en réalité un holdout statique du Gold Dataset, instantanément.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3076" y="1965960"/>
            <a:ext cx="5317236" cy="3566160"/>
          </a:xfrm>
          <a:prstGeom prst="roundRect">
            <a:avLst>
              <a:gd name="adj" fmla="val 2051"/>
            </a:avLst>
          </a:prstGeom>
          <a:solidFill>
            <a:srgbClr val="F1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6597396" y="2194560"/>
            <a:ext cx="128016" cy="548640"/>
          </a:xfrm>
          <a:prstGeom prst="roundRect">
            <a:avLst>
              <a:gd name="adj" fmla="val 21429"/>
            </a:avLst>
          </a:prstGeom>
          <a:solidFill>
            <a:srgbClr val="B343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71716" y="2194560"/>
            <a:ext cx="4494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registre MLflow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643116" y="2926080"/>
            <a:ext cx="46771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get_model_version() utilise une empreinte de fichier .joblib, pas un registre versionné consultable — recommandé par la feuille de route §8.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 que ces deux capacités ne sont pas construites, il n'y a rien à tester dessus.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F2A2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92608" cy="292608"/>
          </a:xfrm>
          <a:prstGeom prst="ellipse">
            <a:avLst/>
          </a:prstGeom>
          <a:solidFill>
            <a:srgbClr val="F2A20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55648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1691640"/>
            <a:ext cx="10588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niveaux de test complémentaires : unitaire (10 secondes, sans infra) pour chaque modification de code, bout-en-bout (avec l'infra réelle) pour la preuve complète.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2880360"/>
            <a:ext cx="292608" cy="292608"/>
          </a:xfrm>
          <a:prstGeom prst="ellipse">
            <a:avLst/>
          </a:prstGeom>
          <a:solidFill>
            <a:srgbClr val="F2A20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89864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51560" y="2834640"/>
            <a:ext cx="10588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avant de déclarer un trou — 2 des 3 trous supposés dans ce projet étaient déjà couverts par du code existant, non documenté.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4023360"/>
            <a:ext cx="292608" cy="292608"/>
          </a:xfrm>
          <a:prstGeom prst="ellipse">
            <a:avLst/>
          </a:prstGeom>
          <a:solidFill>
            <a:srgbClr val="F2A20C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04164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51560" y="3977640"/>
            <a:ext cx="10588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cahier de tests doit refléter ce que le code prouve réellement, pas seulement ce qui a été rejoué à la main.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548640" y="5166360"/>
            <a:ext cx="292608" cy="292608"/>
          </a:xfrm>
          <a:prstGeom prst="ellipse">
            <a:avLst/>
          </a:prstGeom>
          <a:solidFill>
            <a:srgbClr val="F2A20C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184648"/>
            <a:ext cx="256032" cy="25603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51560" y="5120640"/>
            <a:ext cx="10588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une limite honnêtement vaut mieux qu'un test fabriqué pour la masquer.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2026-09-22T15:16:03Z</dcterms:created>
  <dcterms:modified xsi:type="dcterms:W3CDTF">2026-09-22T15:16:03Z</dcterms:modified>
</cp:coreProperties>
</file>