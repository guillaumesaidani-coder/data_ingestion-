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FC7E0"/>
                </a:solidFill>
                <a:latin typeface="Calibri"/>
              </a:rPr>
              <a:t>PROJET INDUSENSE — TRAÇABILITÉ DES PRÉDICTIONS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Où vivent les données de chaque prédiction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CFDEE8"/>
                </a:solidFill>
                <a:latin typeface="Calibri"/>
              </a:rPr>
              <a:t>Modèle exact, données exactes, statut de revue : une seule table,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CFDEE8"/>
                </a:solidFill>
                <a:latin typeface="Calibri"/>
              </a:rPr>
              <a:t>écrite par le pipeline, lue par les humains et par l'entraînement du prochain modèle.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FA8C0"/>
                </a:solidFill>
                <a:latin typeface="Consolas"/>
              </a:rPr>
              <a:t>ML/src/indusense/predictions_store.py — module 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OÙ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1295C"/>
                </a:solidFill>
                <a:latin typeface="Cambria"/>
              </a:rPr>
              <a:t>Une seule table : predictions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394960" cy="228600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984248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1965960"/>
            <a:ext cx="44897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mbria"/>
              </a:rPr>
              <a:t>SQLite en 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59736"/>
            <a:ext cx="4992624" cy="160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artifacts/predictions.db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Poste de développement, tests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get_default_engine() / get_predictions_engine()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83080"/>
            <a:ext cx="5303520" cy="228600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73368" y="1984248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965960"/>
            <a:ext cx="43982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C7293"/>
                </a:solidFill>
                <a:latin typeface="Cambria"/>
              </a:rPr>
              <a:t>PostgreSQL en conteneur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459736"/>
            <a:ext cx="4901183" cy="160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Même base indusense_db que le Gold Dataset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compose.yaml surcharge PREDICTIONS_DB_URL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pour le service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4343400"/>
            <a:ext cx="5943600" cy="640080"/>
          </a:xfrm>
          <a:prstGeom prst="roundRect">
            <a:avLst>
              <a:gd name="adj" fmla="val 7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4343400"/>
            <a:ext cx="5943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Un seul jeu de requêtes SQL pour les deux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212080"/>
            <a:ext cx="11109960" cy="105156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5413248"/>
            <a:ext cx="365760" cy="36576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=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5394960"/>
            <a:ext cx="102047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mbria"/>
              </a:rPr>
              <a:t>Pourquoi ça marche sans code spécifique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888736"/>
            <a:ext cx="10707624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50">
                <a:solidFill>
                  <a:srgbClr val="1A1F2B"/>
                </a:solidFill>
                <a:latin typeface="Calibri"/>
              </a:rPr>
              <a:t>ON CONFLICT ... DO UPDATE est supporté nativement par SQLite (≥3.24) et PostgreSQL,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50">
                <a:solidFill>
                  <a:srgbClr val="1A1F2B"/>
                </a:solidFill>
                <a:latin typeface="Calibri"/>
              </a:rPr>
              <a:t>avec la même syntaxe des deux côtés — zéro branche if backend == «postgres»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1295C"/>
                </a:solidFill>
                <a:latin typeface="Cambria"/>
              </a:rPr>
              <a:t>Une ligne = une prédiction, une clé = (machine, heure)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600200"/>
            <a:ext cx="5029200" cy="502920"/>
          </a:xfrm>
          <a:prstGeom prst="roundRect">
            <a:avLst>
              <a:gd name="adj" fmla="val 7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>
                <a:solidFill>
                  <a:srgbClr val="FFFFFF"/>
                </a:solidFill>
                <a:latin typeface="Consolas"/>
              </a:rPr>
              <a:t>PRIMARY KEY (machine_id, window_start)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5394960" cy="310896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532888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2514600"/>
            <a:ext cx="44897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mbria"/>
              </a:rPr>
              <a:t>Colonnes de prédiction</a:t>
            </a:r>
          </a:p>
          <a:p>
            <a:pPr algn="l"/>
            <a:r>
              <a:rPr sz="1400" b="1" i="0">
                <a:solidFill>
                  <a:srgbClr val="065A82"/>
                </a:solidFill>
                <a:latin typeface="Cambria"/>
              </a:rPr>
              <a:t>(écrites à chaque scoring)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008376"/>
            <a:ext cx="4992624" cy="24323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failure_proba_24h — la probabilité de panne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scored_at — quand la prédiction a été faite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model_version — empreinte du .joblib exact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qui a produit cette ligne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features_payload — photo JSON des ~78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colonnes utilisées à cet instant précis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331720"/>
            <a:ext cx="5303520" cy="310896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73368" y="2532888"/>
            <a:ext cx="365760" cy="36576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6288" y="2514600"/>
            <a:ext cx="43982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mbria"/>
              </a:rPr>
              <a:t>Colonnes de revue</a:t>
            </a:r>
          </a:p>
          <a:p>
            <a:pPr algn="l"/>
            <a:r>
              <a:rPr sz="1400" b="1" i="0">
                <a:solidFill>
                  <a:srgbClr val="21295C"/>
                </a:solidFill>
                <a:latin typeface="Cambria"/>
              </a:rPr>
              <a:t>(écrites par un humain, plus tard)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3008376"/>
            <a:ext cx="4901183" cy="24323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review_status — défaut 'A_VALIDER'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ground_truth — vrai/faux une fois vérifié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reviewer_comment — commentaire libre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reviewed_at — quand la revue a eu lieu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/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Vides tant que personne n'a statué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ÉCRITURE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1295C"/>
                </a:solidFill>
                <a:latin typeface="Cambria"/>
              </a:rPr>
              <a:t>Rejouer le pipeline n'efface jamais un verdict humain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200400" cy="914400"/>
          </a:xfrm>
          <a:prstGeom prst="roundRect">
            <a:avLst>
              <a:gd name="adj" fmla="val 7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3200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predict_flow.py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score une fenêtre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94759" y="2148840"/>
            <a:ext cx="502920" cy="27432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00400" cy="914400"/>
          </a:xfrm>
          <a:prstGeom prst="roundRect">
            <a:avLst>
              <a:gd name="adj" fmla="val 7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828800"/>
            <a:ext cx="3200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upsert_predictions()</a:t>
            </a:r>
          </a:p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ON CONFLICT DO UPDATE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635240" y="2148840"/>
            <a:ext cx="502920" cy="27432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0" y="1828800"/>
            <a:ext cx="3200400" cy="914400"/>
          </a:xfrm>
          <a:prstGeom prst="roundRect">
            <a:avLst>
              <a:gd name="adj" fmla="val 7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200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Table predictions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(1 ligne par clé)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5394960" cy="265176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401568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3383280"/>
            <a:ext cx="44897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mbria"/>
              </a:rPr>
              <a:t>Ce que l'upsert met à jour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877056"/>
            <a:ext cx="4992624" cy="19751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failure_proba_24h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scored_at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model_version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features_payload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/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→ toujours la dernière valeur du dernier scoring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00400"/>
            <a:ext cx="5303520" cy="265176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3401568"/>
            <a:ext cx="365760" cy="365760"/>
          </a:xfrm>
          <a:prstGeom prst="ellipse">
            <a:avLst/>
          </a:prstGeom>
          <a:solidFill>
            <a:srgbClr val="B0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3383280"/>
            <a:ext cx="43982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02E2E"/>
                </a:solidFill>
                <a:latin typeface="Cambria"/>
              </a:rPr>
              <a:t>Ce que l'upsert NE touche JAMAIS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3877056"/>
            <a:ext cx="4901183" cy="19751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review_status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ground_truth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reviewer_comment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reviewed_at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/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→ un technicien a déjà vérifié : son verdict reste intact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EXPLOITATION —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1295C"/>
                </a:solidFill>
                <a:latin typeface="Cambria"/>
              </a:rPr>
              <a:t>Un technicien vérifie une alerte (Streamlit)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291840" cy="960120"/>
          </a:xfrm>
          <a:prstGeom prst="roundRect">
            <a:avLst>
              <a:gd name="adj" fmla="val 7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3291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onsolas"/>
              </a:rPr>
              <a:t>SELECT ... WHERE</a:t>
            </a:r>
          </a:p>
          <a:p>
            <a:pPr algn="ctr"/>
            <a:r>
              <a:rPr sz="1250" b="1" i="0">
                <a:solidFill>
                  <a:srgbClr val="FFFFFF"/>
                </a:solidFill>
                <a:latin typeface="Consolas"/>
              </a:rPr>
              <a:t>review_status='A_VALIDER'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886200" y="2171700"/>
            <a:ext cx="320040" cy="27432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291840" cy="960120"/>
          </a:xfrm>
          <a:prstGeom prst="roundRect">
            <a:avLst>
              <a:gd name="adj" fmla="val 7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1828800"/>
            <a:ext cx="3291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onsolas"/>
              </a:rPr>
              <a:t>Technicien voit</a:t>
            </a:r>
          </a:p>
          <a:p>
            <a:pPr algn="ctr"/>
            <a:r>
              <a:rPr sz="1250" b="1" i="0">
                <a:solidFill>
                  <a:srgbClr val="FFFFFF"/>
                </a:solidFill>
                <a:latin typeface="Consolas"/>
              </a:rPr>
              <a:t>features_payload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680960" y="2171700"/>
            <a:ext cx="320040" cy="27432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1828800"/>
            <a:ext cx="3291840" cy="960120"/>
          </a:xfrm>
          <a:prstGeom prst="roundRect">
            <a:avLst>
              <a:gd name="adj" fmla="val 7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828800"/>
            <a:ext cx="3291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onsolas"/>
              </a:rPr>
              <a:t>review_prediction()</a:t>
            </a:r>
          </a:p>
          <a:p>
            <a:pPr algn="ctr"/>
            <a:r>
              <a:rPr sz="1250" b="1" i="0">
                <a:solidFill>
                  <a:srgbClr val="FFFFFF"/>
                </a:solidFill>
                <a:latin typeface="Consolas"/>
              </a:rPr>
              <a:t>écrit le verdict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11109960" cy="123444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401568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3383280"/>
            <a:ext cx="102047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C7293"/>
                </a:solidFill>
                <a:latin typeface="Cambria"/>
              </a:rPr>
              <a:t>Ce qui est montré au technicien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877056"/>
            <a:ext cx="10707624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Les valeurs affichées (température, vibration...) viennent directement de features_payload —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la photo exacte des données au moment du scoring, pas des valeurs recalculées ou codées en dur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72000"/>
            <a:ext cx="11109960" cy="128016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4773168"/>
            <a:ext cx="365760" cy="36576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4754880"/>
            <a:ext cx="102047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mbria"/>
              </a:rPr>
              <a:t>Le verdict écrit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248656"/>
            <a:ext cx="10707624" cy="6035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PANNE_CONFIRMEE / FAUSSE_ALERTE / INCIDENT_NON_PREDIT + ground_truth (vrai/faux)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→ review_prediction() met à jour uniquement la ligne (machine_id, window_start) concernée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EXPLOITATION —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1295C"/>
                </a:solidFill>
                <a:latin typeface="Cambria"/>
              </a:rPr>
              <a:t>Le challenger apprend des verdicts humains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291840" cy="960120"/>
          </a:xfrm>
          <a:prstGeom prst="roundRect">
            <a:avLst>
              <a:gd name="adj" fmla="val 7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3291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onsolas"/>
              </a:rPr>
              <a:t>SELECT machine_id,</a:t>
            </a:r>
          </a:p>
          <a:p>
            <a:pPr algn="ctr"/>
            <a:r>
              <a:rPr sz="1250" b="1" i="0">
                <a:solidFill>
                  <a:srgbClr val="FFFFFF"/>
                </a:solidFill>
                <a:latin typeface="Consolas"/>
              </a:rPr>
              <a:t>window_start, ground_truth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886200" y="2171700"/>
            <a:ext cx="320040" cy="27432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291840" cy="960120"/>
          </a:xfrm>
          <a:prstGeom prst="roundRect">
            <a:avLst>
              <a:gd name="adj" fmla="val 7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1828800"/>
            <a:ext cx="3291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onsolas"/>
              </a:rPr>
              <a:t>Fusionné aux fenêtres</a:t>
            </a:r>
          </a:p>
          <a:p>
            <a:pPr algn="ctr"/>
            <a:r>
              <a:rPr sz="1250" b="1" i="0">
                <a:solidFill>
                  <a:srgbClr val="FFFFFF"/>
                </a:solidFill>
                <a:latin typeface="Consolas"/>
              </a:rPr>
              <a:t>avril-mai (Gold)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680960" y="2171700"/>
            <a:ext cx="320040" cy="27432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1828800"/>
            <a:ext cx="3291840" cy="960120"/>
          </a:xfrm>
          <a:prstGeom prst="roundRect">
            <a:avLst>
              <a:gd name="adj" fmla="val 7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828800"/>
            <a:ext cx="3291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onsolas"/>
              </a:rPr>
              <a:t>Jeu d'entraînement</a:t>
            </a:r>
          </a:p>
          <a:p>
            <a:pPr algn="ctr"/>
            <a:r>
              <a:rPr sz="1250" b="1" i="0">
                <a:solidFill>
                  <a:srgbClr val="FFFFFF"/>
                </a:solidFill>
                <a:latin typeface="Consolas"/>
              </a:rPr>
              <a:t>augmenté du challenger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5394960" cy="265176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401568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3383280"/>
            <a:ext cx="44897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Cambria"/>
              </a:rPr>
              <a:t>Fenêtre déjà revue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877056"/>
            <a:ext cx="4992624" cy="19751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ground_truth renseigné (vrai ou faux)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→ utilisé tel quel comme vérité terrain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pour ré-entraîner le challenger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00400"/>
            <a:ext cx="5303520" cy="265176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3401568"/>
            <a:ext cx="365760" cy="365760"/>
          </a:xfrm>
          <a:prstGeom prst="ellipse">
            <a:avLst/>
          </a:prstGeom>
          <a:solidFill>
            <a:srgbClr val="B8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3383280"/>
            <a:ext cx="43982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7A0A"/>
                </a:solidFill>
                <a:latin typeface="Cambria"/>
              </a:rPr>
              <a:t>Fenêtre jamais revue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3877056"/>
            <a:ext cx="4901183" cy="19751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Aucune alerte, aucun incident signalé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→ traitée comme négatif implicite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(absence de signal = machine présumée saine)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VUE D'ENSEMBLE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1295C"/>
                </a:solidFill>
                <a:latin typeface="Cambria"/>
              </a:rPr>
              <a:t>Une table, deux usages, un seul historique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69080" y="1737360"/>
            <a:ext cx="4023360" cy="777240"/>
          </a:xfrm>
          <a:prstGeom prst="roundRect">
            <a:avLst>
              <a:gd name="adj" fmla="val 7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69080" y="1737360"/>
            <a:ext cx="4023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Table predictions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2377440" y="2514600"/>
            <a:ext cx="1600200" cy="731520"/>
          </a:xfrm>
          <a:prstGeom prst="bentConnector3">
            <a:avLst/>
          </a:prstGeom>
          <a:ln w="2540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3291840"/>
            <a:ext cx="4206240" cy="137160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9808" y="3493008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3474720"/>
            <a:ext cx="330098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mbria"/>
              </a:rPr>
              <a:t>Écrit par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968496"/>
            <a:ext cx="3803903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50">
                <a:solidFill>
                  <a:srgbClr val="1A1F2B"/>
                </a:solidFill>
                <a:latin typeface="Calibri"/>
              </a:rPr>
              <a:t>predict_flow.py (module 30)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50">
                <a:solidFill>
                  <a:srgbClr val="1A1F2B"/>
                </a:solidFill>
                <a:latin typeface="Calibri"/>
              </a:rPr>
              <a:t>à chaque scoring horaire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83879" y="2514600"/>
            <a:ext cx="868681" cy="731520"/>
          </a:xfrm>
          <a:prstGeom prst="bentConnector3">
            <a:avLst/>
          </a:prstGeom>
          <a:ln w="2540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52360" y="3291840"/>
            <a:ext cx="4206240" cy="137160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53528" y="3493008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3474720"/>
            <a:ext cx="330098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C7293"/>
                </a:solidFill>
                <a:latin typeface="Cambria"/>
              </a:rPr>
              <a:t>Lu par un humain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3528" y="3968496"/>
            <a:ext cx="3803903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50">
                <a:solidFill>
                  <a:srgbClr val="1A1F2B"/>
                </a:solidFill>
                <a:latin typeface="Calibri"/>
              </a:rPr>
              <a:t>streamlit_review.py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50">
                <a:solidFill>
                  <a:srgbClr val="1A1F2B"/>
                </a:solidFill>
                <a:latin typeface="Calibri"/>
              </a:rPr>
              <a:t>affiche l'alerte, enregistre le verdict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2514600"/>
            <a:ext cx="0" cy="2514600"/>
          </a:xfrm>
          <a:prstGeom prst="bentConnector3">
            <a:avLst/>
          </a:prstGeom>
          <a:ln w="2540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977639" y="5029200"/>
            <a:ext cx="4206240" cy="137160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78807" y="5230368"/>
            <a:ext cx="365760" cy="36576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5212080"/>
            <a:ext cx="330098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mbria"/>
              </a:rPr>
              <a:t>Lu par l'entraînement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8807" y="5705856"/>
            <a:ext cx="3803903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50">
                <a:solidFill>
                  <a:srgbClr val="1A1F2B"/>
                </a:solidFill>
                <a:latin typeface="Calibri"/>
              </a:rPr>
              <a:t>arbitrate_challenger.py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50">
                <a:solidFill>
                  <a:srgbClr val="1A1F2B"/>
                </a:solidFill>
                <a:latin typeface="Calibri"/>
              </a:rPr>
              <a:t>augmente le jeu d'entraînement du challenger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EN RÉSUMÉ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1295C"/>
                </a:solidFill>
                <a:latin typeface="Cambria"/>
              </a:rPr>
              <a:t>Ce qu'il faut retenir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74519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856231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F2B"/>
                </a:solidFill>
                <a:latin typeface="Calibri"/>
              </a:rPr>
              <a:t>Une seule table predictions (SQLite local / Postgres conteneur), même code SQL pour les deux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926079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907791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F2B"/>
                </a:solidFill>
                <a:latin typeface="Calibri"/>
              </a:rPr>
              <a:t>Chaque ligne trace le modèle exact (model_version), les données exactes (features_payload) et le statut de revue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977639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959352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F2B"/>
                </a:solidFill>
                <a:latin typeface="Calibri"/>
              </a:rPr>
              <a:t>L'upsert du pipeline ne touche jamais les colonnes de revue : rejouer le scoring ne peut pas effacer un verdict humain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502920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5010912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F2B"/>
                </a:solidFill>
                <a:latin typeface="Calibri"/>
              </a:rPr>
              <a:t>Cette table est le pont entre le terrain (Streamlit) et l'entraînement du prochain modèle (arbitrage du challenger)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