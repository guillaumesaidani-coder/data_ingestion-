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FC7E0"/>
                </a:solidFill>
                <a:latin typeface="Calibri"/>
              </a:rPr>
              <a:t>PROJET INDUSENSE — CYCLE DE VIE DU MODÈLE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Construire, déployer, remettre en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FDEE8"/>
                </a:solidFill>
                <a:latin typeface="Calibri"/>
              </a:rPr>
              <a:t>Un modèle de maintenance prédictive n'est jamais figé : il est construit,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FDEE8"/>
                </a:solidFill>
                <a:latin typeface="Calibri"/>
              </a:rPr>
              <a:t>mis en production sous surveillance, puis en permanence challengé par des humains.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343400"/>
            <a:ext cx="2194560" cy="329184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1. Élaboration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343400"/>
            <a:ext cx="2651760" cy="329184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343400"/>
            <a:ext cx="2651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2. Mise en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343400"/>
            <a:ext cx="2651760" cy="329184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4343400"/>
            <a:ext cx="2651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3. Remise en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A8C0"/>
                </a:solidFill>
                <a:latin typeface="Consolas"/>
              </a:rPr>
              <a:t>ML/scripts/arbitrate_challenger.py — module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Une boucle, pas une ligne droite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005839"/>
            <a:ext cx="2743200" cy="105156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09160" y="1115567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1. ÉLABORATION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630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2ECF2"/>
                </a:solidFill>
                <a:latin typeface="Calibri"/>
              </a:rPr>
              <a:t>Entraîner un modèle</a:t>
            </a:r>
          </a:p>
          <a:p>
            <a:pPr algn="ctr"/>
            <a:r>
              <a:rPr sz="1050" b="0" i="0">
                <a:solidFill>
                  <a:srgbClr val="E2ECF2"/>
                </a:solidFill>
                <a:latin typeface="Calibri"/>
              </a:rPr>
              <a:t>sur les données Gold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520440"/>
            <a:ext cx="2743200" cy="105156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3630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2.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39776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2ECF2"/>
                </a:solidFill>
                <a:latin typeface="Calibri"/>
              </a:rPr>
              <a:t>Servir des prédictions,</a:t>
            </a:r>
          </a:p>
          <a:p>
            <a:pPr algn="ctr"/>
            <a:r>
              <a:rPr sz="1050" b="0" i="0">
                <a:solidFill>
                  <a:srgbClr val="E2ECF2"/>
                </a:solidFill>
                <a:latin typeface="Calibri"/>
              </a:rPr>
              <a:t>tout tracer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520440"/>
            <a:ext cx="2743200" cy="105156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6301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3. REMISE EN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977639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E2ECF2"/>
                </a:solidFill>
                <a:latin typeface="Calibri"/>
              </a:rPr>
              <a:t>Des humains vérifient,</a:t>
            </a:r>
          </a:p>
          <a:p>
            <a:pPr algn="ctr"/>
            <a:r>
              <a:rPr sz="1050" b="0" i="0">
                <a:solidFill>
                  <a:srgbClr val="E2ECF2"/>
                </a:solidFill>
                <a:latin typeface="Calibri"/>
              </a:rPr>
              <a:t>un challenger est testé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108960"/>
            <a:ext cx="2560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F6B7A"/>
                </a:solidFill>
                <a:latin typeface="Calibri"/>
              </a:rPr>
              <a:t>Le challenger</a:t>
            </a:r>
          </a:p>
          <a:p>
            <a:pPr algn="ctr"/>
            <a:r>
              <a:rPr sz="1100" b="0" i="1">
                <a:solidFill>
                  <a:srgbClr val="5F6B7A"/>
                </a:solidFill>
                <a:latin typeface="Calibri"/>
              </a:rPr>
              <a:t>revient enrichir</a:t>
            </a:r>
          </a:p>
          <a:p>
            <a:pPr algn="ctr"/>
            <a:r>
              <a:rPr sz="1100" b="0" i="1">
                <a:solidFill>
                  <a:srgbClr val="5F6B7A"/>
                </a:solidFill>
                <a:latin typeface="Calibri"/>
              </a:rPr>
              <a:t>l'élaboration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Élaboration — construire le modèle « champion 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00400" cy="100584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00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Gold Dataset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(~91 colonnes)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94759" y="2194560"/>
            <a:ext cx="50292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00400" cy="100584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200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Entraînement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(XGBoost)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35240" y="2194560"/>
            <a:ext cx="50292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200400" cy="100584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200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Modèle « champion »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(model.joblib)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11109960" cy="26517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8444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56616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En termes simples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059936"/>
            <a:ext cx="10707624" cy="1975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400">
                <a:solidFill>
                  <a:srgbClr val="1A1F2B"/>
                </a:solidFill>
                <a:latin typeface="Calibri"/>
              </a:rPr>
              <a:t>Le modèle apprend à reconnaître les signes avant-coureurs d'une panne, à partir de l'historique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400">
                <a:solidFill>
                  <a:srgbClr val="1A1F2B"/>
                </a:solidFill>
                <a:latin typeface="Calibri"/>
              </a:rPr>
              <a:t>(capteurs + incidents + maintenance) déjà réuni dans le Gold Dataset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400">
                <a:solidFill>
                  <a:srgbClr val="1A1F2B"/>
                </a:solidFill>
                <a:latin typeface="Calibri"/>
              </a:rPr>
              <a:t>Il est validé sur des données qu'il n'a jamais vues à l'entraînement (le « test set »),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400">
                <a:solidFill>
                  <a:srgbClr val="1A1F2B"/>
                </a:solidFill>
                <a:latin typeface="Calibri"/>
              </a:rPr>
              <a:t>avec un seuil de décision ajusté pour privilégier le rappel (mieux vaut une fausse alerte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400">
                <a:solidFill>
                  <a:srgbClr val="1A1F2B"/>
                </a:solidFill>
                <a:latin typeface="Calibri"/>
              </a:rPr>
              <a:t>qu'une panne manquée)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400">
                <a:solidFill>
                  <a:srgbClr val="1A1F2B"/>
                </a:solidFill>
                <a:latin typeface="Calibri"/>
              </a:rPr>
              <a:t>Une fois jugé bon, il devient le « champion » : le modèle officiellement en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Mise en production — chaque prédiction est tracée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27432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98424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965960"/>
            <a:ext cx="4489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Ce qui est enregistré à chaque prédiction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59736"/>
            <a:ext cx="4992624" cy="2066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model_version : quel modèle exact a répondu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(empreinte du fichier .joblib)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features_payload : photo des données utilisées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à cet instant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review_status : par défaut « A_VALIDER » —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personne n'a encore vérifié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03520" cy="27432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73368" y="198424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965960"/>
            <a:ext cx="4398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En termes simples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459736"/>
            <a:ext cx="4901183" cy="2066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Le modèle tourne en continu et note ses prédictions,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mais rien n'est jamais « silencieux »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Si on rejoue le pipeline plus tard, une revue humaine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déjà faite n'est jamais écrasée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→ base de données PostgreSQL/SQLite : beaucoup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d'écritures concurrentes, un CSV se corromprait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11109960" cy="155448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491032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89204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Pourquoi ça compte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385816"/>
            <a:ext cx="10707624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Sans cette traçabilité, impossible de savoir plus tard « quel modèle a dit quoi, avec quelles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données » — condition indispensable pour, ensuite, challenger le modèle en toute confiance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Remise en question — des humains vérifient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383280" cy="96012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38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Alerte du modèle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(proba ≥ 0,5)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77639" y="2125980"/>
            <a:ext cx="32004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383280" cy="96012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783080"/>
            <a:ext cx="338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Technicien vérifie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(Streamlit)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72400" y="2125980"/>
            <a:ext cx="32004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383280" cy="960120"/>
          </a:xfrm>
          <a:prstGeom prst="roundRect">
            <a:avLst>
              <a:gd name="adj" fmla="val 7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83080"/>
            <a:ext cx="33832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Verdict enregistré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(ground_truth)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63240"/>
            <a:ext cx="5394960" cy="14630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26440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246120"/>
            <a:ext cx="4489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Trois verdicts possibles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739896"/>
            <a:ext cx="4992624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PANNE_CONFIRMEE — l'alerte était juste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FAUSSE_ALERTE — le modèle s'est trompé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INCIDENT_NON_PREDIT — panne ratée par le modèle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063240"/>
            <a:ext cx="5303520" cy="14630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3264408"/>
            <a:ext cx="365760" cy="365760"/>
          </a:xfrm>
          <a:prstGeom prst="ellipse">
            <a:avLst/>
          </a:prstGeom>
          <a:solidFill>
            <a:srgbClr val="B8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246120"/>
            <a:ext cx="4398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7A0A"/>
                </a:solidFill>
                <a:latin typeface="Cambria"/>
              </a:rPr>
              <a:t>Un piège mesuré : le biais de sélection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739896"/>
            <a:ext cx="4901183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Un technicien ne regarde que les alertes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65 vraies pannes restaient invisibles tant que rien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ne forçait leur remontée (bouton « incident non prédit »)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09160"/>
            <a:ext cx="11109960" cy="155448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91032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89204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En termes simples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385816"/>
            <a:ext cx="10707624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Le modèle seul ne suffit jamais : ce sont les retours du terrain qui révèlent ses erreurs.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Sans ce mécanisme, un modèle pourrait rater des pannes sans que personne ne s'en aperçoive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— d'où l'obligation de mesurer, et pas seulement supposer, ce biais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LE CHALLENGER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Un candidat entraîné sur ce que le champion n'a jamais vu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109960" cy="155448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98424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96596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Ce qui change par rapport au champion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59736"/>
            <a:ext cx="10707624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Même données d'origine + les fenêtres avril-mai déjà vérifiées par les techniciens (verdicts humains)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Ce n'est jamais un simple ré-entraînement à l'identique : cela ne prouverait rien de neuf sur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un modèle déjà solide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11109960" cy="10515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721608"/>
            <a:ext cx="365760" cy="3657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370332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Le terrain d'arbitrage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197096"/>
            <a:ext cx="10707624" cy="3749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Juin 2026 : une période que ni le champion ni le challenger n'ont jamais vue — condition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indispensable pour comparer les deux modèles loyalement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109960" cy="15087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495604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493776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En termes simples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431536"/>
            <a:ext cx="10707624" cy="832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Le challenger a le droit d'apprendre des erreurs déjà corrigées par les humains — c'est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l'objectif même de la boucle : que chaque vérification de terrain rende le prochain modèle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plus fiable, sans jamais tricher sur le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L'ARBITRAGE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Jamais un score global seul — la règle d'or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2743200" cy="502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783080"/>
            <a:ext cx="41148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Champion a raison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783080"/>
            <a:ext cx="4114800" cy="5029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78308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Champion a tort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86000"/>
            <a:ext cx="2743200" cy="6858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1295C"/>
                </a:solidFill>
                <a:latin typeface="Calibri"/>
              </a:rPr>
              <a:t>Challenger a raison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286000"/>
            <a:ext cx="411480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286000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Stable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(2798 cas)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2286000"/>
            <a:ext cx="4114800" cy="6858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286000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Gain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(+9 cas)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971800"/>
            <a:ext cx="2743200" cy="68580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71800"/>
            <a:ext cx="25603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1295C"/>
                </a:solidFill>
                <a:latin typeface="Calibri"/>
              </a:rPr>
              <a:t>Challenger a tort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971800"/>
            <a:ext cx="4114800" cy="685800"/>
          </a:xfrm>
          <a:prstGeom prst="rect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971800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Régression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(-7 cas)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2971800"/>
            <a:ext cx="4114800" cy="685800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971800"/>
            <a:ext cx="4114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Angle mort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(40 cas)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86200"/>
            <a:ext cx="10561320" cy="182880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87368"/>
            <a:ext cx="365760" cy="365760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069080"/>
            <a:ext cx="96560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02E2E"/>
                </a:solidFill>
                <a:latin typeface="Cambria"/>
              </a:rPr>
              <a:t>La règle d'or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562856"/>
            <a:ext cx="1015898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Un gain net positif ne suffit pas : ici, +9 gains et seulement 7 régressions donnent un bilan net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de +2 — et pourtant le modèle est REJETÉ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Raison : les 7 régressions sont des vraies pannes que le champion détectait et que le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challenger aurait manquées — un risque jugé trop coûteux pour un gain de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TRAÇABILITÉ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arbitration_log.csv — le journal des décisions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109960" cy="173736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984248"/>
            <a:ext cx="365760" cy="3657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965960"/>
            <a:ext cx="10204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Ce qu'il contient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59736"/>
            <a:ext cx="1070762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Une ligne par arbitrage : date, taille des données utilisées, gains/stables/régressions/angles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morts, rappel du champion et du challenger, décision finale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Ajouté (jamais réécrit) à chaque exécution du script d'arbitrage — un historique complet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350">
                <a:solidFill>
                  <a:srgbClr val="1A1F2B"/>
                </a:solidFill>
                <a:latin typeface="Calibri"/>
              </a:rPr>
              <a:t>de « pourquoi on a gardé ou remplacé le modèle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49240" cy="26060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858768"/>
            <a:ext cx="365760" cy="365760"/>
          </a:xfrm>
          <a:prstGeom prst="ellipse">
            <a:avLst/>
          </a:prstGeom>
          <a:solidFill>
            <a:srgbClr val="B87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3840480"/>
            <a:ext cx="4443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87A0A"/>
                </a:solidFill>
                <a:latin typeface="Cambria"/>
              </a:rPr>
              <a:t>Pourquoi un CSV et pas Postgres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334256"/>
            <a:ext cx="4946903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Assumé comme un raccourci, pas un choix idéal :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le script tourne seul, ponctuellement — pas de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risque d'écritures concurrentes qui corromprait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le fichier (contrairement aux prédictions, elles,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en base pour cette raison)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Reconnu dans le projet comme substitut provisoire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d'une vraie table « model_promotions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3657600"/>
            <a:ext cx="5394960" cy="2606040"/>
          </a:xfrm>
          <a:prstGeom prst="roundRect">
            <a:avLst>
              <a:gd name="adj" fmla="val 7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81928" y="3858768"/>
            <a:ext cx="365760" cy="36576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3840480"/>
            <a:ext cx="44897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Ce qui manque encore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4334256"/>
            <a:ext cx="4992624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Un statut de cycle de vie interrogeable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(CANDIDATE → APPROVED → REJECTED)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Une jointure possible avec les runs d'entraînement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Une garantie d'intégrité si plusieurs arbitrages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tournaient en parallèle</a:t>
            </a:r>
          </a:p>
          <a:p>
            <a:pPr indent="-201168" marL="201168">
              <a:spcAft>
                <a:spcPts val="600"/>
              </a:spcAft>
              <a:buFont typeface="Arial"/>
              <a:buChar char="–"/>
            </a:pPr>
            <a:r>
              <a:rPr sz="1200">
                <a:solidFill>
                  <a:srgbClr val="1A1F2B"/>
                </a:solidFill>
                <a:latin typeface="Calibri"/>
              </a:rPr>
              <a:t>→ dette technique documentée, pas cachée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EN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1295C"/>
                </a:solidFill>
                <a:latin typeface="Cambria"/>
              </a:rPr>
              <a:t>Une boucle fermée, jamais un aller simple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78308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B"/>
                </a:solidFill>
                <a:latin typeface="Calibri"/>
              </a:rPr>
              <a:t>Élaboration : un modèle apprend sur l'historique réel (Gold Dataset) et devient champion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88036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B"/>
                </a:solidFill>
                <a:latin typeface="Calibri"/>
              </a:rPr>
              <a:t>Production : chaque prédiction est tracée — modèle exact, données exactes, statut de revue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97764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B"/>
                </a:solidFill>
                <a:latin typeface="Calibri"/>
              </a:rPr>
              <a:t>Remise en question : des humains vérifient les alertes, un biais de sélection est mesuré et corrigé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5074920"/>
            <a:ext cx="99669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B"/>
                </a:solidFill>
                <a:latin typeface="Calibri"/>
              </a:rPr>
              <a:t>Un challenger apprend de ces vérifications, puis est arbitré selon une règle stricte — jamais sur un score global seul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